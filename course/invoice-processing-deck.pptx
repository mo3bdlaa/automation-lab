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7"/>
    <p:sldId id="261" r:id="rId12"/>
    <p:sldId id="262" r:id="rId9"/>
    <p:sldId id="263" r:id="rId10"/>
    <p:sldId id="264" r:id="rId25"/>
    <p:sldId id="265" r:id="rId8"/>
    <p:sldId id="266" r:id="rId6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  <Relationship Id="rId25" Type="http://schemas.openxmlformats.org/officeDocument/2006/relationships/slide" Target="slides/slide19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7316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PROJECT / INVOICE PROCESSING · AUTOMATION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PROJECT · INVOICE PROCESSING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1000" spc="100" kern="0" dirty="0" b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r>
              <a:rPr lang="en-US" sz="100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051560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250" b="1" spc="15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250" b="1" spc="15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 MOHAMMED SHAKER</a:t>
            </a:r>
            <a:pPr indent="0" marL="0">
              <a:buNone/>
            </a:pPr>
            <a:r>
              <a:rPr lang="en-US" sz="1250" b="1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   AUTOMATION MENTORING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331720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A DOCUMENT UNDERSTANDING PROJECT · ACCOUNTS PAYABLE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2743200"/>
            <a:ext cx="1050919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6000" b="0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Invoice </a:t>
            </a:r>
            <a:r>
              <a:rPr lang="en-US" sz="6000" b="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Processing.</a:t>
            </a:r>
            <a:endParaRPr lang="en-US" sz="6000" dirty="0"/>
          </a:p>
        </p:txBody>
      </p:sp>
      <p:sp>
        <p:nvSpPr>
          <p:cNvPr id="10" name="Shape 8"/>
          <p:cNvSpPr/>
          <p:nvPr/>
        </p:nvSpPr>
        <p:spPr>
          <a:xfrm>
            <a:off x="841248" y="4736592"/>
            <a:ext cx="603504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4956048"/>
            <a:ext cx="10509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scenario, end to end · Read the page · Match three documents · Decide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41248" y="5715000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en-US" sz="800" spc="12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●  </a:t>
            </a:r>
            <a:r>
              <a:rPr lang="en-US" sz="1100" spc="12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12 INVOICES</a:t>
            </a:r>
            <a:r>
              <a:rPr lang="en-US" sz="1100" spc="12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  </a:t>
            </a:r>
            <a:r>
              <a:rPr lang="en-US" sz="800" spc="12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●  </a:t>
            </a:r>
            <a:r>
              <a:rPr lang="en-US" sz="1100" spc="12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 LEVELS</a:t>
            </a:r>
            <a:r>
              <a:rPr lang="en-US" sz="1100" spc="12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  </a:t>
            </a:r>
            <a:r>
              <a:rPr lang="en-US" sz="800" spc="12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●  </a:t>
            </a:r>
            <a:r>
              <a:rPr lang="en-US" sz="1100" spc="12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 RULES</a:t>
            </a:r>
            <a:r>
              <a:rPr lang="en-US" sz="1100" spc="12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  </a:t>
            </a:r>
            <a:r>
              <a:rPr lang="en-US" sz="800" spc="12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●  </a:t>
            </a:r>
            <a:r>
              <a:rPr lang="en-US" sz="1100" spc="12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ONE DECISION EACH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4633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PROJECT / INVOICE PROCESSING · AUTOMATION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PROJECT · INVOICE PROCESSING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1000" spc="100" kern="0" dirty="0" b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r>
              <a:rPr lang="en-US" sz="100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PROJECT</a:t>
            </a:r>
            <a:r>
              <a:rPr lang="en-US" sz="1250" spc="2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/   </a:t>
            </a: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CONTENTS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we'll cover.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841248" y="278892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907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288950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process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 — what accounts payable does all day.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41248" y="333756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4564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54480" y="343814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document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 — an invoice is a picture, not a form.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388620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0050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54480" y="398678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pipeline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 — read, match, decide, and where each breaks.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41248" y="443484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5537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54480" y="453542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fields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 — what you extract, and what is checked.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41248" y="498348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1023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554480" y="508406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match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 — three documents that have to agree.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41248" y="553212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6509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554480" y="563270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 it live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 — then your own bot, scored.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841248" y="608076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PROJECT / INVOICE PROCESSING · AUTOMATION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PROJECT · INVOICE PROCESSING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1000" spc="100" kern="0" dirty="0" b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r>
              <a:rPr lang="en-US" sz="100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01</a:t>
            </a:r>
            <a:r>
              <a:rPr lang="en-US" sz="1250" spc="2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/   </a:t>
            </a: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EXPECTED TO LEARN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By the end of today, you can —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841248" y="292608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044952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3026664"/>
            <a:ext cx="979596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Scope a DU project: </a:t>
            </a: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document, the fields, the decision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41248" y="3602736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721608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54480" y="3703320"/>
            <a:ext cx="979596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Read an invoice at </a:t>
            </a: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five levels of damage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— and say where yours stops.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279392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398264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54480" y="4379976"/>
            <a:ext cx="979596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Run a three-way match and read a violation </a:t>
            </a: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by its rule ID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41248" y="4956048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074920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54480" y="5056632"/>
            <a:ext cx="979596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Approve, reject or hold — and </a:t>
            </a: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defend which one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41248" y="5632704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09266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PROJECT / INVOICE PROCESSING · AUTOMATION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PROJECT · INVOICE PROCESSING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1000" spc="100" kern="0" dirty="0" b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r>
              <a:rPr lang="en-US" sz="100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02</a:t>
            </a:r>
            <a:r>
              <a:rPr lang="en-US" sz="1250" spc="2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/   </a:t>
            </a: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PROCESS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41248" y="2011680"/>
            <a:ext cx="5163160" cy="3383280"/>
          </a:xfrm>
          <a:prstGeom prst="roundRect">
            <a:avLst>
              <a:gd name="adj" fmla="val 1351"/>
            </a:avLst>
          </a:prstGeom>
          <a:solidFill>
            <a:srgbClr val="101116"/>
          </a:solidFill>
          <a:ln w="9525">
            <a:solidFill>
              <a:srgbClr val="2C2D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144" y="2286000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AS-IS · A PERSON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52144" y="2578608"/>
            <a:ext cx="461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Ninety seconds an invoice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152144" y="3090672"/>
            <a:ext cx="45962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›"/>
            </a:pPr>
            <a:r>
              <a:rPr lang="en-US" sz="13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Opens the PDF and reads it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›"/>
            </a:pPr>
            <a:r>
              <a:rPr lang="en-US" sz="13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Finds the order and the receipt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›"/>
            </a:pPr>
            <a:r>
              <a:rPr lang="en-US" sz="13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Compares price, quantity and tax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›"/>
            </a:pPr>
            <a:r>
              <a:rPr lang="en-US" sz="13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Keys the result into the system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›"/>
            </a:pPr>
            <a:r>
              <a:rPr lang="en-US" sz="13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Repeats until the queue is empty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87288" y="2011680"/>
            <a:ext cx="5163160" cy="3383280"/>
          </a:xfrm>
          <a:prstGeom prst="roundRect">
            <a:avLst>
              <a:gd name="adj" fmla="val 1351"/>
            </a:avLst>
          </a:prstGeom>
          <a:solidFill>
            <a:srgbClr val="16171D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8184" y="2286000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TO-BE · A BOT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8184" y="2578608"/>
            <a:ext cx="461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same ninety seconds, once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498184" y="3090672"/>
            <a:ext cx="45962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›"/>
            </a:pPr>
            <a:r>
              <a:rPr lang="en-US" sz="13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Claims one item from the queue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›"/>
            </a:pPr>
            <a:r>
              <a:rPr lang="en-US" sz="13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Extracts the header and the lines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›"/>
            </a:pPr>
            <a:r>
              <a:rPr lang="en-US" sz="13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Submits, then reads the match result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›"/>
            </a:pPr>
            <a:r>
              <a:rPr lang="en-US" sz="13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Approves, rejects or holds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›"/>
            </a:pPr>
            <a:r>
              <a:rPr lang="en-US" sz="13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Closes the item with its reason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1248" y="5623560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00" spc="12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●  </a:t>
            </a:r>
            <a:r>
              <a:rPr lang="en-US" sz="1100" spc="12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HARD PART WAS NEVER THE CLICKING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50480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PROJECT / INVOICE PROCESSING · AUTOMATION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PROJECT · INVOICE PROCESSING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1000" spc="100" kern="0" dirty="0" b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11</a:t>
            </a:r>
            <a:r>
              <a:rPr lang="en-US" sz="100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06</a:t>
            </a:r>
            <a:r>
              <a:rPr lang="en-US" sz="1250" spc="2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/   </a:t>
            </a: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THREE-WAY MATCH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Three documents. One version of events.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41248" y="3108960"/>
            <a:ext cx="3350666" cy="1371600"/>
          </a:xfrm>
          <a:prstGeom prst="roundRect">
            <a:avLst>
              <a:gd name="adj" fmla="val 4000"/>
            </a:avLst>
          </a:prstGeom>
          <a:solidFill>
            <a:srgbClr val="24210F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73552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ORDER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42416" y="3566160"/>
            <a:ext cx="29483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we agreed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42416" y="4023360"/>
            <a:ext cx="29483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price · quantity · vendor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20514" y="3108960"/>
            <a:ext cx="3350666" cy="1371600"/>
          </a:xfrm>
          <a:prstGeom prst="roundRect">
            <a:avLst>
              <a:gd name="adj" fmla="val 4000"/>
            </a:avLst>
          </a:prstGeom>
          <a:solidFill>
            <a:srgbClr val="16171D"/>
          </a:solidFill>
          <a:ln w="9525">
            <a:solidFill>
              <a:srgbClr val="2C2D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1682" y="3273552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RECEIPT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21682" y="3566160"/>
            <a:ext cx="29483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arrived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21682" y="4023360"/>
            <a:ext cx="29483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quantity · date · condition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99781" y="3108960"/>
            <a:ext cx="3350666" cy="1371600"/>
          </a:xfrm>
          <a:prstGeom prst="roundRect">
            <a:avLst>
              <a:gd name="adj" fmla="val 4000"/>
            </a:avLst>
          </a:prstGeom>
          <a:solidFill>
            <a:srgbClr val="16171D"/>
          </a:solidFill>
          <a:ln w="9525">
            <a:solidFill>
              <a:srgbClr val="2C2D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00949" y="3273552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INVOICE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00949" y="3566160"/>
            <a:ext cx="29483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they billed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00949" y="4023360"/>
            <a:ext cx="29483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price · quantity · tax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1248" y="5056632"/>
            <a:ext cx="27432" cy="42062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2" name="Text 20"/>
          <p:cNvSpPr/>
          <p:nvPr/>
        </p:nvSpPr>
        <p:spPr>
          <a:xfrm>
            <a:off x="1042416" y="4974336"/>
            <a:ext cx="10040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Every violation carries a rule ID — PO-INV-PRICE, GRN-QTY, BANK-CHANGE. Branch on the ID, never on the message text: the message is written for a person and may change.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6582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PROJECT / INVOICE PROCESSING · AUTOMATION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PROJECT · INVOICE PROCESSING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1000" spc="100" kern="0" dirty="0" b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r>
              <a:rPr lang="en-US" sz="100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02.1</a:t>
            </a:r>
            <a:r>
              <a:rPr lang="en-US" sz="1250" spc="2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/   </a:t>
            </a: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WHY IT IS HARD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965960"/>
            <a:ext cx="1050919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pPr indent="0" marL="0">
              <a:lnSpc>
                <a:spcPct val="102000"/>
              </a:lnSpc>
              <a:buNone/>
            </a:pPr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Three problems. Only one is reading.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841248" y="379476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91363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→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3895344"/>
            <a:ext cx="97959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tutorial invoice puts every field where you expect it. A real one is a photograph.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41248" y="4416552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535424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→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54480" y="4517136"/>
            <a:ext cx="97959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third of these invoices are wrong, and the wrong ones are the ones that matter.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5038344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515721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→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54480" y="5138928"/>
            <a:ext cx="97959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truth is not on the page. It is on the page, the order and the receipt.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41248" y="5660136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73164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PROJECT / INVOICE PROCESSING · AUTOMATION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PROJECT · INVOICE PROCESSING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1000" spc="100" kern="0" dirty="0" b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</a:t>
            </a:r>
            <a:r>
              <a:rPr lang="en-US" sz="100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05</a:t>
            </a:r>
            <a:r>
              <a:rPr lang="en-US" sz="1250" spc="2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/   </a:t>
            </a: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VALIDATE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confidence score is a routing decision.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41248" y="306324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16171D"/>
          </a:solidFill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3063240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18688" y="3451860"/>
            <a:ext cx="548640" cy="0"/>
          </a:xfrm>
          <a:prstGeom prst="line">
            <a:avLst/>
          </a:prstGeom>
          <a:noFill/>
          <a:ln w="19050">
            <a:solidFill>
              <a:srgbClr val="E8B84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58768" y="3063240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24210F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86784" y="315468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8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CONFIDENCE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986784" y="3374136"/>
            <a:ext cx="2505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Below threshold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93408" y="3451860"/>
            <a:ext cx="548640" cy="0"/>
          </a:xfrm>
          <a:prstGeom prst="line">
            <a:avLst/>
          </a:prstGeom>
          <a:noFill/>
          <a:ln w="19050">
            <a:solidFill>
              <a:srgbClr val="E8B84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33488" y="306324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6171D"/>
          </a:solidFill>
          <a:ln w="9525">
            <a:solidFill>
              <a:srgbClr val="2C2D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61504" y="306324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human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528048" y="3451860"/>
            <a:ext cx="548640" cy="0"/>
          </a:xfrm>
          <a:prstGeom prst="line">
            <a:avLst/>
          </a:prstGeom>
          <a:noFill/>
          <a:ln w="19050">
            <a:solidFill>
              <a:srgbClr val="E8B84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168128" y="3063240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13251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96144" y="3063240"/>
            <a:ext cx="950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Posted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1248" y="448056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59943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→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554480" y="4581144"/>
            <a:ext cx="97959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 confidence posts straight through; low confidence goes to a person.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41248" y="5047488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16636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→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554480" y="5148072"/>
            <a:ext cx="97959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Threshold too high and a human does the work. Too low and the wrong number is paid.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841248" y="5614416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5742432"/>
            <a:ext cx="27432" cy="42062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9" name="Text 27"/>
          <p:cNvSpPr/>
          <p:nvPr/>
        </p:nvSpPr>
        <p:spPr>
          <a:xfrm>
            <a:off x="1042416" y="5660136"/>
            <a:ext cx="10040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lab gives you no confidence to hide behind: you submit what you read, and it is right or not.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41215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PROJECT / INVOICE PROCESSING · AUTOMATION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PROJECT · INVOICE PROCESSING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1000" spc="100" kern="0" dirty="0" b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</a:t>
            </a:r>
            <a:r>
              <a:rPr lang="en-US" sz="100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04</a:t>
            </a:r>
            <a:r>
              <a:rPr lang="en-US" sz="1200" spc="2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/   </a:t>
            </a:r>
            <a:r>
              <a:rPr lang="en-US" sz="120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DOCUMENT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78308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Three regions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41248" y="27432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pPr indent="0" marL="0">
              <a:lnSpc>
                <a:spcPct val="132000"/>
              </a:lnSpc>
              <a:buNone/>
            </a:pPr>
            <a:pPr indent="0" marL="0">
              <a:lnSpc>
                <a:spcPct val="132000"/>
              </a:lnSpc>
              <a:buNone/>
            </a:pPr>
            <a:pPr indent="0" marL="0">
              <a:lnSpc>
                <a:spcPct val="132000"/>
              </a:lnSpc>
              <a:buNone/>
            </a:pPr>
            <a:pPr indent="0" marL="0">
              <a:lnSpc>
                <a:spcPct val="132000"/>
              </a:lnSpc>
              <a:buNone/>
            </a:pPr>
            <a:r>
              <a:rPr lang="en-US" sz="160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supplier invoice in the lab has the same three parts and prints them differently: about half the vendors print bilingual, a third print Arabic first, and two in five write their numbers in Eastern Arabic digits. Your reader has to find the parts, not the pixels.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420624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3251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hdr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554480" y="430682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header — who billed, against which order, in which currency. Twelve fields.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475488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8737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554480" y="485546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b="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lines — code, quantity, unit, price, tax, total. Eight fields on each one.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41248" y="530352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4223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tot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554480" y="540410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totals — printed on the page, and not always equal to the sum of the lines.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41248" y="585216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18531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PROJECT / INVOICE PROCESSING · AUTOMATION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PROJECT · INVOICE PROCESSING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1000" spc="100" kern="0" dirty="0" b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</a:t>
            </a:r>
            <a:r>
              <a:rPr lang="en-US" sz="100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04.1</a:t>
            </a:r>
            <a:r>
              <a:rPr lang="en-US" sz="1250" spc="2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/   </a:t>
            </a: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WHAT YOU EXTRACT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Twelve header fields, eight per line.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41248" y="301752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13639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3118104"/>
            <a:ext cx="97959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Identity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— number, date, due date, and the vendor as printed on the page.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41248" y="3639312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758184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54480" y="3739896"/>
            <a:ext cx="97959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Reference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— the purchase order number. Without it there is nothing to match.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261104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37997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54480" y="4361688"/>
            <a:ext cx="97959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Money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— currency, subtotal, tax, grand total. Read them; do not compute them.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41248" y="4882896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00176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54480" y="4983480"/>
            <a:ext cx="97959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Payment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— IBAN and bank name. The most expensive field on the page.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41248" y="5504688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PROJECT / INVOICE PROCESSING · AUTOMATION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PROJECT · INVOICE PROCESSING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1000" spc="100" kern="0" dirty="0" b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</a:t>
            </a:r>
            <a:r>
              <a:rPr lang="en-US" sz="100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03</a:t>
            </a:r>
            <a:r>
              <a:rPr lang="en-US" sz="1250" spc="2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/   </a:t>
            </a: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PIPELINE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Read it. Match it. Decide it.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41248" y="3017520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16171D"/>
          </a:solidFill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310896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8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PAPER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9264" y="3328416"/>
            <a:ext cx="2505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invoice PDF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75888" y="3406140"/>
            <a:ext cx="548640" cy="0"/>
          </a:xfrm>
          <a:prstGeom prst="line">
            <a:avLst/>
          </a:prstGeom>
          <a:noFill/>
          <a:ln w="19050">
            <a:solidFill>
              <a:srgbClr val="E8B84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15968" y="301752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16171D"/>
          </a:solidFill>
          <a:ln w="9525">
            <a:solidFill>
              <a:srgbClr val="2C2D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3984" y="3108960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8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READ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43984" y="3328416"/>
            <a:ext cx="2871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Header + lines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16368" y="3406140"/>
            <a:ext cx="548640" cy="0"/>
          </a:xfrm>
          <a:prstGeom prst="line">
            <a:avLst/>
          </a:prstGeom>
          <a:noFill/>
          <a:ln w="19050">
            <a:solidFill>
              <a:srgbClr val="E8B84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56448" y="301752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24210F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310896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8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DECIDE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84464" y="3328416"/>
            <a:ext cx="2962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Approve · reject · hold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" y="443484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55371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→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554480" y="4535424"/>
            <a:ext cx="97959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Each stage fails differently — a misread digit is not a wrong decision.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41248" y="5001768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512064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→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554480" y="5102352"/>
            <a:ext cx="97959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They are scored separately, so you can tell which stage cost you.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841248" y="5568696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" y="5650992"/>
            <a:ext cx="27432" cy="42062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8" name="Text 26"/>
          <p:cNvSpPr/>
          <p:nvPr/>
        </p:nvSpPr>
        <p:spPr>
          <a:xfrm>
            <a:off x="1042416" y="5568696"/>
            <a:ext cx="10222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Build all three or you have built none: a reader that approves a duplicate has failed.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7797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PROJECT / INVOICE PROCESSING · AUTOMATION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PROJECT · INVOICE PROCESSING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1000" spc="100" kern="0" dirty="0" b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12</a:t>
            </a:r>
            <a:r>
              <a:rPr lang="en-US" sz="100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07</a:t>
            </a:r>
            <a:r>
              <a:rPr lang="en-US" sz="1250" spc="2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/   </a:t>
            </a: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DECISION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Approve, reject, or refuse to pay.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297180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09067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3072384"/>
            <a:ext cx="979596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Clean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— approve it and pay it. A warning is approved with a note, not held.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41248" y="3630168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7490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✗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54480" y="3730752"/>
            <a:ext cx="979596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Error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— reject it. Wrong price, wrong quantity, no purchase order: it goes back.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288536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40740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✗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54480" y="4389120"/>
            <a:ext cx="979596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Critical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— never pay it. A duplicate, or a changed bank account, is an exception.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41248" y="4946904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5788152"/>
            <a:ext cx="27432" cy="42062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1042416" y="5705856"/>
            <a:ext cx="10040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Holding a clean invoice costs you as much as paying a bad one. The rubric counts both.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805113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PROJECT / INVOICE PROCESSING · AUTOMATION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PROJECT · INVOICE PROCESSING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1000" spc="100" kern="0" dirty="0" b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13</a:t>
            </a:r>
            <a:r>
              <a:rPr lang="en-US" sz="100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/ 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1248" y="1444752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LIVE · TOGETHER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828800"/>
            <a:ext cx="10509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40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we'll do right now.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41248" y="288036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992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①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554480" y="2980944"/>
            <a:ext cx="979596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 the queue and claim one invoice — twelve are waiting.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352044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6393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②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554480" y="3621024"/>
            <a:ext cx="979596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Read it at level 1, submit the header and lines, watch the match run.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41248" y="416052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2793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③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554480" y="4261104"/>
            <a:ext cx="979596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 the same invoice at level 4 and read it again. Watch what your eyes do.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41248" y="480060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9194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④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554480" y="4901184"/>
            <a:ext cx="979596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Break it on purpose: change the IBAN by one digit, and watch BANK-CHANGE fire.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41248" y="544068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482429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PROJECT / INVOICE PROCESSING · AUTOMATION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PROJECT · INVOICE PROCESSING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1000" spc="100" kern="0" dirty="0" b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14</a:t>
            </a:r>
            <a:r>
              <a:rPr lang="en-US" sz="100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08</a:t>
            </a:r>
            <a:r>
              <a:rPr lang="en-US" sz="1250" spc="2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/   </a:t>
            </a: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YOUR TASK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 the twelve.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41248" y="2743200"/>
            <a:ext cx="5163160" cy="3017520"/>
          </a:xfrm>
          <a:prstGeom prst="roundRect">
            <a:avLst>
              <a:gd name="adj" fmla="val 1515"/>
            </a:avLst>
          </a:prstGeom>
          <a:solidFill>
            <a:srgbClr val="16171D"/>
          </a:solidFill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999232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52144" y="3346704"/>
            <a:ext cx="45962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Practise until the match result holds no surprises at level 1.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Move to level 3 and practise again — the reading is the hard part.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Take one scored run. Finish it, whatever the number says.</a:t>
            </a:r>
            <a:endParaRPr lang="en-US" sz="13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Note the rule ID that cost you the most items.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87288" y="2743200"/>
            <a:ext cx="5163160" cy="3017520"/>
          </a:xfrm>
          <a:prstGeom prst="roundRect">
            <a:avLst>
              <a:gd name="adj" fmla="val 1515"/>
            </a:avLst>
          </a:prstGeom>
          <a:solidFill>
            <a:srgbClr val="1C1D24"/>
          </a:solidFill>
          <a:ln w="9525">
            <a:solidFill>
              <a:srgbClr val="2C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8184" y="2999232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DELIVER — BEFORE THE NEXT SESSION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8184" y="3346704"/>
            <a:ext cx="45962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3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Your certificate code, or your score if you did not pass.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3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header fields your reader got wrong, and at which level.</a:t>
            </a:r>
            <a:endParaRPr lang="en-US" sz="1350" dirty="0"/>
          </a:p>
          <a:p>
            <a:pPr marL="342900" indent="-342900">
              <a:buSzPct val="100000"/>
              <a:buChar char="›"/>
            </a:pPr>
            <a:r>
              <a:rPr lang="en-US" sz="13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sentence: where would you set the confidence threshold, and why.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59746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PROJECT / INVOICE PROCESSING · AUTOMATION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PROJECT · INVOICE PROCESSING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1000" spc="100" kern="0" dirty="0" b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</a:t>
            </a:r>
            <a:r>
              <a:rPr lang="en-US" sz="100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08.1</a:t>
            </a:r>
            <a:r>
              <a:rPr lang="en-US" sz="1250" spc="2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/   </a:t>
            </a: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INTERVIEW SEED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If they ask: “Walk me through an invoice automation.”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41248" y="301752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13639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3118104"/>
            <a:ext cx="97959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 b="1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Name the documents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— invoice, purchase order, goods receipt. Three-way match.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41248" y="3621024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73989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54480" y="3721608"/>
            <a:ext cx="97959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 b="1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Name the reading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— five levels of scan quality, bilingual, Eastern Arabic digits.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224528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34340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54480" y="4325112"/>
            <a:ext cx="97959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 b="1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Name the control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— every violation has a rule ID, and the bot branches on the ID.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41248" y="4828032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946904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54480" y="4928616"/>
            <a:ext cx="97959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 b="1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Name the exception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— what your bot refuses to decide, and who it hands it to.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41248" y="5431536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715000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00" spc="12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●  </a:t>
            </a:r>
            <a:r>
              <a:rPr lang="en-US" sz="1100" spc="12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EXCEPTION PATH IS THE ANSWER THEY ARE LISTENING FOR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837062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PROJECT / INVOICE PROCESSING · AUTOMATION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PROJECT · INVOICE PROCESSING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1000" spc="100" kern="0" dirty="0" b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16</a:t>
            </a:r>
            <a:r>
              <a:rPr lang="en-US" sz="100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09</a:t>
            </a:r>
            <a:r>
              <a:rPr lang="en-US" sz="1250" spc="2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/   </a:t>
            </a: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RECAP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7452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document, a match, a decision.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306324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18211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3163824"/>
            <a:ext cx="97959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invoice is three regions and twenty-odd fields, printed differently by every vendor.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41248" y="3666744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78561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✓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54480" y="3767328"/>
            <a:ext cx="97959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three-way match turns three documents into one answer, with a rule ID behind it.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270248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✓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54480" y="4370832"/>
            <a:ext cx="97959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Approve, reject or hold — and the hold is a decision you have to defend.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41248" y="4873752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514379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PROJECT / INVOICE PROCESSING · AUTOMATION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PROJECT · INVOICE PROCESSING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1000" spc="100" kern="0" dirty="0" b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17</a:t>
            </a:r>
            <a:r>
              <a:rPr lang="en-US" sz="100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09.1</a:t>
            </a:r>
            <a:r>
              <a:rPr lang="en-US" sz="1250" spc="2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/   </a:t>
            </a: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WHAT'S MISSING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scenario is not a pipeline.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41248" y="292608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pPr indent="0" marL="0">
              <a:lnSpc>
                <a:spcPct val="132000"/>
              </a:lnSpc>
              <a:buNone/>
            </a:pPr>
            <a:pPr indent="0" marL="0">
              <a:lnSpc>
                <a:spcPct val="132000"/>
              </a:lnSpc>
              <a:buNone/>
            </a:pPr>
            <a:pPr indent="0" marL="0">
              <a:lnSpc>
                <a:spcPct val="132000"/>
              </a:lnSpc>
              <a:buNone/>
            </a:pPr>
            <a:pPr indent="0" marL="0">
              <a:lnSpc>
                <a:spcPct val="132000"/>
              </a:lnSpc>
              <a:buNone/>
            </a:pPr>
            <a:r>
              <a:rPr lang="en-US" sz="160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Invoice processing is the deepest of the four, but it is still one queue and one document type. Classification, routing between types, and a production exception queue are the next session. Bring the rule ID that cost you the most.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PROJECT / INVOICE PROCESSING · AUTOMATION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PROJECT · INVOICE PROCESSING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1000" spc="100" kern="0" dirty="0" b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18</a:t>
            </a:r>
            <a:r>
              <a:rPr lang="en-US" sz="100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10</a:t>
            </a:r>
            <a:r>
              <a:rPr lang="en-US" sz="1250" spc="2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/   </a:t>
            </a: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NEXT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7452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Bring me twelve invoices.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41248" y="3383280"/>
            <a:ext cx="603504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657600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NEXT →   Your scored run on invoice-processing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4069080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breakdown · the rule that fired most · where you would set the threshold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" y="5669280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en-US" sz="800" spc="12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●  </a:t>
            </a:r>
            <a:r>
              <a:rPr lang="en-US" sz="1100" spc="12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MOHAMMED SHAKER</a:t>
            </a:r>
            <a:r>
              <a:rPr lang="en-US" sz="1100" spc="12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  </a:t>
            </a:r>
            <a:r>
              <a:rPr lang="en-US" sz="800" spc="12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●  </a:t>
            </a:r>
            <a:r>
              <a:rPr lang="en-US" sz="1100" spc="12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UIPATH MVP</a:t>
            </a:r>
            <a:r>
              <a:rPr lang="en-US" sz="1100" spc="12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  </a:t>
            </a:r>
            <a:r>
              <a:rPr lang="en-US" sz="800" spc="120" kern="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●  </a:t>
            </a:r>
            <a:r>
              <a:rPr lang="en-US" sz="1100" spc="12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MOHAMMEDSHAKER.COM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PROJECT / INVOICE PROCESSING · AUTOMATION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PROJECT · INVOICE PROCESSING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1000" spc="100" kern="0" dirty="0" b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09</a:t>
            </a:r>
            <a:r>
              <a:rPr lang="en-US" sz="1000" spc="1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04.2</a:t>
            </a:r>
            <a:r>
              <a:rPr lang="en-US" sz="1250" spc="200" kern="0" dirty="0" b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 xml:space="preserve">   /   </a:t>
            </a:r>
            <a:r>
              <a:rPr lang="en-US" sz="1250" spc="200" kern="0" dirty="0" b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LADDER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same invoice, five times harder.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841248" y="278892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907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288950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Native PDF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— vector text, selectable. No OCR needed.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41248" y="333756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4564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54480" y="343814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Clean scan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— 300 dpi, faint blur, a fraction of a degree of skew.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388620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0050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54480" y="398678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Office scan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— 200 dpi, three degrees of skew, noise, uneven light.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41248" y="443484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5537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54480" y="453542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Phone photo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— perspective, a shadow gradient, a warm cast, soft focus.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41248" y="498348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1023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 b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554480" y="508406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Handled document</a:t>
            </a:r>
            <a:r>
              <a:rPr lang="en-US" sz="1550" dirty="0" b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 xml:space="preserve"> — stamps, handwriting, staple marks, fold lines.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41248" y="553212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09 — Agentic Foundations &amp; Context Grounding</dc:title>
  <dc:subject>PptxGenJS Presentation</dc:subject>
  <dc:creator>Mohammed Shaker</dc:creator>
  <cp:lastModifiedBy>Mohammed Shaker</cp:lastModifiedBy>
  <cp:revision>1</cp:revision>
  <dcterms:created xsi:type="dcterms:W3CDTF">2026-07-10T11:30:54Z</dcterms:created>
  <dcterms:modified xsi:type="dcterms:W3CDTF">2026-07-10T11:30:54Z</dcterms:modified>
</cp:coreProperties>
</file>