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05156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250" b="1" spc="15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250" b="1" spc="15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 MOHAMMED SHAKER</a:t>
            </a:r>
            <a:pPr indent="0" marL="0">
              <a:buNone/>
            </a:pPr>
            <a:r>
              <a:rPr lang="en-US" sz="1250" b="1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 AUTOMATION MENTORING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SESSION 09 · AGENTIC ADD-ON 1/3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105091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Agents &amp;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Grounding.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841248" y="4736592"/>
            <a:ext cx="60350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956048"/>
            <a:ext cx="10509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Agents Are · Retrieval · Context Grounding Indexes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 HOURS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</a:t>
            </a:r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ADD-ON 1 OF 3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</a:t>
            </a:r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BUILDS ON THE DU CORE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</a:t>
            </a:r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KNOWLEDGE LAYER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54633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Today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CONTENTS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we'll cover.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41248" y="27889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07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28895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Robot vs Agent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— rules execute, agents reason.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3375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4564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43814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agentic trio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— agents think · robots do · people lead.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38862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005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398678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agents hallucinate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— and why grounding is the cure.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4348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5537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53542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Grounding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— indexes, retrieval, permissions.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49834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1023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54480" y="508406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DU data as knowledge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— documents feeding agents.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1248" y="55321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6509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54480" y="56327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an index live + your task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41248" y="60807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EXPECTED TO LEARN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By the end of today, you can —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841248" y="29260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44952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026664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 vs robot vs workflow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and when each fits.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027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21608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03320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 (RAG) &amp; Context Grounding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without hand-waving.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7939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98264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79976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index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real content and query it.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95604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74920"/>
            <a:ext cx="640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5056632"/>
            <a:ext cx="979596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Position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 output as agent knowledge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bridge from the core course.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6327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0926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02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ROBOT VS AGENT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5163160" cy="3383280"/>
          </a:xfrm>
          <a:prstGeom prst="roundRect">
            <a:avLst>
              <a:gd name="adj" fmla="val 1351"/>
            </a:avLst>
          </a:prstGeom>
          <a:solidFill>
            <a:srgbClr val="101116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2144" y="2286000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ROBOT (RPA)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2144" y="2578608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Executes rules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152144" y="3090672"/>
            <a:ext cx="4596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Deterministic — same input, same path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Clicks, types, calls APIs precisely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Fails loudly when reality deviates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Perfect for the well-defined 80%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wrote every step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288" y="2011680"/>
            <a:ext cx="5163160" cy="3383280"/>
          </a:xfrm>
          <a:prstGeom prst="roundRect">
            <a:avLst>
              <a:gd name="adj" fmla="val 1351"/>
            </a:avLst>
          </a:prstGeom>
          <a:solidFill>
            <a:srgbClr val="16171D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8184" y="2286000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8184" y="2578608"/>
            <a:ext cx="461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Reasons toward a goal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498184" y="3090672"/>
            <a:ext cx="45962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LLM-driven — plans, decides, adapts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Uses tools (incl. robots) to act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Handles ambiguity &amp; variation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Escalates when unsure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wrote the goal &amp; guardrails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" y="562356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NOT A REPLACEMENT — A NEW LAYER ABOVE WHAT YOU ALREADY BUILD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6582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05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02.1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OPERATING MODEL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Agents think. Robots do. </a:t>
            </a: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People lead.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AGENTS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2416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Reason &amp; decide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2416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plan · interpret · choose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20514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1682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ROBOTS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1682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Execute precisely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21682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UI · API · documents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9781" y="3108960"/>
            <a:ext cx="3350666" cy="1371600"/>
          </a:xfrm>
          <a:prstGeom prst="roundRect">
            <a:avLst>
              <a:gd name="adj" fmla="val 4000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0949" y="3273552"/>
            <a:ext cx="2984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PEOPLE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00949" y="3566160"/>
            <a:ext cx="29483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Lead &amp; approve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0949" y="4023360"/>
            <a:ext cx="29483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escalations · judgment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" y="505663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" y="497433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DU pipeline is the 'robots do' layer for documents — agents will sit above it, people stay above both.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3898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06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03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965960"/>
            <a:ext cx="1050919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LLM without your data </a:t>
            </a: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E8B8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makes things up </a:t>
            </a:r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confidently.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1248" y="37947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91363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895344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knows the internet's general knowledge —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your policies, contracts, or SOPs.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441655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53542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4517136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 about YOUR refund policy → it invents a plausible one. That's a hallucination.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503834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515721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5138928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fix is not a bigger model — it's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giving it the right context at answer time.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56601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41215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07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03.1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RETRIEVAL, IN ONE PICTURE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Retrieve first. </a:t>
            </a: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Then answer.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063240"/>
            <a:ext cx="2048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868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58768" y="306324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86784" y="31546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SEARCH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86784" y="3374136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indexed docs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9340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33488" y="30632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3063240"/>
            <a:ext cx="1865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LLM + context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28048" y="345186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68128" y="306324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325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96144" y="3063240"/>
            <a:ext cx="950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Answer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44805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9943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554480" y="4581144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model answers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the retrieved passages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grounded, citable, current.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41248" y="504748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663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54480" y="5148072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Change the documents, answers change —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retraining.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41248" y="561441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74243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" y="566013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This pattern is called RAG — Retrieval-Augmented Generation. Context Grounding is UiPath's managed RAG.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18531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08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 / THE UIPATH PIECE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78308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Grounding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41248" y="27432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platform's </a:t>
            </a:r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governed knowledge layer</a:t>
            </a:r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you create indexes over your content; agents and activities query them and answer </a:t>
            </a:r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only from permissioned, governed knowledge</a:t>
            </a:r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" y="42062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32511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src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430682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Sources: storage buckets, files, enterprise systems — ingested &amp; chunked into an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index.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7548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8737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gov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485546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Permissions &amp; governance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 agent sees only what its index allows. Runs through the Trust Layer.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" y="5303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422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5404104"/>
            <a:ext cx="979596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Queried from agents, and from workflows via Context Grounding activities / API.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41248" y="58521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09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INDEX LIFECYCLE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Ingest → chunk → query → 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fresh.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Ingest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point the index at a bucket / source; pick what's in scope.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3931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5818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39896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Chunk &amp; embed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content is split and vectorized for semantic search (managed for you).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611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79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61688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Query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semantic search returns the most relevant passages, with source attribution.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8289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017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Refresh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re-sync when content changes; stale knowledge = confident wrong answers.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50468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7316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10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04.2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CURATION RULES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Garbage in — </a:t>
            </a:r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confident garbage out.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Curate, don't dump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50 authoritative docs beat 5,000 random ones.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3931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5818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39896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source of truth per topic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conflicting versions confuse retrieval.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611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79976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61688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 helps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clear headings &amp; titles retrieve better than wall-of-text.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8289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017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97959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Own the refresh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assign an owner; review on policy change, not 'someday'.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50468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50480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11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05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THE BRIDGE FROM THE CORE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DU pipeline is a </a:t>
            </a:r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knowledge factory.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274320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1089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S1–S7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9264" y="3328416"/>
            <a:ext cx="2505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 pipeline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75888" y="340614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5968" y="301752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3108960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OUTPUT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43984" y="3328416"/>
            <a:ext cx="28712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Structured data + docs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16368" y="3406140"/>
            <a:ext cx="548640" cy="0"/>
          </a:xfrm>
          <a:prstGeom prst="line">
            <a:avLst/>
          </a:prstGeom>
          <a:noFill/>
          <a:ln w="19050">
            <a:solidFill>
              <a:srgbClr val="E8B84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56448" y="30175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24210F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310896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8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TODAY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84464" y="3328416"/>
            <a:ext cx="29626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Grounding index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1248" y="44348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55371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54480" y="4535424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Validated extractions + the documents themselves become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queryable knowledge.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41248" y="500176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120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→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554480" y="5102352"/>
            <a:ext cx="979596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“What did we agree with vendor X?” — answered from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contracts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with the source cited.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41248" y="556869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" y="565099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8" name="Text 26"/>
          <p:cNvSpPr/>
          <p:nvPr/>
        </p:nvSpPr>
        <p:spPr>
          <a:xfrm>
            <a:off x="1042416" y="5568696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This is why IXP markets itself as 'IDP for agents' — the pipeline you built is exactly what agents need to be useful.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12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05.1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JUDGMENT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Grounding is for knowledge — </a:t>
            </a:r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for everything.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29718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09067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072384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Policies, SOPs, contracts, product specs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'answer from our documents' questions.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3016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490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✗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30752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transactional data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(an order's status) — that's a tool/API call, not retrieval (S10).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885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40740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✗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979596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Precise calculations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deterministic code, not an LLM reading tables.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94690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5788152"/>
            <a:ext cx="27432" cy="420624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5705856"/>
            <a:ext cx="10040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Interview line: 'Grounding for what we know, tools for what we do, escalation for what we're unsure of.'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05113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13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1248" y="1444752"/>
            <a:ext cx="146304" cy="14630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DE8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LIVE ·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828800"/>
            <a:ext cx="105091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we'll build </a:t>
            </a:r>
            <a:pPr indent="0" marL="0">
              <a:buNone/>
            </a:pPr>
            <a:r>
              <a:rPr lang="en-US" sz="4000" b="1" dirty="0">
                <a:solidFill>
                  <a:srgbClr val="E8B84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right now.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41248" y="288036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992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54480" y="298094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 a small knowledge set (policy PDF + our invoices' terms) to a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storage bucket.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35204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6393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②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554480" y="362102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 Grounding index</a:t>
            </a:r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over it and let it sync.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41248" y="4160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2793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554480" y="426110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Query it — watch answers come back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with the source passage.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41248" y="480060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9194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④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554480" y="4901184"/>
            <a:ext cx="9795967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 something NOT in the index — see it decline instead of invent. </a:t>
            </a:r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That's grounding.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41248" y="544068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482430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14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06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YOUR TASK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your knowledge base.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2743200"/>
            <a:ext cx="5163160" cy="3017520"/>
          </a:xfrm>
          <a:prstGeom prst="roundRect">
            <a:avLst>
              <a:gd name="adj" fmla="val 1515"/>
            </a:avLst>
          </a:prstGeom>
          <a:solidFill>
            <a:srgbClr val="16171D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99923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144" y="3346704"/>
            <a:ext cx="459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5–10 'company' documents (policies, your invoice terms, an SOP).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 Context Grounding index over them.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5 questions the index answers well — verify sources.</a:t>
            </a:r>
            <a:endParaRPr lang="en-US" sz="13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2 questions it should refuse — verify it doesn't invent.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87288" y="2743200"/>
            <a:ext cx="5163160" cy="3017520"/>
          </a:xfrm>
          <a:prstGeom prst="roundRect">
            <a:avLst>
              <a:gd name="adj" fmla="val 1515"/>
            </a:avLst>
          </a:prstGeom>
          <a:solidFill>
            <a:srgbClr val="1C1D24"/>
          </a:solidFill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8184" y="2999232"/>
            <a:ext cx="461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DELIVER — BEFORE SESSION 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8184" y="3346704"/>
            <a:ext cx="45962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Screenshot of your index, synced.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7 questions + what came back (sources included).</a:t>
            </a:r>
            <a:endParaRPr lang="en-US" sz="1350" dirty="0"/>
          </a:p>
          <a:p>
            <a:pPr marL="342900" indent="-342900">
              <a:buSzPct val="100000"/>
              <a:buChar char="›"/>
            </a:pPr>
            <a:r>
              <a:rPr lang="en-US" sz="13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sentence: which document would you index FIRST at a real company, and why?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59746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15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06.1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INTERVIEW SEED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If they ask: </a:t>
            </a:r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“How do you stop an agent hallucinating?”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41248" y="301752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18104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Ground it — answers come from a curated, permissioned index, with attribution.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2102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3989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21608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Scope it — knowledge via retrieval, actions via tools, precision via code.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2452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4340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25112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Guard it — escalation paths for low-confidence, humans on consequential calls.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2803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9469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54480" y="4928616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it fresh — owned refresh cycle; stale grounding is subtle poison.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41248" y="5431536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150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SAME PHILOSOPHY AS DU: CONFIDENCE + HUMAN LOOP — NEW LAYER, SAME DISCIPLINE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837062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16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07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RECAP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Agents reason — </a:t>
            </a:r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grounding is what makes them honest.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821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554480" y="3163824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Robot vs agent vs people — the trio.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" y="3666744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78561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54480" y="3767328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RAG in one picture; Context Grounding as managed, governed RAG.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270248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54480" y="4370832"/>
            <a:ext cx="97959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index you built, queried, and tried to break.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41248" y="4873752"/>
            <a:ext cx="10509199" cy="0"/>
          </a:xfrm>
          <a:prstGeom prst="line">
            <a:avLst/>
          </a:prstGeom>
          <a:noFill/>
          <a:ln w="9525">
            <a:solidFill>
              <a:srgbClr val="2C2D3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514379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17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07.1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WHAT'S MISSING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can answer. </a:t>
            </a:r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It can't yet act.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41248" y="292608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Knowledge without hands is a chatbot. Next session we give the agent </a:t>
            </a:r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tools</a:t>
            </a:r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your workflows, APIs and DU pipeline — plus </a:t>
            </a:r>
            <a:pPr indent="0" marL="0">
              <a:lnSpc>
                <a:spcPct val="132000"/>
              </a:lnSpc>
              <a:buNone/>
            </a:pPr>
            <a:r>
              <a:rPr lang="en-US" sz="16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escalations and memory</a:t>
            </a:r>
            <a:pPr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9B9EA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inside Agent Builder.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[</a:t>
            </a:r>
            <a:pPr indent="0" marL="0">
              <a:buNone/>
            </a:pPr>
            <a:r>
              <a:rPr lang="en-US" sz="1100" b="1" spc="2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MS</a:t>
            </a:r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]</a:t>
            </a:r>
            <a:pPr indent="0" marL="0">
              <a:buNone/>
            </a:pPr>
            <a:r>
              <a:rPr lang="en-US" sz="1100" b="1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DU MENTORING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864047" y="274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09 / ADD-ON · AGENTIC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v2026.1 · AGENTIC FOUNDATIONS &amp; CONTEXT GROUNDING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607247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18</a:t>
            </a:r>
            <a:pPr algn="r" indent="0" marL="0">
              <a:buNone/>
            </a:pPr>
            <a:r>
              <a:rPr lang="en-US" sz="1000" spc="1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1371600"/>
            <a:ext cx="105091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— 08</a:t>
            </a:r>
            <a:pPr indent="0" marL="0">
              <a:buNone/>
            </a:pPr>
            <a:r>
              <a:rPr lang="en-US" sz="1250" spc="20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/   </a:t>
            </a:r>
            <a:pPr indent="0" marL="0">
              <a:buNone/>
            </a:pPr>
            <a:r>
              <a:rPr lang="en-US" sz="1250" spc="200" kern="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1874520"/>
            <a:ext cx="105091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4F4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Next: the agent gets hands.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3383280"/>
            <a:ext cx="603504" cy="41148"/>
          </a:xfrm>
          <a:prstGeom prst="rect">
            <a:avLst/>
          </a:prstGeom>
          <a:solidFill>
            <a:srgbClr val="E8B84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65760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NEXT →   </a:t>
            </a:r>
            <a:pPr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Session 10 — Agent Builder · Tools &amp; Memory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406908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EA6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Prompts · tools · escalations · agent memory · your first working agent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5669280"/>
            <a:ext cx="105091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MOHAMMED SHAKER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</a:t>
            </a:r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UIPATH MVP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     </a:t>
            </a:r>
            <a:pPr indent="0" marL="0">
              <a:buNone/>
            </a:pPr>
            <a:r>
              <a:rPr lang="en-US" sz="800" spc="120" kern="0" dirty="0">
                <a:solidFill>
                  <a:srgbClr val="E8B84B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●  </a:t>
            </a:r>
            <a:pPr indent="0" marL="0">
              <a:buNone/>
            </a:pPr>
            <a:r>
              <a:rPr lang="en-US" sz="1100" spc="120" kern="0" dirty="0">
                <a:solidFill>
                  <a:srgbClr val="6A6D75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MOHAMMEDSHAKER.COM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09 — Agentic Foundations &amp; Context Grounding</dc:title>
  <dc:subject>PptxGenJS Presentation</dc:subject>
  <dc:creator>Mohammed Shaker</dc:creator>
  <cp:lastModifiedBy>Mohammed Shaker</cp:lastModifiedBy>
  <cp:revision>1</cp:revision>
  <dcterms:created xsi:type="dcterms:W3CDTF">2026-07-10T11:30:54Z</dcterms:created>
  <dcterms:modified xsi:type="dcterms:W3CDTF">2026-07-10T11:30:54Z</dcterms:modified>
</cp:coreProperties>
</file>