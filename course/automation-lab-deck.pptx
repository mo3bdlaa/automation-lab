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0"/>
    <p:sldId id="263" r:id="rId25"/>
    <p:sldId id="264" r:id="rId11"/>
    <p:sldId id="265" r:id="rId26"/>
    <p:sldId id="266" r:id="rId27"/>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051560"/>
            <a:ext cx="10509199" cy="365760"/>
          </a:xfrm>
          <a:prstGeom prst="rect">
            <a:avLst/>
          </a:prstGeom>
          <a:noFill/>
          <a:ln/>
        </p:spPr>
        <p:txBody>
          <a:bodyPr wrap="square" lIns="0" tIns="0" rIns="0" bIns="0" rtlCol="0" anchor="ctr"/>
          <a:lstStyle/>
          <a:p>
            <a:pPr indent="0" marL="0">
              <a:buNone/>
            </a:pPr>
            <a:r>
              <a:rPr lang="en-US" sz="1250" b="1" spc="150" kern="0" dirty="0">
                <a:solidFill>
                  <a:srgbClr val="E8B84B"/>
                </a:solidFill>
                <a:latin typeface="Geist Mono" pitchFamily="34" charset="0"/>
                <a:ea typeface="Geist Mono" pitchFamily="34" charset="-122"/>
                <a:cs typeface="Geist Mono" pitchFamily="34" charset="-120"/>
              </a:rPr>
              <a:t>[</a:t>
            </a:r>
            <a:pPr indent="0" marL="0">
              <a:buNone/>
            </a:pPr>
            <a:r>
              <a:rPr lang="en-US" sz="1250" b="1" spc="150" kern="0" dirty="0">
                <a:solidFill>
                  <a:srgbClr val="F4F4F2"/>
                </a:solidFill>
                <a:latin typeface="Geist Mono" pitchFamily="34" charset="0"/>
                <a:ea typeface="Geist Mono" pitchFamily="34" charset="-122"/>
                <a:cs typeface="Geist Mono" pitchFamily="34" charset="-120"/>
              </a:rPr>
              <a:t>MS</a:t>
            </a:r>
            <a:pPr indent="0" marL="0">
              <a:buNone/>
            </a:pPr>
            <a:r>
              <a:rPr lang="en-US" sz="1250" b="1" spc="150" kern="0" dirty="0">
                <a:solidFill>
                  <a:srgbClr val="F4F4F2"/>
                </a:solidFill>
                <a:latin typeface="Geist Mono" pitchFamily="34" charset="0"/>
                <a:ea typeface="Geist Mono" pitchFamily="34" charset="-122"/>
                <a:cs typeface="Geist Mono" pitchFamily="34" charset="-120"/>
              </a:rPr>
              <a:t>] MOHAMMED SHAKER</a:t>
            </a:r>
            <a:pPr indent="0" marL="0">
              <a:buNone/>
            </a:pPr>
            <a:r>
              <a:rPr lang="en-US" sz="1250" b="1" spc="150" kern="0" dirty="0">
                <a:solidFill>
                  <a:srgbClr val="6A6D75"/>
                </a:solidFill>
                <a:latin typeface="Geist Mono" pitchFamily="34" charset="0"/>
                <a:ea typeface="Geist Mono" pitchFamily="34" charset="-122"/>
                <a:cs typeface="Geist Mono" pitchFamily="34" charset="-120"/>
              </a:rPr>
              <a:t>      AUTOMATION MENTORING</a:t>
            </a:r>
            <a:endParaRPr lang="en-US" sz="1250" dirty="0"/>
          </a:p>
        </p:txBody>
      </p:sp>
      <p:sp>
        <p:nvSpPr>
          <p:cNvPr id="8" name="Text 6"/>
          <p:cNvSpPr/>
          <p:nvPr/>
        </p:nvSpPr>
        <p:spPr>
          <a:xfrm>
            <a:off x="841248" y="2331720"/>
            <a:ext cx="10509199" cy="365760"/>
          </a:xfrm>
          <a:prstGeom prst="rect">
            <a:avLst/>
          </a:prstGeom>
          <a:noFill/>
          <a:ln/>
        </p:spPr>
        <p:txBody>
          <a:bodyPr wrap="square" lIns="0" tIns="0" rIns="0" bIns="0" rtlCol="0" anchor="ctr"/>
          <a:lstStyle/>
          <a:p>
            <a:pPr indent="0" marL="0">
              <a:buNone/>
            </a:pPr>
            <a:r>
              <a:rPr lang="en-US" sz="1300" spc="200" kern="0" dirty="0" b="0">
                <a:solidFill>
                  <a:srgbClr val="E8B84B"/>
                </a:solidFill>
                <a:latin typeface="Geist Mono" pitchFamily="34" charset="0"/>
                <a:ea typeface="Geist Mono" pitchFamily="34" charset="-122"/>
                <a:cs typeface="Geist Mono" pitchFamily="34" charset="-120"/>
              </a:rPr>
              <a:t>— BONUS · THE AUTOMATION LAB · PRACTISE ON A REAL SYSTEM</a:t>
            </a:r>
            <a:endParaRPr lang="en-US" sz="1300" dirty="0"/>
          </a:p>
        </p:txBody>
      </p:sp>
      <p:sp>
        <p:nvSpPr>
          <p:cNvPr id="9" name="Text 7"/>
          <p:cNvSpPr/>
          <p:nvPr/>
        </p:nvSpPr>
        <p:spPr>
          <a:xfrm>
            <a:off x="841248" y="2743200"/>
            <a:ext cx="10509199" cy="1828800"/>
          </a:xfrm>
          <a:prstGeom prst="rect">
            <a:avLst/>
          </a:prstGeom>
          <a:noFill/>
          <a:ln/>
        </p:spPr>
        <p:txBody>
          <a:bodyPr wrap="square" lIns="0" tIns="0" rIns="0" bIns="0" rtlCol="0" anchor="t"/>
          <a:lstStyle/>
          <a:p>
            <a:pPr indent="0" marL="0">
              <a:lnSpc>
                <a:spcPct val="98000"/>
              </a:lnSpc>
              <a:buNone/>
            </a:pPr>
            <a:r>
              <a:rPr lang="en-US" sz="6000" b="0" dirty="0">
                <a:solidFill>
                  <a:srgbClr val="F4F4F2"/>
                </a:solidFill>
                <a:latin typeface="Geist" pitchFamily="34" charset="0"/>
                <a:ea typeface="Geist" pitchFamily="34" charset="-122"/>
                <a:cs typeface="Geist" pitchFamily="34" charset="-120"/>
              </a:rPr>
              <a:t xml:space="preserve">The Automation </a:t>
            </a:r>
            <a:r>
              <a:rPr lang="en-US" sz="6000" b="0" dirty="0">
                <a:solidFill>
                  <a:srgbClr val="9B9EA6"/>
                </a:solidFill>
                <a:latin typeface="Geist" pitchFamily="34" charset="0"/>
                <a:ea typeface="Geist" pitchFamily="34" charset="-122"/>
                <a:cs typeface="Geist" pitchFamily="34" charset="-120"/>
              </a:rPr>
              <a:t>Lab.</a:t>
            </a:r>
            <a:endParaRPr lang="en-US" sz="6000" dirty="0"/>
          </a:p>
        </p:txBody>
      </p:sp>
      <p:sp>
        <p:nvSpPr>
          <p:cNvPr id="10" name="Shape 8"/>
          <p:cNvSpPr/>
          <p:nvPr/>
        </p:nvSpPr>
        <p:spPr>
          <a:xfrm>
            <a:off x="841248" y="4736592"/>
            <a:ext cx="603504" cy="41148"/>
          </a:xfrm>
          <a:prstGeom prst="rect">
            <a:avLst/>
          </a:prstGeom>
          <a:solidFill>
            <a:srgbClr val="E8B84B"/>
          </a:solidFill>
          <a:ln/>
        </p:spPr>
      </p:sp>
      <p:sp>
        <p:nvSpPr>
          <p:cNvPr id="11" name="Text 9"/>
          <p:cNvSpPr/>
          <p:nvPr/>
        </p:nvSpPr>
        <p:spPr>
          <a:xfrm>
            <a:off x="841248" y="4956048"/>
            <a:ext cx="10509199" cy="548640"/>
          </a:xfrm>
          <a:prstGeom prst="rect">
            <a:avLst/>
          </a:prstGeom>
          <a:noFill/>
          <a:ln/>
        </p:spPr>
        <p:txBody>
          <a:bodyPr wrap="square" lIns="0" tIns="0" rIns="0" bIns="0" rtlCol="0" anchor="ctr"/>
          <a:lstStyle/>
          <a:p>
            <a:pPr indent="0" marL="0">
              <a:buNone/>
            </a:pPr>
            <a:r>
              <a:rPr lang="en-US" sz="2400" dirty="0" b="0">
                <a:solidFill>
                  <a:srgbClr val="9B9EA6"/>
                </a:solidFill>
                <a:latin typeface="Geist" pitchFamily="34" charset="0"/>
                <a:ea typeface="Geist" pitchFamily="34" charset="-122"/>
                <a:cs typeface="Geist" pitchFamily="34" charset="-120"/>
              </a:rPr>
              <a:t>A working ERP · Four scenarios · Scored runs · A verifiable certificate</a:t>
            </a:r>
            <a:endParaRPr lang="en-US" sz="2400" dirty="0"/>
          </a:p>
        </p:txBody>
      </p:sp>
      <p:sp>
        <p:nvSpPr>
          <p:cNvPr id="12" name="Text 1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2 HOURS</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BONUS MODULE</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BRING A BOT</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OPEN ALL YEAR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35463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BONUS</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CONTENTS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What we'll cover.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What the lab is</a:t>
            </a:r>
            <a:r>
              <a:rPr lang="en-US" sz="1550" dirty="0" b="0">
                <a:solidFill>
                  <a:srgbClr val="9B9EA6"/>
                </a:solidFill>
                <a:latin typeface="Geist" pitchFamily="34" charset="0"/>
                <a:ea typeface="Geist" pitchFamily="34" charset="-122"/>
                <a:cs typeface="Geist" pitchFamily="34" charset="-120"/>
              </a:rPr>
              <a:t xml:space="preserve">  — a working system, not a practice form.</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company</a:t>
            </a:r>
            <a:r>
              <a:rPr lang="en-US" sz="1550" dirty="0" b="0">
                <a:solidFill>
                  <a:srgbClr val="9B9EA6"/>
                </a:solidFill>
                <a:latin typeface="Geist" pitchFamily="34" charset="0"/>
                <a:ea typeface="Geist" pitchFamily="34" charset="-122"/>
                <a:cs typeface="Geist" pitchFamily="34" charset="-120"/>
              </a:rPr>
              <a:t xml:space="preserve">  — how it buys, and the paper trail it leaves behind.</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document ladder</a:t>
            </a:r>
            <a:r>
              <a:rPr lang="en-US" sz="1550" dirty="0" b="0">
                <a:solidFill>
                  <a:srgbClr val="9B9EA6"/>
                </a:solidFill>
                <a:latin typeface="Geist" pitchFamily="34" charset="0"/>
                <a:ea typeface="Geist" pitchFamily="34" charset="-122"/>
                <a:cs typeface="Geist" pitchFamily="34" charset="-120"/>
              </a:rPr>
              <a:t xml:space="preserve">  — the same invoice, five times harder.</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four scenarios</a:t>
            </a:r>
            <a:r>
              <a:rPr lang="en-US" sz="1550" dirty="0" b="0">
                <a:solidFill>
                  <a:srgbClr val="9B9EA6"/>
                </a:solidFill>
                <a:latin typeface="Geist" pitchFamily="34" charset="0"/>
                <a:ea typeface="Geist" pitchFamily="34" charset="-122"/>
                <a:cs typeface="Geist" pitchFamily="34" charset="-120"/>
              </a:rPr>
              <a:t xml:space="preserve">  — what each one actually asks of you.</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How a run is scored</a:t>
            </a:r>
            <a:r>
              <a:rPr lang="en-US" sz="1550" dirty="0" b="0">
                <a:solidFill>
                  <a:srgbClr val="9B9EA6"/>
                </a:solidFill>
                <a:latin typeface="Geist" pitchFamily="34" charset="0"/>
                <a:ea typeface="Geist" pitchFamily="34" charset="-122"/>
                <a:cs typeface="Geist" pitchFamily="34" charset="-120"/>
              </a:rPr>
              <a:t xml:space="preserve">  — five parameters, published up front.</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5" name="Text 23"/>
          <p:cNvSpPr/>
          <p:nvPr/>
        </p:nvSpPr>
        <p:spPr>
          <a:xfrm>
            <a:off x="841248" y="56509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06</a:t>
            </a:r>
            <a:endParaRPr lang="en-US" sz="1250" dirty="0"/>
          </a:p>
        </p:txBody>
      </p:sp>
      <p:sp>
        <p:nvSpPr>
          <p:cNvPr id="26" name="Text 24"/>
          <p:cNvSpPr/>
          <p:nvPr/>
        </p:nvSpPr>
        <p:spPr>
          <a:xfrm>
            <a:off x="1554480" y="56327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Sign up live</a:t>
            </a:r>
            <a:r>
              <a:rPr lang="en-US" sz="1550" dirty="0" b="0">
                <a:solidFill>
                  <a:srgbClr val="9B9EA6"/>
                </a:solidFill>
                <a:latin typeface="Geist" pitchFamily="34" charset="0"/>
                <a:ea typeface="Geist" pitchFamily="34" charset="-122"/>
                <a:cs typeface="Geist" pitchFamily="34" charset="-120"/>
              </a:rPr>
              <a:t xml:space="preserve">  — open a run together, then your task.</a:t>
            </a:r>
            <a:endParaRPr lang="en-US" sz="1550" dirty="0"/>
          </a:p>
        </p:txBody>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03194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EXPECTED TO LEARN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By the end of today, you can —</a:t>
            </a:r>
            <a:endParaRPr lang="en-US" sz="3800" dirty="0"/>
          </a:p>
        </p:txBody>
      </p:sp>
      <p:sp>
        <p:nvSpPr>
          <p:cNvPr id="9" name="Shape 7"/>
          <p:cNvSpPr/>
          <p:nvPr/>
        </p:nvSpPr>
        <p:spPr>
          <a:xfrm>
            <a:off x="841248" y="2926080"/>
            <a:ext cx="10509199" cy="0"/>
          </a:xfrm>
          <a:prstGeom prst="line">
            <a:avLst/>
          </a:prstGeom>
          <a:noFill/>
          <a:ln w="9525">
            <a:solidFill>
              <a:srgbClr val="2C2D34"/>
            </a:solidFill>
            <a:prstDash val="solid"/>
          </a:ln>
        </p:spPr>
      </p:sp>
      <p:sp>
        <p:nvSpPr>
          <p:cNvPr id="10" name="Text 8"/>
          <p:cNvSpPr/>
          <p:nvPr/>
        </p:nvSpPr>
        <p:spPr>
          <a:xfrm>
            <a:off x="841248" y="3044952"/>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026664"/>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Say why a </a:t>
            </a:r>
            <a:r>
              <a:rPr lang="en-US" sz="1550" b="1" dirty="0">
                <a:solidFill>
                  <a:srgbClr val="F4F4F2"/>
                </a:solidFill>
                <a:latin typeface="Geist" pitchFamily="34" charset="0"/>
                <a:ea typeface="Geist" pitchFamily="34" charset="-122"/>
                <a:cs typeface="Geist" pitchFamily="34" charset="-120"/>
              </a:rPr>
              <a:t>demo sandbox teaches nothing</a:t>
            </a:r>
            <a:r>
              <a:rPr lang="en-US" sz="1550" dirty="0" b="0">
                <a:solidFill>
                  <a:srgbClr val="9B9EA6"/>
                </a:solidFill>
                <a:latin typeface="Geist" pitchFamily="34" charset="0"/>
                <a:ea typeface="Geist" pitchFamily="34" charset="-122"/>
                <a:cs typeface="Geist" pitchFamily="34" charset="-120"/>
              </a:rPr>
              <a:t xml:space="preserve"> — and what a real system adds.</a:t>
            </a:r>
            <a:endParaRPr lang="en-US" sz="1550" dirty="0"/>
          </a:p>
        </p:txBody>
      </p:sp>
      <p:sp>
        <p:nvSpPr>
          <p:cNvPr id="12" name="Shape 10"/>
          <p:cNvSpPr/>
          <p:nvPr/>
        </p:nvSpPr>
        <p:spPr>
          <a:xfrm>
            <a:off x="841248" y="3602736"/>
            <a:ext cx="10509199" cy="0"/>
          </a:xfrm>
          <a:prstGeom prst="line">
            <a:avLst/>
          </a:prstGeom>
          <a:noFill/>
          <a:ln w="9525">
            <a:solidFill>
              <a:srgbClr val="2C2D34"/>
            </a:solidFill>
            <a:prstDash val="solid"/>
          </a:ln>
        </p:spPr>
      </p:sp>
      <p:sp>
        <p:nvSpPr>
          <p:cNvPr id="13" name="Text 11"/>
          <p:cNvSpPr/>
          <p:nvPr/>
        </p:nvSpPr>
        <p:spPr>
          <a:xfrm>
            <a:off x="841248" y="3721608"/>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03320"/>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Work a scenario </a:t>
            </a:r>
            <a:r>
              <a:rPr lang="en-US" sz="1550" b="1" dirty="0">
                <a:solidFill>
                  <a:srgbClr val="F4F4F2"/>
                </a:solidFill>
                <a:latin typeface="Geist" pitchFamily="34" charset="0"/>
                <a:ea typeface="Geist" pitchFamily="34" charset="-122"/>
                <a:cs typeface="Geist" pitchFamily="34" charset="-120"/>
              </a:rPr>
              <a:t>end to end</a:t>
            </a:r>
            <a:r>
              <a:rPr lang="en-US" sz="1550" dirty="0" b="0">
                <a:solidFill>
                  <a:srgbClr val="9B9EA6"/>
                </a:solidFill>
                <a:latin typeface="Geist" pitchFamily="34" charset="0"/>
                <a:ea typeface="Geist" pitchFamily="34" charset="-122"/>
                <a:cs typeface="Geist" pitchFamily="34" charset="-120"/>
              </a:rPr>
              <a:t xml:space="preserve"> — through the screens or the API, your choice.</a:t>
            </a:r>
            <a:endParaRPr lang="en-US" sz="1550" dirty="0"/>
          </a:p>
        </p:txBody>
      </p:sp>
      <p:sp>
        <p:nvSpPr>
          <p:cNvPr id="15" name="Shape 13"/>
          <p:cNvSpPr/>
          <p:nvPr/>
        </p:nvSpPr>
        <p:spPr>
          <a:xfrm>
            <a:off x="841248" y="4279392"/>
            <a:ext cx="10509199" cy="0"/>
          </a:xfrm>
          <a:prstGeom prst="line">
            <a:avLst/>
          </a:prstGeom>
          <a:noFill/>
          <a:ln w="9525">
            <a:solidFill>
              <a:srgbClr val="2C2D34"/>
            </a:solidFill>
            <a:prstDash val="solid"/>
          </a:ln>
        </p:spPr>
      </p:sp>
      <p:sp>
        <p:nvSpPr>
          <p:cNvPr id="16" name="Text 14"/>
          <p:cNvSpPr/>
          <p:nvPr/>
        </p:nvSpPr>
        <p:spPr>
          <a:xfrm>
            <a:off x="841248" y="4398264"/>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79976"/>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Read a </a:t>
            </a:r>
            <a:r>
              <a:rPr lang="en-US" sz="1550" b="1" dirty="0">
                <a:solidFill>
                  <a:srgbClr val="F4F4F2"/>
                </a:solidFill>
                <a:latin typeface="Geist" pitchFamily="34" charset="0"/>
                <a:ea typeface="Geist" pitchFamily="34" charset="-122"/>
                <a:cs typeface="Geist" pitchFamily="34" charset="-120"/>
              </a:rPr>
              <a:t>score breakdown</a:t>
            </a:r>
            <a:r>
              <a:rPr lang="en-US" sz="1550" dirty="0" b="0">
                <a:solidFill>
                  <a:srgbClr val="9B9EA6"/>
                </a:solidFill>
                <a:latin typeface="Geist" pitchFamily="34" charset="0"/>
                <a:ea typeface="Geist" pitchFamily="34" charset="-122"/>
                <a:cs typeface="Geist" pitchFamily="34" charset="-120"/>
              </a:rPr>
              <a:t xml:space="preserve"> and name the parameter you would attack next.</a:t>
            </a:r>
            <a:endParaRPr lang="en-US" sz="1550" dirty="0"/>
          </a:p>
        </p:txBody>
      </p:sp>
      <p:sp>
        <p:nvSpPr>
          <p:cNvPr id="18" name="Shape 16"/>
          <p:cNvSpPr/>
          <p:nvPr/>
        </p:nvSpPr>
        <p:spPr>
          <a:xfrm>
            <a:off x="841248" y="4956048"/>
            <a:ext cx="10509199" cy="0"/>
          </a:xfrm>
          <a:prstGeom prst="line">
            <a:avLst/>
          </a:prstGeom>
          <a:noFill/>
          <a:ln w="9525">
            <a:solidFill>
              <a:srgbClr val="2C2D34"/>
            </a:solidFill>
            <a:prstDash val="solid"/>
          </a:ln>
        </p:spPr>
      </p:sp>
      <p:sp>
        <p:nvSpPr>
          <p:cNvPr id="19" name="Text 17"/>
          <p:cNvSpPr/>
          <p:nvPr/>
        </p:nvSpPr>
        <p:spPr>
          <a:xfrm>
            <a:off x="841248" y="5074920"/>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5056632"/>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Point a bot at the API with </a:t>
            </a:r>
            <a:r>
              <a:rPr lang="en-US" sz="1550" b="1" dirty="0">
                <a:solidFill>
                  <a:srgbClr val="F4F4F2"/>
                </a:solidFill>
                <a:latin typeface="Geist" pitchFamily="34" charset="0"/>
                <a:ea typeface="Geist" pitchFamily="34" charset="-122"/>
                <a:cs typeface="Geist" pitchFamily="34" charset="-120"/>
              </a:rPr>
              <a:t>its own credential</a:t>
            </a:r>
            <a:r>
              <a:rPr lang="en-US" sz="1550" dirty="0" b="0">
                <a:solidFill>
                  <a:srgbClr val="9B9EA6"/>
                </a:solidFill>
                <a:latin typeface="Geist" pitchFamily="34" charset="0"/>
                <a:ea typeface="Geist" pitchFamily="34" charset="-122"/>
                <a:cs typeface="Geist" pitchFamily="34" charset="-120"/>
              </a:rPr>
              <a:t xml:space="preserve"> — no browser involved.</a:t>
            </a:r>
            <a:endParaRPr lang="en-US" sz="1550" dirty="0"/>
          </a:p>
        </p:txBody>
      </p:sp>
      <p:sp>
        <p:nvSpPr>
          <p:cNvPr id="21" name="Shape 19"/>
          <p:cNvSpPr/>
          <p:nvPr/>
        </p:nvSpPr>
        <p:spPr>
          <a:xfrm>
            <a:off x="841248" y="5632704"/>
            <a:ext cx="10509199" cy="0"/>
          </a:xfrm>
          <a:prstGeom prst="line">
            <a:avLst/>
          </a:prstGeom>
          <a:noFill/>
          <a:ln w="9525">
            <a:solidFill>
              <a:srgbClr val="2C2D3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70926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 IT IS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A PRACTICE FORM</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Four rows and a submit</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Data invented for the exercise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Every field already clean</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Nothing references anything else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it and nobody notices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form</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THE AUTOMATION LAB</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A company with a history</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Two years of purchasing behind it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Documents that argue with each other</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Orders, receipts and invoices that must agree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the chain and it tells you</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process</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YOU ARE GIVEN A LOGIN, NOT A TUTORIAL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338658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THREE WAYS IN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Screens for people. API for bots. Paper for both.</a:t>
            </a:r>
            <a:endParaRPr lang="en-US" sz="3200" dirty="0"/>
          </a:p>
        </p:txBody>
      </p:sp>
      <p:sp>
        <p:nvSpPr>
          <p:cNvPr id="9" name="Shape 7"/>
          <p:cNvSpPr/>
          <p:nvPr/>
        </p:nvSpPr>
        <p:spPr>
          <a:xfrm>
            <a:off x="841248" y="3108960"/>
            <a:ext cx="3350666" cy="1371600"/>
          </a:xfrm>
          <a:prstGeom prst="roundRect">
            <a:avLst>
              <a:gd name="adj" fmla="val 4000"/>
            </a:avLst>
          </a:prstGeom>
          <a:solidFill>
            <a:srgbClr val="24210F"/>
          </a:solidFill>
          <a:ln w="12700">
            <a:solidFill>
              <a:srgbClr val="E8B84B"/>
            </a:solidFill>
            <a:prstDash val="solid"/>
          </a:ln>
        </p:spPr>
      </p:sp>
      <p:sp>
        <p:nvSpPr>
          <p:cNvPr id="10" name="Text 8"/>
          <p:cNvSpPr/>
          <p:nvPr/>
        </p:nvSpPr>
        <p:spPr>
          <a:xfrm>
            <a:off x="1042416"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SCREENS</a:t>
            </a:r>
            <a:endParaRPr lang="en-US" sz="1050" dirty="0"/>
          </a:p>
        </p:txBody>
      </p:sp>
      <p:sp>
        <p:nvSpPr>
          <p:cNvPr id="11" name="Text 9"/>
          <p:cNvSpPr/>
          <p:nvPr/>
        </p:nvSpPr>
        <p:spPr>
          <a:xfrm>
            <a:off x="1042416"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Click it through</a:t>
            </a:r>
            <a:endParaRPr lang="en-US" sz="1700" dirty="0"/>
          </a:p>
        </p:txBody>
      </p:sp>
      <p:sp>
        <p:nvSpPr>
          <p:cNvPr id="12" name="Text 10"/>
          <p:cNvSpPr/>
          <p:nvPr/>
        </p:nvSpPr>
        <p:spPr>
          <a:xfrm>
            <a:off x="1042416"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queues · forms · decisions</a:t>
            </a:r>
            <a:endParaRPr lang="en-US" sz="1000" dirty="0"/>
          </a:p>
        </p:txBody>
      </p:sp>
      <p:sp>
        <p:nvSpPr>
          <p:cNvPr id="13" name="Shape 11"/>
          <p:cNvSpPr/>
          <p:nvPr/>
        </p:nvSpPr>
        <p:spPr>
          <a:xfrm>
            <a:off x="4420514" y="3108960"/>
            <a:ext cx="3350666" cy="1371600"/>
          </a:xfrm>
          <a:prstGeom prst="roundRect">
            <a:avLst>
              <a:gd name="adj" fmla="val 4000"/>
            </a:avLst>
          </a:prstGeom>
          <a:solidFill>
            <a:srgbClr val="16171D"/>
          </a:solidFill>
          <a:ln w="9525">
            <a:solidFill>
              <a:srgbClr val="2C2D34"/>
            </a:solidFill>
            <a:prstDash val="solid"/>
          </a:ln>
        </p:spPr>
      </p:sp>
      <p:sp>
        <p:nvSpPr>
          <p:cNvPr id="14" name="Text 12"/>
          <p:cNvSpPr/>
          <p:nvPr/>
        </p:nvSpPr>
        <p:spPr>
          <a:xfrm>
            <a:off x="4621682"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API</a:t>
            </a:r>
            <a:endParaRPr lang="en-US" sz="1050" dirty="0"/>
          </a:p>
        </p:txBody>
      </p:sp>
      <p:sp>
        <p:nvSpPr>
          <p:cNvPr id="15" name="Text 13"/>
          <p:cNvSpPr/>
          <p:nvPr/>
        </p:nvSpPr>
        <p:spPr>
          <a:xfrm>
            <a:off x="4621682"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Drive it headless</a:t>
            </a:r>
            <a:endParaRPr lang="en-US" sz="1700" dirty="0"/>
          </a:p>
        </p:txBody>
      </p:sp>
      <p:sp>
        <p:nvSpPr>
          <p:cNvPr id="16" name="Text 14"/>
          <p:cNvSpPr/>
          <p:nvPr/>
        </p:nvSpPr>
        <p:spPr>
          <a:xfrm>
            <a:off x="4621682"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REST · tokens · work items</a:t>
            </a:r>
            <a:endParaRPr lang="en-US" sz="1000" dirty="0"/>
          </a:p>
        </p:txBody>
      </p:sp>
      <p:sp>
        <p:nvSpPr>
          <p:cNvPr id="17" name="Shape 15"/>
          <p:cNvSpPr/>
          <p:nvPr/>
        </p:nvSpPr>
        <p:spPr>
          <a:xfrm>
            <a:off x="7999781" y="3108960"/>
            <a:ext cx="3350666" cy="1371600"/>
          </a:xfrm>
          <a:prstGeom prst="roundRect">
            <a:avLst>
              <a:gd name="adj" fmla="val 4000"/>
            </a:avLst>
          </a:prstGeom>
          <a:solidFill>
            <a:srgbClr val="16171D"/>
          </a:solidFill>
          <a:ln w="9525">
            <a:solidFill>
              <a:srgbClr val="2C2D34"/>
            </a:solidFill>
            <a:prstDash val="solid"/>
          </a:ln>
        </p:spPr>
      </p:sp>
      <p:sp>
        <p:nvSpPr>
          <p:cNvPr id="18" name="Text 16"/>
          <p:cNvSpPr/>
          <p:nvPr/>
        </p:nvSpPr>
        <p:spPr>
          <a:xfrm>
            <a:off x="8200949"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DOCUMENTS</a:t>
            </a:r>
            <a:endParaRPr lang="en-US" sz="1050" dirty="0"/>
          </a:p>
        </p:txBody>
      </p:sp>
      <p:sp>
        <p:nvSpPr>
          <p:cNvPr id="19" name="Text 17"/>
          <p:cNvSpPr/>
          <p:nvPr/>
        </p:nvSpPr>
        <p:spPr>
          <a:xfrm>
            <a:off x="8200949"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Read the paper</a:t>
            </a:r>
            <a:endParaRPr lang="en-US" sz="1700" dirty="0"/>
          </a:p>
        </p:txBody>
      </p:sp>
      <p:sp>
        <p:nvSpPr>
          <p:cNvPr id="20" name="Text 18"/>
          <p:cNvSpPr/>
          <p:nvPr/>
        </p:nvSpPr>
        <p:spPr>
          <a:xfrm>
            <a:off x="8200949"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PDF · five levels · Arabic</a:t>
            </a:r>
            <a:endParaRPr lang="en-US" sz="1000" dirty="0"/>
          </a:p>
        </p:txBody>
      </p:sp>
      <p:sp>
        <p:nvSpPr>
          <p:cNvPr id="21" name="Shape 19"/>
          <p:cNvSpPr/>
          <p:nvPr/>
        </p:nvSpPr>
        <p:spPr>
          <a:xfrm>
            <a:off x="841248" y="5056632"/>
            <a:ext cx="27432" cy="420624"/>
          </a:xfrm>
          <a:prstGeom prst="rect">
            <a:avLst/>
          </a:prstGeom>
          <a:solidFill>
            <a:srgbClr val="E8B84B"/>
          </a:solidFill>
          <a:ln/>
        </p:spPr>
      </p:sp>
      <p:sp>
        <p:nvSpPr>
          <p:cNvPr id="22" name="Text 20"/>
          <p:cNvSpPr/>
          <p:nvPr/>
        </p:nvSpPr>
        <p:spPr>
          <a:xfrm>
            <a:off x="1042416" y="497433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The scoring is the same either way — the lab does not care whether a human or a robot did the work.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06389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03</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PROBLEM</a:t>
            </a:r>
            <a:endParaRPr lang="en-US" sz="1250" dirty="0"/>
          </a:p>
        </p:txBody>
      </p:sp>
      <p:sp>
        <p:nvSpPr>
          <p:cNvPr id="8" name="Text 6"/>
          <p:cNvSpPr/>
          <p:nvPr/>
        </p:nvSpPr>
        <p:spPr>
          <a:xfrm>
            <a:off x="841248" y="1965960"/>
            <a:ext cx="10509199" cy="1737360"/>
          </a:xfrm>
          <a:prstGeom prst="rect">
            <a:avLst/>
          </a:prstGeom>
          <a:noFill/>
          <a:ln/>
        </p:spPr>
        <p:txBody>
          <a:bodyPr wrap="square" lIns="0" tIns="0" rIns="0" bIns="0" rtlCol="0" anchor="t"/>
          <a:lstStyle/>
          <a:p>
            <a:pPr indent="0" marL="0">
              <a:lnSpc>
                <a:spcPct val="102000"/>
              </a:lnSpc>
              <a:buNone/>
            </a:pPr>
            <a:pPr indent="0" marL="0">
              <a:lnSpc>
                <a:spcPct val="102000"/>
              </a:lnSpc>
              <a:buNone/>
            </a:pPr>
            <a:pPr indent="0" marL="0">
              <a:lnSpc>
                <a:spcPct val="102000"/>
              </a:lnSpc>
              <a:buNone/>
            </a:pPr>
            <a:r>
              <a:rPr lang="en-US" sz="4000" b="1" dirty="0">
                <a:solidFill>
                  <a:srgbClr val="F4F4F2"/>
                </a:solidFill>
                <a:latin typeface="Geist" pitchFamily="34" charset="0"/>
                <a:ea typeface="Geist" pitchFamily="34" charset="-122"/>
                <a:cs typeface="Geist" pitchFamily="34" charset="-120"/>
              </a:rPr>
              <a:t>Clean data teaches you nothing.</a:t>
            </a:r>
            <a:endParaRPr lang="en-US" sz="4000" dirty="0"/>
          </a:p>
        </p:txBody>
      </p:sp>
      <p:sp>
        <p:nvSpPr>
          <p:cNvPr id="9" name="Shape 7"/>
          <p:cNvSpPr/>
          <p:nvPr/>
        </p:nvSpPr>
        <p:spPr>
          <a:xfrm>
            <a:off x="841248" y="3794760"/>
            <a:ext cx="10509199" cy="0"/>
          </a:xfrm>
          <a:prstGeom prst="line">
            <a:avLst/>
          </a:prstGeom>
          <a:noFill/>
          <a:ln w="9525">
            <a:solidFill>
              <a:srgbClr val="2C2D34"/>
            </a:solidFill>
            <a:prstDash val="solid"/>
          </a:ln>
        </p:spPr>
      </p:sp>
      <p:sp>
        <p:nvSpPr>
          <p:cNvPr id="10" name="Text 8"/>
          <p:cNvSpPr/>
          <p:nvPr/>
        </p:nvSpPr>
        <p:spPr>
          <a:xfrm>
            <a:off x="841248" y="391363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89534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tutorial invoice has every field where you expect it, spelled the way you expect.</a:t>
            </a:r>
            <a:endParaRPr lang="en-US" sz="1550" dirty="0"/>
          </a:p>
        </p:txBody>
      </p:sp>
      <p:sp>
        <p:nvSpPr>
          <p:cNvPr id="12" name="Shape 10"/>
          <p:cNvSpPr/>
          <p:nvPr/>
        </p:nvSpPr>
        <p:spPr>
          <a:xfrm>
            <a:off x="841248" y="4416552"/>
            <a:ext cx="10509199" cy="0"/>
          </a:xfrm>
          <a:prstGeom prst="line">
            <a:avLst/>
          </a:prstGeom>
          <a:noFill/>
          <a:ln w="9525">
            <a:solidFill>
              <a:srgbClr val="2C2D34"/>
            </a:solidFill>
            <a:prstDash val="solid"/>
          </a:ln>
        </p:spPr>
      </p:sp>
      <p:sp>
        <p:nvSpPr>
          <p:cNvPr id="13" name="Text 11"/>
          <p:cNvSpPr/>
          <p:nvPr/>
        </p:nvSpPr>
        <p:spPr>
          <a:xfrm>
            <a:off x="841248" y="453542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4517136"/>
            <a:ext cx="9795967" cy="566928"/>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Production has a </a:t>
            </a:r>
            <a:r>
              <a:rPr lang="en-US" sz="1550" dirty="0" b="1">
                <a:solidFill>
                  <a:srgbClr val="F4F4F2"/>
                </a:solidFill>
                <a:latin typeface="Geist" pitchFamily="34" charset="0"/>
                <a:ea typeface="Geist" pitchFamily="34" charset="-122"/>
                <a:cs typeface="Geist" pitchFamily="34" charset="-120"/>
              </a:rPr>
              <a:t>photograph of a creased page</a:t>
            </a:r>
            <a:r>
              <a:rPr lang="en-US" sz="1550" dirty="0" b="0">
                <a:solidFill>
                  <a:srgbClr val="9B9EA6"/>
                </a:solidFill>
                <a:latin typeface="Geist" pitchFamily="34" charset="0"/>
                <a:ea typeface="Geist" pitchFamily="34" charset="-122"/>
                <a:cs typeface="Geist" pitchFamily="34" charset="-120"/>
              </a:rPr>
              <a:t>, in Arabic, with the total handwritten.</a:t>
            </a:r>
            <a:endParaRPr lang="en-US" sz="1550" dirty="0"/>
          </a:p>
        </p:txBody>
      </p:sp>
      <p:sp>
        <p:nvSpPr>
          <p:cNvPr id="15" name="Shape 13"/>
          <p:cNvSpPr/>
          <p:nvPr/>
        </p:nvSpPr>
        <p:spPr>
          <a:xfrm>
            <a:off x="841248" y="5038344"/>
            <a:ext cx="10509199" cy="0"/>
          </a:xfrm>
          <a:prstGeom prst="line">
            <a:avLst/>
          </a:prstGeom>
          <a:noFill/>
          <a:ln w="9525">
            <a:solidFill>
              <a:srgbClr val="2C2D34"/>
            </a:solidFill>
            <a:prstDash val="solid"/>
          </a:ln>
        </p:spPr>
      </p:sp>
      <p:sp>
        <p:nvSpPr>
          <p:cNvPr id="16" name="Text 14"/>
          <p:cNvSpPr/>
          <p:nvPr/>
        </p:nvSpPr>
        <p:spPr>
          <a:xfrm>
            <a:off x="841248" y="515721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513892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bot that only ever met the first one fails on its first real day.</a:t>
            </a:r>
            <a:endParaRPr lang="en-US" sz="1550" dirty="0"/>
          </a:p>
        </p:txBody>
      </p:sp>
      <p:sp>
        <p:nvSpPr>
          <p:cNvPr id="18" name="Shape 16"/>
          <p:cNvSpPr/>
          <p:nvPr/>
        </p:nvSpPr>
        <p:spPr>
          <a:xfrm>
            <a:off x="841248" y="5660136"/>
            <a:ext cx="10509199" cy="0"/>
          </a:xfrm>
          <a:prstGeom prst="line">
            <a:avLst/>
          </a:prstGeom>
          <a:noFill/>
          <a:ln w="9525">
            <a:solidFill>
              <a:srgbClr val="2C2D3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74121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PAPER TRAIL</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000" b="1" dirty="0">
                <a:solidFill>
                  <a:srgbClr val="F4F4F2"/>
                </a:solidFill>
                <a:latin typeface="Geist" pitchFamily="34" charset="0"/>
                <a:ea typeface="Geist" pitchFamily="34" charset="-122"/>
                <a:cs typeface="Geist" pitchFamily="34" charset="-120"/>
              </a:rPr>
              <a:t>Every document points at another one.</a:t>
            </a:r>
            <a:endParaRPr lang="en-US" sz="30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Request for quotation</a:t>
            </a:r>
            <a:r>
              <a:rPr lang="en-US" sz="1550" dirty="0" b="0">
                <a:solidFill>
                  <a:srgbClr val="9B9EA6"/>
                </a:solidFill>
                <a:latin typeface="Geist" pitchFamily="34" charset="0"/>
                <a:ea typeface="Geist" pitchFamily="34" charset="-122"/>
                <a:cs typeface="Geist" pitchFamily="34" charset="-120"/>
              </a:rPr>
              <a:t xml:space="preserve"> — you ask several suppliers, they answer with prices that expire.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Purchase order</a:t>
            </a:r>
            <a:r>
              <a:rPr lang="en-US" sz="1550" dirty="0" b="0">
                <a:solidFill>
                  <a:srgbClr val="9B9EA6"/>
                </a:solidFill>
                <a:latin typeface="Geist" pitchFamily="34" charset="0"/>
                <a:ea typeface="Geist" pitchFamily="34" charset="-122"/>
                <a:cs typeface="Geist" pitchFamily="34" charset="-120"/>
              </a:rPr>
              <a:t xml:space="preserve"> — you award one; everything later is measured against it.</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Delivery note, goods receipt</a:t>
            </a:r>
            <a:r>
              <a:rPr lang="en-US" sz="1550" dirty="0" b="0">
                <a:solidFill>
                  <a:srgbClr val="9B9EA6"/>
                </a:solidFill>
                <a:latin typeface="Geist" pitchFamily="34" charset="0"/>
                <a:ea typeface="Geist" pitchFamily="34" charset="-122"/>
                <a:cs typeface="Geist" pitchFamily="34" charset="-120"/>
              </a:rPr>
              <a:t xml:space="preserve"> — what arrived, and what you admit arrived.</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payment</a:t>
            </a:r>
            <a:r>
              <a:rPr lang="en-US" sz="1550" dirty="0" b="0">
                <a:solidFill>
                  <a:srgbClr val="9B9EA6"/>
                </a:solidFill>
                <a:latin typeface="Geist" pitchFamily="34" charset="0"/>
                <a:ea typeface="Geist" pitchFamily="34" charset="-122"/>
                <a:cs typeface="Geist" pitchFamily="34" charset="-120"/>
              </a:rPr>
              <a:t xml:space="preserve"> — the supplier's claim, matched three ways before a riyal moves.</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09584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09</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FOUR SCENARIOS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Pick the one that worries you.</a:t>
            </a:r>
            <a:endParaRPr lang="en-US" sz="32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processing</a:t>
            </a:r>
            <a:r>
              <a:rPr lang="en-US" sz="1550" dirty="0" b="0">
                <a:solidFill>
                  <a:srgbClr val="9B9EA6"/>
                </a:solidFill>
                <a:latin typeface="Geist" pitchFamily="34" charset="0"/>
                <a:ea typeface="Geist" pitchFamily="34" charset="-122"/>
                <a:cs typeface="Geist" pitchFamily="34" charset="-120"/>
              </a:rPr>
              <a:t xml:space="preserve"> — 12 invoices. Read, match against order and receipt, decide.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Supplier onboarding</a:t>
            </a:r>
            <a:r>
              <a:rPr lang="en-US" sz="1550" dirty="0" b="0">
                <a:solidFill>
                  <a:srgbClr val="9B9EA6"/>
                </a:solidFill>
                <a:latin typeface="Geist" pitchFamily="34" charset="0"/>
                <a:ea typeface="Geist" pitchFamily="34" charset="-122"/>
                <a:cs typeface="Geist" pitchFamily="34" charset="-120"/>
              </a:rPr>
              <a:t xml:space="preserve"> — 10 applications. Check the licence and tax card, then decide.</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Goods receipt</a:t>
            </a:r>
            <a:r>
              <a:rPr lang="en-US" sz="1550" dirty="0" b="0">
                <a:solidFill>
                  <a:srgbClr val="9B9EA6"/>
                </a:solidFill>
                <a:latin typeface="Geist" pitchFamily="34" charset="0"/>
                <a:ea typeface="Geist" pitchFamily="34" charset="-122"/>
                <a:cs typeface="Geist" pitchFamily="34" charset="-120"/>
              </a:rPr>
              <a:t xml:space="preserve"> — 8 deliveries. Post what arrived; refuse what should not be.</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Award the quotation</a:t>
            </a:r>
            <a:r>
              <a:rPr lang="en-US" sz="1550" dirty="0" b="0">
                <a:solidFill>
                  <a:srgbClr val="9B9EA6"/>
                </a:solidFill>
                <a:latin typeface="Geist" pitchFamily="34" charset="0"/>
                <a:ea typeface="Geist" pitchFamily="34" charset="-122"/>
                <a:cs typeface="Geist" pitchFamily="34" charset="-120"/>
              </a:rPr>
              <a:t xml:space="preserve"> — 6 requests. Compare, award the right one, raise the order.</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127797"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06</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JUDGMENT</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What the score measures — and what it doesn't.</a:t>
            </a:r>
            <a:endParaRPr lang="en-US" sz="2900" dirty="0"/>
          </a:p>
        </p:txBody>
      </p:sp>
      <p:sp>
        <p:nvSpPr>
          <p:cNvPr id="9" name="Shape 7"/>
          <p:cNvSpPr/>
          <p:nvPr/>
        </p:nvSpPr>
        <p:spPr>
          <a:xfrm>
            <a:off x="841248" y="2971800"/>
            <a:ext cx="10509199" cy="0"/>
          </a:xfrm>
          <a:prstGeom prst="line">
            <a:avLst/>
          </a:prstGeom>
          <a:noFill/>
          <a:ln w="9525">
            <a:solidFill>
              <a:srgbClr val="2C2D34"/>
            </a:solidFill>
            <a:prstDash val="solid"/>
          </a:ln>
        </p:spPr>
      </p:sp>
      <p:sp>
        <p:nvSpPr>
          <p:cNvPr id="10" name="Text 8"/>
          <p:cNvSpPr/>
          <p:nvPr/>
        </p:nvSpPr>
        <p:spPr>
          <a:xfrm>
            <a:off x="841248" y="3090672"/>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072384"/>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Whether your bot read the page correctly and then did the right thing about it.</a:t>
            </a:r>
            <a:endParaRPr lang="en-US" sz="1550" dirty="0"/>
          </a:p>
        </p:txBody>
      </p:sp>
      <p:sp>
        <p:nvSpPr>
          <p:cNvPr id="12" name="Shape 10"/>
          <p:cNvSpPr/>
          <p:nvPr/>
        </p:nvSpPr>
        <p:spPr>
          <a:xfrm>
            <a:off x="841248" y="3630168"/>
            <a:ext cx="10509199" cy="0"/>
          </a:xfrm>
          <a:prstGeom prst="line">
            <a:avLst/>
          </a:prstGeom>
          <a:noFill/>
          <a:ln w="9525">
            <a:solidFill>
              <a:srgbClr val="2C2D34"/>
            </a:solidFill>
            <a:prstDash val="solid"/>
          </a:ln>
        </p:spPr>
      </p:sp>
      <p:sp>
        <p:nvSpPr>
          <p:cNvPr id="13" name="Text 11"/>
          <p:cNvSpPr/>
          <p:nvPr/>
        </p:nvSpPr>
        <p:spPr>
          <a:xfrm>
            <a:off x="841248" y="3749040"/>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30752"/>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clever the code is. Share it freely — the lab scores the work, not the author.</a:t>
            </a:r>
            <a:endParaRPr lang="en-US" sz="1550" dirty="0"/>
          </a:p>
        </p:txBody>
      </p:sp>
      <p:sp>
        <p:nvSpPr>
          <p:cNvPr id="15" name="Shape 13"/>
          <p:cNvSpPr/>
          <p:nvPr/>
        </p:nvSpPr>
        <p:spPr>
          <a:xfrm>
            <a:off x="841248" y="4288536"/>
            <a:ext cx="10509199" cy="0"/>
          </a:xfrm>
          <a:prstGeom prst="line">
            <a:avLst/>
          </a:prstGeom>
          <a:noFill/>
          <a:ln w="9525">
            <a:solidFill>
              <a:srgbClr val="2C2D34"/>
            </a:solidFill>
            <a:prstDash val="solid"/>
          </a:ln>
        </p:spPr>
      </p:sp>
      <p:sp>
        <p:nvSpPr>
          <p:cNvPr id="16" name="Text 14"/>
          <p:cNvSpPr/>
          <p:nvPr/>
        </p:nvSpPr>
        <p:spPr>
          <a:xfrm>
            <a:off x="841248" y="4407408"/>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89120"/>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fast you type. Time is five points in a hundred — the smallest of the five, on purpose.</a:t>
            </a:r>
            <a:endParaRPr lang="en-US" sz="1550" dirty="0"/>
          </a:p>
        </p:txBody>
      </p:sp>
      <p:sp>
        <p:nvSpPr>
          <p:cNvPr id="18" name="Shape 16"/>
          <p:cNvSpPr/>
          <p:nvPr/>
        </p:nvSpPr>
        <p:spPr>
          <a:xfrm>
            <a:off x="841248" y="4946904"/>
            <a:ext cx="10509199" cy="0"/>
          </a:xfrm>
          <a:prstGeom prst="line">
            <a:avLst/>
          </a:prstGeom>
          <a:noFill/>
          <a:ln w="9525">
            <a:solidFill>
              <a:srgbClr val="2C2D34"/>
            </a:solidFill>
            <a:prstDash val="solid"/>
          </a:ln>
        </p:spPr>
      </p:sp>
      <p:sp>
        <p:nvSpPr>
          <p:cNvPr id="19" name="Shape 17"/>
          <p:cNvSpPr/>
          <p:nvPr/>
        </p:nvSpPr>
        <p:spPr>
          <a:xfrm>
            <a:off x="841248" y="5788152"/>
            <a:ext cx="27432" cy="420624"/>
          </a:xfrm>
          <a:prstGeom prst="rect">
            <a:avLst/>
          </a:prstGeom>
          <a:solidFill>
            <a:srgbClr val="E8B84B"/>
          </a:solidFill>
          <a:ln/>
        </p:spPr>
      </p:sp>
      <p:sp>
        <p:nvSpPr>
          <p:cNvPr id="20" name="Text 18"/>
          <p:cNvSpPr/>
          <p:nvPr/>
        </p:nvSpPr>
        <p:spPr>
          <a:xfrm>
            <a:off x="1042416" y="570585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Copy any code you like. You still have to read the page.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80511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Shape 5"/>
          <p:cNvSpPr/>
          <p:nvPr/>
        </p:nvSpPr>
        <p:spPr>
          <a:xfrm>
            <a:off x="841248" y="1444752"/>
            <a:ext cx="146304" cy="146304"/>
          </a:xfrm>
          <a:prstGeom prst="ellipse">
            <a:avLst/>
          </a:prstGeom>
          <a:solidFill>
            <a:srgbClr val="4ADE80"/>
          </a:solidFill>
          <a:ln/>
        </p:spPr>
      </p:sp>
      <p:sp>
        <p:nvSpPr>
          <p:cNvPr id="8" name="Text 6"/>
          <p:cNvSpPr/>
          <p:nvPr/>
        </p:nvSpPr>
        <p:spPr>
          <a:xfrm>
            <a:off x="1097280" y="1371600"/>
            <a:ext cx="10509199" cy="310896"/>
          </a:xfrm>
          <a:prstGeom prst="rect">
            <a:avLst/>
          </a:prstGeom>
          <a:noFill/>
          <a:ln/>
        </p:spPr>
        <p:txBody>
          <a:bodyPr wrap="square" lIns="0" tIns="0" rIns="0" bIns="0" rtlCol="0" anchor="ctr"/>
          <a:lstStyle/>
          <a:p>
            <a:pPr indent="0" marL="0">
              <a:buNone/>
            </a:pPr>
            <a:r>
              <a:rPr lang="en-US" sz="1200" spc="200" kern="0" dirty="0" b="0">
                <a:solidFill>
                  <a:srgbClr val="E8B84B"/>
                </a:solidFill>
                <a:latin typeface="Geist Mono" pitchFamily="34" charset="0"/>
                <a:ea typeface="Geist Mono" pitchFamily="34" charset="-122"/>
                <a:cs typeface="Geist Mono" pitchFamily="34" charset="-120"/>
              </a:rPr>
              <a:t>LIVE · TOGETHER</a:t>
            </a:r>
            <a:endParaRPr lang="en-US" sz="1200" dirty="0"/>
          </a:p>
        </p:txBody>
      </p:sp>
      <p:sp>
        <p:nvSpPr>
          <p:cNvPr id="9" name="Text 7"/>
          <p:cNvSpPr/>
          <p:nvPr/>
        </p:nvSpPr>
        <p:spPr>
          <a:xfrm>
            <a:off x="841248" y="1828800"/>
            <a:ext cx="10509199" cy="822960"/>
          </a:xfrm>
          <a:prstGeom prst="rect">
            <a:avLst/>
          </a:prstGeom>
          <a:noFill/>
          <a:ln/>
        </p:spPr>
        <p:txBody>
          <a:bodyPr wrap="square" lIns="0" tIns="0" rIns="0" bIns="0" rtlCol="0" anchor="t"/>
          <a:lstStyle/>
          <a:p>
            <a:pPr indent="0" marL="0">
              <a:buNone/>
            </a:pPr>
            <a:pPr indent="0" marL="0">
              <a:buNone/>
            </a:pPr>
            <a:r>
              <a:rPr lang="en-US" sz="4000" b="1" dirty="0">
                <a:solidFill>
                  <a:srgbClr val="F4F4F2"/>
                </a:solidFill>
                <a:latin typeface="Geist" pitchFamily="34" charset="0"/>
                <a:ea typeface="Geist" pitchFamily="34" charset="-122"/>
                <a:cs typeface="Geist" pitchFamily="34" charset="-120"/>
              </a:rPr>
              <a:t>What we'll do right now.</a:t>
            </a:r>
            <a:endParaRPr lang="en-US" sz="4000" dirty="0"/>
          </a:p>
        </p:txBody>
      </p:sp>
      <p:sp>
        <p:nvSpPr>
          <p:cNvPr id="10" name="Shape 8"/>
          <p:cNvSpPr/>
          <p:nvPr/>
        </p:nvSpPr>
        <p:spPr>
          <a:xfrm>
            <a:off x="841248" y="2880360"/>
            <a:ext cx="10509199" cy="0"/>
          </a:xfrm>
          <a:prstGeom prst="line">
            <a:avLst/>
          </a:prstGeom>
          <a:noFill/>
          <a:ln w="9525">
            <a:solidFill>
              <a:srgbClr val="2C2D34"/>
            </a:solidFill>
            <a:prstDash val="solid"/>
          </a:ln>
        </p:spPr>
      </p:sp>
      <p:sp>
        <p:nvSpPr>
          <p:cNvPr id="11" name="Text 9"/>
          <p:cNvSpPr/>
          <p:nvPr/>
        </p:nvSpPr>
        <p:spPr>
          <a:xfrm>
            <a:off x="841248" y="299923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①</a:t>
            </a:r>
            <a:endParaRPr lang="en-US" sz="1250" dirty="0"/>
          </a:p>
        </p:txBody>
      </p:sp>
      <p:sp>
        <p:nvSpPr>
          <p:cNvPr id="12" name="Text 10"/>
          <p:cNvSpPr/>
          <p:nvPr/>
        </p:nvSpPr>
        <p:spPr>
          <a:xfrm>
            <a:off x="1554480" y="298094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Sign up. Your workspace opens immediately — there is nothing to provision.</a:t>
            </a:r>
            <a:endParaRPr lang="en-US" sz="1550" dirty="0"/>
          </a:p>
        </p:txBody>
      </p:sp>
      <p:sp>
        <p:nvSpPr>
          <p:cNvPr id="13" name="Shape 11"/>
          <p:cNvSpPr/>
          <p:nvPr/>
        </p:nvSpPr>
        <p:spPr>
          <a:xfrm>
            <a:off x="841248" y="3520440"/>
            <a:ext cx="10509199" cy="0"/>
          </a:xfrm>
          <a:prstGeom prst="line">
            <a:avLst/>
          </a:prstGeom>
          <a:noFill/>
          <a:ln w="9525">
            <a:solidFill>
              <a:srgbClr val="2C2D34"/>
            </a:solidFill>
            <a:prstDash val="solid"/>
          </a:ln>
        </p:spPr>
      </p:sp>
      <p:sp>
        <p:nvSpPr>
          <p:cNvPr id="14" name="Text 12"/>
          <p:cNvSpPr/>
          <p:nvPr/>
        </p:nvSpPr>
        <p:spPr>
          <a:xfrm>
            <a:off x="841248" y="363931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②</a:t>
            </a:r>
            <a:endParaRPr lang="en-US" sz="1250" dirty="0"/>
          </a:p>
        </p:txBody>
      </p:sp>
      <p:sp>
        <p:nvSpPr>
          <p:cNvPr id="15" name="Text 13"/>
          <p:cNvSpPr/>
          <p:nvPr/>
        </p:nvSpPr>
        <p:spPr>
          <a:xfrm>
            <a:off x="1554480" y="362102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Open a practice run on goods receipt — one delivery, with the match result showing.</a:t>
            </a:r>
            <a:endParaRPr lang="en-US" sz="1550" dirty="0"/>
          </a:p>
        </p:txBody>
      </p:sp>
      <p:sp>
        <p:nvSpPr>
          <p:cNvPr id="16" name="Shape 14"/>
          <p:cNvSpPr/>
          <p:nvPr/>
        </p:nvSpPr>
        <p:spPr>
          <a:xfrm>
            <a:off x="841248" y="4160520"/>
            <a:ext cx="10509199" cy="0"/>
          </a:xfrm>
          <a:prstGeom prst="line">
            <a:avLst/>
          </a:prstGeom>
          <a:noFill/>
          <a:ln w="9525">
            <a:solidFill>
              <a:srgbClr val="2C2D34"/>
            </a:solidFill>
            <a:prstDash val="solid"/>
          </a:ln>
        </p:spPr>
      </p:sp>
      <p:sp>
        <p:nvSpPr>
          <p:cNvPr id="17" name="Text 15"/>
          <p:cNvSpPr/>
          <p:nvPr/>
        </p:nvSpPr>
        <p:spPr>
          <a:xfrm>
            <a:off x="841248" y="427939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③</a:t>
            </a:r>
            <a:endParaRPr lang="en-US" sz="1250" dirty="0"/>
          </a:p>
        </p:txBody>
      </p:sp>
      <p:sp>
        <p:nvSpPr>
          <p:cNvPr id="18" name="Text 16"/>
          <p:cNvSpPr/>
          <p:nvPr/>
        </p:nvSpPr>
        <p:spPr>
          <a:xfrm>
            <a:off x="1554480" y="426110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Mint an API token and post the same receipt again with a single HTTP call.</a:t>
            </a:r>
            <a:endParaRPr lang="en-US" sz="1550" dirty="0"/>
          </a:p>
        </p:txBody>
      </p:sp>
      <p:sp>
        <p:nvSpPr>
          <p:cNvPr id="19" name="Shape 17"/>
          <p:cNvSpPr/>
          <p:nvPr/>
        </p:nvSpPr>
        <p:spPr>
          <a:xfrm>
            <a:off x="841248" y="4800600"/>
            <a:ext cx="10509199" cy="0"/>
          </a:xfrm>
          <a:prstGeom prst="line">
            <a:avLst/>
          </a:prstGeom>
          <a:noFill/>
          <a:ln w="9525">
            <a:solidFill>
              <a:srgbClr val="2C2D34"/>
            </a:solidFill>
            <a:prstDash val="solid"/>
          </a:ln>
        </p:spPr>
      </p:sp>
      <p:sp>
        <p:nvSpPr>
          <p:cNvPr id="20" name="Text 18"/>
          <p:cNvSpPr/>
          <p:nvPr/>
        </p:nvSpPr>
        <p:spPr>
          <a:xfrm>
            <a:off x="841248" y="491947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④</a:t>
            </a:r>
            <a:endParaRPr lang="en-US" sz="1250" dirty="0"/>
          </a:p>
        </p:txBody>
      </p:sp>
      <p:sp>
        <p:nvSpPr>
          <p:cNvPr id="21" name="Text 19"/>
          <p:cNvSpPr/>
          <p:nvPr/>
        </p:nvSpPr>
        <p:spPr>
          <a:xfrm>
            <a:off x="1554480" y="490118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Refuse an over-delivery on purpose, and watch the lab agree with you.</a:t>
            </a:r>
            <a:endParaRPr lang="en-US" sz="1550" dirty="0"/>
          </a:p>
        </p:txBody>
      </p:sp>
      <p:sp>
        <p:nvSpPr>
          <p:cNvPr id="22" name="Shape 20"/>
          <p:cNvSpPr/>
          <p:nvPr/>
        </p:nvSpPr>
        <p:spPr>
          <a:xfrm>
            <a:off x="841248" y="5440680"/>
            <a:ext cx="10509199" cy="0"/>
          </a:xfrm>
          <a:prstGeom prst="line">
            <a:avLst/>
          </a:prstGeom>
          <a:noFill/>
          <a:ln w="9525">
            <a:solidFill>
              <a:srgbClr val="2C2D34"/>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48242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YOUR TASK</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Earn a certificate.</a:t>
            </a:r>
            <a:endParaRPr lang="en-US" sz="3200" dirty="0"/>
          </a:p>
        </p:txBody>
      </p:sp>
      <p:sp>
        <p:nvSpPr>
          <p:cNvPr id="9" name="Shape 7"/>
          <p:cNvSpPr/>
          <p:nvPr/>
        </p:nvSpPr>
        <p:spPr>
          <a:xfrm>
            <a:off x="841248" y="2743200"/>
            <a:ext cx="5163160" cy="3017520"/>
          </a:xfrm>
          <a:prstGeom prst="roundRect">
            <a:avLst>
              <a:gd name="adj" fmla="val 1515"/>
            </a:avLst>
          </a:prstGeom>
          <a:solidFill>
            <a:srgbClr val="16171D"/>
          </a:solidFill>
          <a:ln w="9525">
            <a:solidFill>
              <a:srgbClr val="2C2D34"/>
            </a:solidFill>
            <a:prstDash val="solid"/>
          </a:ln>
        </p:spPr>
      </p:sp>
      <p:sp>
        <p:nvSpPr>
          <p:cNvPr id="10" name="Text 8"/>
          <p:cNvSpPr/>
          <p:nvPr/>
        </p:nvSpPr>
        <p:spPr>
          <a:xfrm>
            <a:off x="1152144" y="2999232"/>
            <a:ext cx="4614520" cy="274320"/>
          </a:xfrm>
          <a:prstGeom prst="rect">
            <a:avLst/>
          </a:prstGeom>
          <a:noFill/>
          <a:ln/>
        </p:spPr>
        <p:txBody>
          <a:bodyPr wrap="square" lIns="0" tIns="0" rIns="0" bIns="0" rtlCol="0" anchor="ctr"/>
          <a:lstStyle/>
          <a:p>
            <a:pPr indent="0" marL="0">
              <a:buNone/>
            </a:pPr>
            <a:r>
              <a:rPr lang="en-US" sz="1100" spc="200" kern="0" dirty="0" b="0">
                <a:solidFill>
                  <a:srgbClr val="E8B84B"/>
                </a:solidFill>
                <a:latin typeface="Geist Mono" pitchFamily="34" charset="0"/>
                <a:ea typeface="Geist Mono" pitchFamily="34" charset="-122"/>
                <a:cs typeface="Geist Mono" pitchFamily="34" charset="-120"/>
              </a:rPr>
              <a:t>DO</a:t>
            </a:r>
            <a:endParaRPr lang="en-US" sz="1100" dirty="0"/>
          </a:p>
        </p:txBody>
      </p:sp>
      <p:sp>
        <p:nvSpPr>
          <p:cNvPr id="11" name="Text 9"/>
          <p:cNvSpPr/>
          <p:nvPr/>
        </p:nvSpPr>
        <p:spPr>
          <a:xfrm>
            <a:off x="1152144" y="3346704"/>
            <a:ext cx="4596232" cy="2194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Practise invoice processing until the match result holds no surprises.</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Move to level 3 and practise again — the reading is the hard part.</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Take one scored run. Finish it, whatever the number says.</a:t>
            </a:r>
            <a:endParaRPr lang="en-US" sz="1350" dirty="0"/>
          </a:p>
          <a:p>
            <a:pPr marL="342900" indent="-342900">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Read the breakdown and write down which parameter cost you most.</a:t>
            </a:r>
            <a:endParaRPr lang="en-US" sz="1350" dirty="0"/>
          </a:p>
        </p:txBody>
      </p:sp>
      <p:sp>
        <p:nvSpPr>
          <p:cNvPr id="12" name="Shape 10"/>
          <p:cNvSpPr/>
          <p:nvPr/>
        </p:nvSpPr>
        <p:spPr>
          <a:xfrm>
            <a:off x="6187288" y="2743200"/>
            <a:ext cx="5163160" cy="3017520"/>
          </a:xfrm>
          <a:prstGeom prst="roundRect">
            <a:avLst>
              <a:gd name="adj" fmla="val 1515"/>
            </a:avLst>
          </a:prstGeom>
          <a:solidFill>
            <a:srgbClr val="1C1D24"/>
          </a:solidFill>
          <a:ln w="9525">
            <a:solidFill>
              <a:srgbClr val="2C2D34"/>
            </a:solidFill>
            <a:prstDash val="solid"/>
          </a:ln>
        </p:spPr>
      </p:sp>
      <p:sp>
        <p:nvSpPr>
          <p:cNvPr id="13" name="Text 11"/>
          <p:cNvSpPr/>
          <p:nvPr/>
        </p:nvSpPr>
        <p:spPr>
          <a:xfrm>
            <a:off x="6498184" y="2999232"/>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DELIVER — BEFORE THE NEXT SESSION</a:t>
            </a:r>
            <a:endParaRPr lang="en-US" sz="1100" dirty="0"/>
          </a:p>
        </p:txBody>
      </p:sp>
      <p:sp>
        <p:nvSpPr>
          <p:cNvPr id="14" name="Text 12"/>
          <p:cNvSpPr/>
          <p:nvPr/>
        </p:nvSpPr>
        <p:spPr>
          <a:xfrm>
            <a:off x="6498184" y="3346704"/>
            <a:ext cx="4596232" cy="2194560"/>
          </a:xfrm>
          <a:prstGeom prst="rect">
            <a:avLst/>
          </a:prstGeom>
          <a:noFill/>
          <a:ln/>
        </p:spPr>
        <p:txBody>
          <a:bodyPr wrap="square" lIns="0" tIns="0" rIns="0" bIns="0" rtlCol="0" anchor="t"/>
          <a:lstStyle/>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Your certificate code, or your score if you did not pass.</a:t>
            </a:r>
            <a:endParaRPr lang="en-US" sz="1350" dirty="0"/>
          </a:p>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The parameter that cost you most, and what you would change.</a:t>
            </a:r>
            <a:endParaRPr lang="en-US" sz="1350" dirty="0"/>
          </a:p>
          <a:p>
            <a:pPr marL="342900" indent="-342900">
              <a:buSzPct val="100000"/>
              <a:buChar char="›"/>
            </a:pPr>
            <a:r>
              <a:rPr lang="en-US" sz="1350" dirty="0" b="0">
                <a:solidFill>
                  <a:srgbClr val="9B9EA6"/>
                </a:solidFill>
                <a:latin typeface="Geist" pitchFamily="34" charset="0"/>
                <a:ea typeface="Geist" pitchFamily="34" charset="-122"/>
                <a:cs typeface="Geist" pitchFamily="34" charset="-120"/>
              </a:rPr>
              <a:t>One sentence: which of the four scenarios is closest to your day job, and why.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15974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INTERVIEW SEED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700" b="1" dirty="0">
                <a:solidFill>
                  <a:srgbClr val="F4F4F2"/>
                </a:solidFill>
                <a:latin typeface="Geist" pitchFamily="34" charset="0"/>
                <a:ea typeface="Geist" pitchFamily="34" charset="-122"/>
                <a:cs typeface="Geist" pitchFamily="34" charset="-120"/>
              </a:rPr>
              <a:t>If they ask: “Have you automated anything end to end?”</a:t>
            </a:r>
            <a:endParaRPr lang="en-US" sz="27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1</a:t>
            </a:r>
            <a:endParaRPr lang="en-US" sz="1250" dirty="0"/>
          </a:p>
        </p:txBody>
      </p:sp>
      <p:sp>
        <p:nvSpPr>
          <p:cNvPr id="11" name="Text 9"/>
          <p:cNvSpPr/>
          <p:nvPr/>
        </p:nvSpPr>
        <p:spPr>
          <a:xfrm>
            <a:off x="1554480" y="3118104"/>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process</a:t>
            </a:r>
            <a:r>
              <a:rPr lang="en-US" sz="1550" dirty="0" b="0">
                <a:solidFill>
                  <a:srgbClr val="9B9EA6"/>
                </a:solidFill>
                <a:latin typeface="Geist" pitchFamily="34" charset="0"/>
                <a:ea typeface="Geist" pitchFamily="34" charset="-122"/>
                <a:cs typeface="Geist" pitchFamily="34" charset="-120"/>
              </a:rPr>
              <a:t xml:space="preserve"> — not the tool. Three-way match, supplier onboarding, goods receipt.</a:t>
            </a:r>
            <a:endParaRPr lang="en-US" sz="1550" dirty="0"/>
          </a:p>
        </p:txBody>
      </p:sp>
      <p:sp>
        <p:nvSpPr>
          <p:cNvPr id="12" name="Shape 10"/>
          <p:cNvSpPr/>
          <p:nvPr/>
        </p:nvSpPr>
        <p:spPr>
          <a:xfrm>
            <a:off x="841248" y="3621024"/>
            <a:ext cx="10509199" cy="0"/>
          </a:xfrm>
          <a:prstGeom prst="line">
            <a:avLst/>
          </a:prstGeom>
          <a:noFill/>
          <a:ln w="9525">
            <a:solidFill>
              <a:srgbClr val="2C2D34"/>
            </a:solidFill>
            <a:prstDash val="solid"/>
          </a:ln>
        </p:spPr>
      </p:sp>
      <p:sp>
        <p:nvSpPr>
          <p:cNvPr id="13" name="Text 11"/>
          <p:cNvSpPr/>
          <p:nvPr/>
        </p:nvSpPr>
        <p:spPr>
          <a:xfrm>
            <a:off x="841248" y="373989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2</a:t>
            </a:r>
            <a:endParaRPr lang="en-US" sz="1250" dirty="0"/>
          </a:p>
        </p:txBody>
      </p:sp>
      <p:sp>
        <p:nvSpPr>
          <p:cNvPr id="14" name="Text 12"/>
          <p:cNvSpPr/>
          <p:nvPr/>
        </p:nvSpPr>
        <p:spPr>
          <a:xfrm>
            <a:off x="1554480" y="3721608"/>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hard part</a:t>
            </a:r>
            <a:r>
              <a:rPr lang="en-US" sz="1550" dirty="0" b="0">
                <a:solidFill>
                  <a:srgbClr val="9B9EA6"/>
                </a:solidFill>
                <a:latin typeface="Geist" pitchFamily="34" charset="0"/>
                <a:ea typeface="Geist" pitchFamily="34" charset="-122"/>
                <a:cs typeface="Geist" pitchFamily="34" charset="-120"/>
              </a:rPr>
              <a:t xml:space="preserve"> — reading a creased photograph, not clicking a button.</a:t>
            </a:r>
            <a:endParaRPr lang="en-US" sz="1550" dirty="0"/>
          </a:p>
        </p:txBody>
      </p:sp>
      <p:sp>
        <p:nvSpPr>
          <p:cNvPr id="15" name="Shape 13"/>
          <p:cNvSpPr/>
          <p:nvPr/>
        </p:nvSpPr>
        <p:spPr>
          <a:xfrm>
            <a:off x="841248" y="4224528"/>
            <a:ext cx="10509199" cy="0"/>
          </a:xfrm>
          <a:prstGeom prst="line">
            <a:avLst/>
          </a:prstGeom>
          <a:noFill/>
          <a:ln w="9525">
            <a:solidFill>
              <a:srgbClr val="2C2D34"/>
            </a:solidFill>
            <a:prstDash val="solid"/>
          </a:ln>
        </p:spPr>
      </p:sp>
      <p:sp>
        <p:nvSpPr>
          <p:cNvPr id="16" name="Text 14"/>
          <p:cNvSpPr/>
          <p:nvPr/>
        </p:nvSpPr>
        <p:spPr>
          <a:xfrm>
            <a:off x="841248" y="434340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3</a:t>
            </a:r>
            <a:endParaRPr lang="en-US" sz="1250" dirty="0"/>
          </a:p>
        </p:txBody>
      </p:sp>
      <p:sp>
        <p:nvSpPr>
          <p:cNvPr id="17" name="Text 15"/>
          <p:cNvSpPr/>
          <p:nvPr/>
        </p:nvSpPr>
        <p:spPr>
          <a:xfrm>
            <a:off x="1554480" y="4325112"/>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number</a:t>
            </a:r>
            <a:r>
              <a:rPr lang="en-US" sz="1550" dirty="0" b="0">
                <a:solidFill>
                  <a:srgbClr val="9B9EA6"/>
                </a:solidFill>
                <a:latin typeface="Geist" pitchFamily="34" charset="0"/>
                <a:ea typeface="Geist" pitchFamily="34" charset="-122"/>
                <a:cs typeface="Geist" pitchFamily="34" charset="-120"/>
              </a:rPr>
              <a:t xml:space="preserve"> — a score, on a published rubric, that somebody else can verify.</a:t>
            </a:r>
            <a:endParaRPr lang="en-US" sz="1550" dirty="0"/>
          </a:p>
        </p:txBody>
      </p:sp>
      <p:sp>
        <p:nvSpPr>
          <p:cNvPr id="18" name="Shape 16"/>
          <p:cNvSpPr/>
          <p:nvPr/>
        </p:nvSpPr>
        <p:spPr>
          <a:xfrm>
            <a:off x="841248" y="4828032"/>
            <a:ext cx="10509199" cy="0"/>
          </a:xfrm>
          <a:prstGeom prst="line">
            <a:avLst/>
          </a:prstGeom>
          <a:noFill/>
          <a:ln w="9525">
            <a:solidFill>
              <a:srgbClr val="2C2D34"/>
            </a:solidFill>
            <a:prstDash val="solid"/>
          </a:ln>
        </p:spPr>
      </p:sp>
      <p:sp>
        <p:nvSpPr>
          <p:cNvPr id="19" name="Text 17"/>
          <p:cNvSpPr/>
          <p:nvPr/>
        </p:nvSpPr>
        <p:spPr>
          <a:xfrm>
            <a:off x="841248" y="4946904"/>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4</a:t>
            </a:r>
            <a:endParaRPr lang="en-US" sz="1250" dirty="0"/>
          </a:p>
        </p:txBody>
      </p:sp>
      <p:sp>
        <p:nvSpPr>
          <p:cNvPr id="20" name="Text 18"/>
          <p:cNvSpPr/>
          <p:nvPr/>
        </p:nvSpPr>
        <p:spPr>
          <a:xfrm>
            <a:off x="1554480" y="4928616"/>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what you would do next</a:t>
            </a:r>
            <a:r>
              <a:rPr lang="en-US" sz="1550" dirty="0" b="0">
                <a:solidFill>
                  <a:srgbClr val="9B9EA6"/>
                </a:solidFill>
                <a:latin typeface="Geist" pitchFamily="34" charset="0"/>
                <a:ea typeface="Geist" pitchFamily="34" charset="-122"/>
                <a:cs typeface="Geist" pitchFamily="34" charset="-120"/>
              </a:rPr>
              <a:t xml:space="preserve"> — the parameter you lost. That is the interview.</a:t>
            </a:r>
            <a:endParaRPr lang="en-US" sz="1550" dirty="0"/>
          </a:p>
        </p:txBody>
      </p:sp>
      <p:sp>
        <p:nvSpPr>
          <p:cNvPr id="21" name="Shape 19"/>
          <p:cNvSpPr/>
          <p:nvPr/>
        </p:nvSpPr>
        <p:spPr>
          <a:xfrm>
            <a:off x="841248" y="5431536"/>
            <a:ext cx="10509199" cy="0"/>
          </a:xfrm>
          <a:prstGeom prst="line">
            <a:avLst/>
          </a:prstGeom>
          <a:noFill/>
          <a:ln w="9525">
            <a:solidFill>
              <a:srgbClr val="2C2D34"/>
            </a:solidFill>
            <a:prstDash val="solid"/>
          </a:ln>
        </p:spPr>
      </p:sp>
      <p:sp>
        <p:nvSpPr>
          <p:cNvPr id="22" name="Text 2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A CODE THEY CAN CHECK BEATS A SENTENCE THEY CANNOT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83706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RECAP</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A real system, a fixed rubric, a number you can defend.</a:t>
            </a:r>
            <a:endParaRPr lang="en-US" sz="2900" dirty="0"/>
          </a:p>
        </p:txBody>
      </p:sp>
      <p:sp>
        <p:nvSpPr>
          <p:cNvPr id="9" name="Shape 7"/>
          <p:cNvSpPr/>
          <p:nvPr/>
        </p:nvSpPr>
        <p:spPr>
          <a:xfrm>
            <a:off x="841248" y="3063240"/>
            <a:ext cx="10509199" cy="0"/>
          </a:xfrm>
          <a:prstGeom prst="line">
            <a:avLst/>
          </a:prstGeom>
          <a:noFill/>
          <a:ln w="9525">
            <a:solidFill>
              <a:srgbClr val="2C2D34"/>
            </a:solidFill>
            <a:prstDash val="solid"/>
          </a:ln>
        </p:spPr>
      </p:sp>
      <p:sp>
        <p:nvSpPr>
          <p:cNvPr id="10" name="Text 8"/>
          <p:cNvSpPr/>
          <p:nvPr/>
        </p:nvSpPr>
        <p:spPr>
          <a:xfrm>
            <a:off x="841248" y="318211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163824"/>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Why clean tutorial data is the worst possible preparation.</a:t>
            </a:r>
            <a:endParaRPr lang="en-US" sz="1550" dirty="0"/>
          </a:p>
        </p:txBody>
      </p:sp>
      <p:sp>
        <p:nvSpPr>
          <p:cNvPr id="12" name="Shape 10"/>
          <p:cNvSpPr/>
          <p:nvPr/>
        </p:nvSpPr>
        <p:spPr>
          <a:xfrm>
            <a:off x="841248" y="3666744"/>
            <a:ext cx="10509199" cy="0"/>
          </a:xfrm>
          <a:prstGeom prst="line">
            <a:avLst/>
          </a:prstGeom>
          <a:noFill/>
          <a:ln w="9525">
            <a:solidFill>
              <a:srgbClr val="2C2D34"/>
            </a:solidFill>
            <a:prstDash val="solid"/>
          </a:ln>
        </p:spPr>
      </p:sp>
      <p:sp>
        <p:nvSpPr>
          <p:cNvPr id="13" name="Text 11"/>
          <p:cNvSpPr/>
          <p:nvPr/>
        </p:nvSpPr>
        <p:spPr>
          <a:xfrm>
            <a:off x="841248" y="378561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67328"/>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Five levels of the same page, and where your reader breaks.</a:t>
            </a:r>
            <a:endParaRPr lang="en-US" sz="1550" dirty="0"/>
          </a:p>
        </p:txBody>
      </p:sp>
      <p:sp>
        <p:nvSpPr>
          <p:cNvPr id="15" name="Shape 13"/>
          <p:cNvSpPr/>
          <p:nvPr/>
        </p:nvSpPr>
        <p:spPr>
          <a:xfrm>
            <a:off x="841248" y="4270248"/>
            <a:ext cx="10509199" cy="0"/>
          </a:xfrm>
          <a:prstGeom prst="line">
            <a:avLst/>
          </a:prstGeom>
          <a:noFill/>
          <a:ln w="9525">
            <a:solidFill>
              <a:srgbClr val="2C2D34"/>
            </a:solidFill>
            <a:prstDash val="solid"/>
          </a:ln>
        </p:spPr>
      </p:sp>
      <p:sp>
        <p:nvSpPr>
          <p:cNvPr id="16" name="Text 14"/>
          <p:cNvSpPr/>
          <p:nvPr/>
        </p:nvSpPr>
        <p:spPr>
          <a:xfrm>
            <a:off x="841248" y="438912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70832"/>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A scored run, a breakdown, and a certificate with a public code.</a:t>
            </a:r>
            <a:endParaRPr lang="en-US" sz="1550" dirty="0"/>
          </a:p>
        </p:txBody>
      </p:sp>
      <p:sp>
        <p:nvSpPr>
          <p:cNvPr id="18" name="Shape 16"/>
          <p:cNvSpPr/>
          <p:nvPr/>
        </p:nvSpPr>
        <p:spPr>
          <a:xfrm>
            <a:off x="841248" y="4873752"/>
            <a:ext cx="10509199" cy="0"/>
          </a:xfrm>
          <a:prstGeom prst="line">
            <a:avLst/>
          </a:prstGeom>
          <a:noFill/>
          <a:ln w="9525">
            <a:solidFill>
              <a:srgbClr val="2C2D34"/>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151437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WHAT'S MISSING</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400" b="1" dirty="0">
                <a:solidFill>
                  <a:srgbClr val="F4F4F2"/>
                </a:solidFill>
                <a:latin typeface="Geist" pitchFamily="34" charset="0"/>
                <a:ea typeface="Geist" pitchFamily="34" charset="-122"/>
                <a:cs typeface="Geist" pitchFamily="34" charset="-120"/>
              </a:rPr>
              <a:t>It scores you. It doesn't teach you.</a:t>
            </a:r>
            <a:endParaRPr lang="en-US" sz="3400" dirty="0"/>
          </a:p>
        </p:txBody>
      </p:sp>
      <p:sp>
        <p:nvSpPr>
          <p:cNvPr id="9" name="Text 7"/>
          <p:cNvSpPr/>
          <p:nvPr/>
        </p:nvSpPr>
        <p:spPr>
          <a:xfrm>
            <a:off x="841248" y="2926080"/>
            <a:ext cx="9875520" cy="1280160"/>
          </a:xfrm>
          <a:prstGeom prst="rect">
            <a:avLst/>
          </a:prstGeom>
          <a:noFill/>
          <a:ln/>
        </p:spPr>
        <p:txBody>
          <a:bodyPr wrap="square" lIns="0" tIns="0" rIns="0" bIns="0" rtlCol="0" anchor="t"/>
          <a:lstStyle/>
          <a:p>
            <a:pPr indent="0" marL="0">
              <a:lnSpc>
                <a:spcPct val="132000"/>
              </a:lnSpc>
              <a:buNone/>
            </a:pPr>
            <a:pPr indent="0" marL="0">
              <a:lnSpc>
                <a:spcPct val="132000"/>
              </a:lnSpc>
              <a:buNone/>
            </a:pPr>
            <a:pPr indent="0" marL="0">
              <a:lnSpc>
                <a:spcPct val="132000"/>
              </a:lnSpc>
              <a:buNone/>
            </a:pPr>
            <a:pPr indent="0" marL="0">
              <a:lnSpc>
                <a:spcPct val="132000"/>
              </a:lnSpc>
              <a:buNone/>
            </a:pPr>
            <a:pPr indent="0" marL="0">
              <a:lnSpc>
                <a:spcPct val="132000"/>
              </a:lnSpc>
              <a:buNone/>
            </a:pPr>
            <a:r>
              <a:rPr lang="en-US" sz="1600" dirty="0" b="0">
                <a:solidFill>
                  <a:srgbClr val="9B9EA6"/>
                </a:solidFill>
                <a:latin typeface="Geist" pitchFamily="34" charset="0"/>
                <a:ea typeface="Geist" pitchFamily="34" charset="-122"/>
                <a:cs typeface="Geist" pitchFamily="34" charset="-120"/>
              </a:rPr>
              <a:t>The lab tells you how many fields your reader missed and how many decisions disagreed with the rules. It does not tell you why, or what to try instead. Bring your breakdown to the next session.</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09</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NEXT</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Bring me a number.</a:t>
            </a:r>
            <a:endParaRPr lang="en-US" sz="3200" dirty="0"/>
          </a:p>
        </p:txBody>
      </p:sp>
      <p:sp>
        <p:nvSpPr>
          <p:cNvPr id="9" name="Shape 7"/>
          <p:cNvSpPr/>
          <p:nvPr/>
        </p:nvSpPr>
        <p:spPr>
          <a:xfrm>
            <a:off x="841248" y="3383280"/>
            <a:ext cx="603504" cy="41148"/>
          </a:xfrm>
          <a:prstGeom prst="rect">
            <a:avLst/>
          </a:prstGeom>
          <a:solidFill>
            <a:srgbClr val="E8B84B"/>
          </a:solidFill>
          <a:ln/>
        </p:spPr>
      </p:sp>
      <p:sp>
        <p:nvSpPr>
          <p:cNvPr id="10" name="Text 8"/>
          <p:cNvSpPr/>
          <p:nvPr/>
        </p:nvSpPr>
        <p:spPr>
          <a:xfrm>
            <a:off x="841248" y="3657600"/>
            <a:ext cx="10509199" cy="365760"/>
          </a:xfrm>
          <a:prstGeom prst="rect">
            <a:avLst/>
          </a:prstGeom>
          <a:noFill/>
          <a:ln/>
        </p:spPr>
        <p:txBody>
          <a:bodyPr wrap="square" lIns="0" tIns="0" rIns="0" bIns="0" rtlCol="0" anchor="ctr"/>
          <a:lstStyle/>
          <a:p>
            <a:pPr indent="0" marL="0">
              <a:buNone/>
            </a:pPr>
            <a:pPr indent="0" marL="0">
              <a:buNone/>
            </a:pPr>
            <a:r>
              <a:rPr lang="en-US" sz="1500" dirty="0" b="0">
                <a:solidFill>
                  <a:srgbClr val="E8B84B"/>
                </a:solidFill>
                <a:latin typeface="Geist Mono" pitchFamily="34" charset="0"/>
                <a:ea typeface="Geist Mono" pitchFamily="34" charset="-122"/>
                <a:cs typeface="Geist Mono" pitchFamily="34" charset="-120"/>
              </a:rPr>
              <a:t>NEXT →   Your scored run — whatever it says</a:t>
            </a:r>
            <a:endParaRPr lang="en-US" sz="1500" dirty="0"/>
          </a:p>
        </p:txBody>
      </p:sp>
      <p:sp>
        <p:nvSpPr>
          <p:cNvPr id="11" name="Text 9"/>
          <p:cNvSpPr/>
          <p:nvPr/>
        </p:nvSpPr>
        <p:spPr>
          <a:xfrm>
            <a:off x="841248" y="4069080"/>
            <a:ext cx="10509199" cy="365760"/>
          </a:xfrm>
          <a:prstGeom prst="rect">
            <a:avLst/>
          </a:prstGeom>
          <a:noFill/>
          <a:ln/>
        </p:spPr>
        <p:txBody>
          <a:bodyPr wrap="square" lIns="0" tIns="0" rIns="0" bIns="0" rtlCol="0" anchor="ctr"/>
          <a:lstStyle/>
          <a:p>
            <a:pPr indent="0" marL="0">
              <a:buNone/>
            </a:pPr>
            <a:r>
              <a:rPr lang="en-US" sz="1250" dirty="0" b="0">
                <a:solidFill>
                  <a:srgbClr val="9B9EA6"/>
                </a:solidFill>
                <a:latin typeface="Geist Mono" pitchFamily="34" charset="0"/>
                <a:ea typeface="Geist Mono" pitchFamily="34" charset="-122"/>
                <a:cs typeface="Geist Mono" pitchFamily="34" charset="-120"/>
              </a:rPr>
              <a:t>the breakdown · the parameter that hurt · one change you would make</a:t>
            </a:r>
            <a:endParaRPr lang="en-US" sz="1250" dirty="0"/>
          </a:p>
        </p:txBody>
      </p:sp>
      <p:sp>
        <p:nvSpPr>
          <p:cNvPr id="12" name="Text 10"/>
          <p:cNvSpPr/>
          <p:nvPr/>
        </p:nvSpPr>
        <p:spPr>
          <a:xfrm>
            <a:off x="841248" y="566928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 SHAKER</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UIPATH MVP</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MOHAMMEDSHAKER.COM</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5418531"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DOCUMENT LADDER</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The same invoice, five times harder.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Digital print</a:t>
            </a:r>
            <a:r>
              <a:rPr lang="en-US" sz="1550" dirty="0" b="0">
                <a:solidFill>
                  <a:srgbClr val="9B9EA6"/>
                </a:solidFill>
                <a:latin typeface="Geist" pitchFamily="34" charset="0"/>
                <a:ea typeface="Geist" pitchFamily="34" charset="-122"/>
                <a:cs typeface="Geist" pitchFamily="34" charset="-120"/>
              </a:rPr>
              <a:t xml:space="preserve"> — born a PDF, text you can select.</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Clean scan</a:t>
            </a:r>
            <a:r>
              <a:rPr lang="en-US" sz="1550" dirty="0" b="0">
                <a:solidFill>
                  <a:srgbClr val="9B9EA6"/>
                </a:solidFill>
                <a:latin typeface="Geist" pitchFamily="34" charset="0"/>
                <a:ea typeface="Geist" pitchFamily="34" charset="-122"/>
                <a:cs typeface="Geist" pitchFamily="34" charset="-120"/>
              </a:rPr>
              <a:t xml:space="preserve"> — 300 dpi, straight, a little soft.</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Office scan</a:t>
            </a:r>
            <a:r>
              <a:rPr lang="en-US" sz="1550" dirty="0" b="0">
                <a:solidFill>
                  <a:srgbClr val="9B9EA6"/>
                </a:solidFill>
                <a:latin typeface="Geist" pitchFamily="34" charset="0"/>
                <a:ea typeface="Geist" pitchFamily="34" charset="-122"/>
                <a:cs typeface="Geist" pitchFamily="34" charset="-120"/>
              </a:rPr>
              <a:t xml:space="preserve"> — skewed, speckled, a fold down the middle.</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Phone photo</a:t>
            </a:r>
            <a:r>
              <a:rPr lang="en-US" sz="1550" dirty="0" b="0">
                <a:solidFill>
                  <a:srgbClr val="9B9EA6"/>
                </a:solidFill>
                <a:latin typeface="Geist" pitchFamily="34" charset="0"/>
                <a:ea typeface="Geist" pitchFamily="34" charset="-122"/>
                <a:cs typeface="Geist" pitchFamily="34" charset="-120"/>
              </a:rPr>
              <a:t xml:space="preserve"> — shadow across the page, taken at a door.</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Bad phone photo</a:t>
            </a:r>
            <a:r>
              <a:rPr lang="en-US" sz="1550" dirty="0" b="0">
                <a:solidFill>
                  <a:srgbClr val="9B9EA6"/>
                </a:solidFill>
                <a:latin typeface="Geist" pitchFamily="34" charset="0"/>
                <a:ea typeface="Geist" pitchFamily="34" charset="-122"/>
                <a:cs typeface="Geist" pitchFamily="34" charset="-120"/>
              </a:rPr>
              <a:t xml:space="preserve"> — creased, dim, Arabic. Where readers break.</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4"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10</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HOW A RUN IS SCORED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Five parameters, published before you start.</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Accuracy</a:t>
            </a:r>
            <a:r>
              <a:rPr lang="en-US" sz="1550" dirty="0" b="0">
                <a:solidFill>
                  <a:srgbClr val="9B9EA6"/>
                </a:solidFill>
                <a:latin typeface="Geist" pitchFamily="34" charset="0"/>
                <a:ea typeface="Geist" pitchFamily="34" charset="-122"/>
                <a:cs typeface="Geist" pitchFamily="34" charset="-120"/>
              </a:rPr>
              <a:t xml:space="preserve"> — every field against what the document says.</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Decisions</a:t>
            </a:r>
            <a:r>
              <a:rPr lang="en-US" sz="1550" dirty="0" b="0">
                <a:solidFill>
                  <a:srgbClr val="9B9EA6"/>
                </a:solidFill>
                <a:latin typeface="Geist" pitchFamily="34" charset="0"/>
                <a:ea typeface="Geist" pitchFamily="34" charset="-122"/>
                <a:cs typeface="Geist" pitchFamily="34" charset="-120"/>
              </a:rPr>
              <a:t xml:space="preserve"> — approve, reject, refuse, against the rules.</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Exceptions</a:t>
            </a:r>
            <a:r>
              <a:rPr lang="en-US" sz="1550" dirty="0" b="0">
                <a:solidFill>
                  <a:srgbClr val="9B9EA6"/>
                </a:solidFill>
                <a:latin typeface="Geist" pitchFamily="34" charset="0"/>
                <a:ea typeface="Geist" pitchFamily="34" charset="-122"/>
                <a:cs typeface="Geist" pitchFamily="34" charset="-120"/>
              </a:rPr>
              <a:t xml:space="preserve"> — defects caught, minus the ones invented.</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Coverage</a:t>
            </a:r>
            <a:r>
              <a:rPr lang="en-US" sz="1550" dirty="0" b="0">
                <a:solidFill>
                  <a:srgbClr val="9B9EA6"/>
                </a:solidFill>
                <a:latin typeface="Geist" pitchFamily="34" charset="0"/>
                <a:ea typeface="Geist" pitchFamily="34" charset="-122"/>
                <a:cs typeface="Geist" pitchFamily="34" charset="-120"/>
              </a:rPr>
              <a:t xml:space="preserve"> — how much you finished before the clock stopped.</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Time</a:t>
            </a:r>
            <a:r>
              <a:rPr lang="en-US" sz="1550" dirty="0" b="0">
                <a:solidFill>
                  <a:srgbClr val="9B9EA6"/>
                </a:solidFill>
                <a:latin typeface="Geist" pitchFamily="34" charset="0"/>
                <a:ea typeface="Geist" pitchFamily="34" charset="-122"/>
                <a:cs typeface="Geist" pitchFamily="34" charset="-120"/>
              </a:rPr>
              <a:t xml:space="preserve"> — wall clock against a competent baseline.</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450480"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TWO MODES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PRACTICE</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as you go</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One item at a time, as often as you like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match result is shown as you work</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Wrong answers explained on the spot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Kept in your history, off the board</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learn</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SCORED</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at the end</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whole set, one run at a time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Feedback is switched off while the clock runs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Marking arrives when you finish</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Sixty or better earns a certificate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find out</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PRACTISE UNTIL IT IS BORING, THEN GO SCORED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09 — Agentic Foundations &amp; Context Grounding</dc:title>
  <dc:subject>PptxGenJS Presentation</dc:subject>
  <dc:creator>Mohammed Shaker</dc:creator>
  <cp:lastModifiedBy>Mohammed Shaker</cp:lastModifiedBy>
  <cp:revision>1</cp:revision>
  <dcterms:created xsi:type="dcterms:W3CDTF">2026-07-10T11:30:54Z</dcterms:created>
  <dcterms:modified xsi:type="dcterms:W3CDTF">2026-07-10T11:30:54Z</dcterms:modified>
</cp:coreProperties>
</file>