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10"/>
    <p:sldId id="263" r:id="rId25"/>
    <p:sldId id="264" r:id="rId11"/>
    <p:sldId id="265" r:id="rId26"/>
    <p:sldId id="266" r:id="rId27"/>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10" Type="http://schemas.openxmlformats.org/officeDocument/2006/relationships/slide" Target="slides/slide9.xml"/><Relationship Id="rId11" Type="http://schemas.openxmlformats.org/officeDocument/2006/relationships/slide" Target="slides/slide10.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  <Relationship Id="rId25" Type="http://schemas.openxmlformats.org/officeDocument/2006/relationships/slide" Target="slides/slide19.xml"/>
  <Relationship Id="rId26" Type="http://schemas.openxmlformats.org/officeDocument/2006/relationships/slide" Target="slides/slide20.xml"/>
  <Relationship Id="rId27" Type="http://schemas.openxmlformats.org/officeDocument/2006/relationships/slide" Target="slides/slide2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677316" cy="41148"/>
          </a:xfrm>
          <a:prstGeom prst="rect">
            <a:avLst/>
          </a:prstGeom>
          <a:solidFill>
            <a:srgbClr val="E8B84B"/>
          </a:solidFill>
          <a:ln/>
        </p:spPr>
      </p:sp>
      <p:sp>
        <p:nvSpPr>
          <p:cNvPr id="3" name="Text 1"/>
          <p:cNvSpPr/>
          <p:nvPr/>
        </p:nvSpPr>
        <p:spPr>
          <a:xfrm>
            <a:off x="841248" y="274320"/>
            <a:ext cx="5486400" cy="310896"/>
          </a:xfrm>
          <a:prstGeom prst="rect">
            <a:avLst/>
          </a:prstGeom>
          <a:noFill/>
          <a:ln/>
        </p:spPr>
        <p:txBody>
          <a:bodyPr wrap="square" lIns="0" tIns="0" rIns="0" bIns="0" rtlCol="0" anchor="ctr"/>
          <a:lstStyle/>
          <a:p>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F4F4F2"/>
                </a:solidFill>
                <a:latin typeface="Geist Mono" pitchFamily="34" charset="0"/>
                <a:ea typeface="Geist Mono" pitchFamily="34" charset="-122"/>
                <a:cs typeface="Geist Mono" pitchFamily="34" charset="-120"/>
              </a:rPr>
              <a:t>MS</a:t>
            </a:r>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6A6D75"/>
                </a:solidFill>
                <a:latin typeface="Geist Mono" pitchFamily="34" charset="0"/>
                <a:ea typeface="Geist Mono" pitchFamily="34" charset="-122"/>
                <a:cs typeface="Geist Mono" pitchFamily="34" charset="-120"/>
              </a:rPr>
              <a:t>  DU MENTORING</a:t>
            </a:r>
            <a:endParaRPr lang="en-US" sz="1100" dirty="0"/>
          </a:p>
        </p:txBody>
      </p:sp>
      <p:sp>
        <p:nvSpPr>
          <p:cNvPr id="4" name="Text 2"/>
          <p:cNvSpPr/>
          <p:nvPr/>
        </p:nvSpPr>
        <p:spPr>
          <a:xfrm>
            <a:off x="5864047" y="274320"/>
            <a:ext cx="5486400" cy="310896"/>
          </a:xfrm>
          <a:prstGeom prst="rect">
            <a:avLst/>
          </a:prstGeom>
          <a:noFill/>
          <a:ln/>
        </p:spPr>
        <p:txBody>
          <a:bodyPr wrap="square" lIns="0" tIns="0" rIns="0" bIns="0" rtlCol="0" anchor="ctr"/>
          <a:lstStyle/>
          <a:p>
            <a:pPr algn="r" indent="0" marL="0">
              <a:buNone/>
            </a:pPr>
            <a:r>
              <a:rPr lang="en-US" sz="1000" spc="150" kern="0" dirty="0" b="0">
                <a:solidFill>
                  <a:srgbClr val="6A6D75"/>
                </a:solidFill>
                <a:latin typeface="Geist Mono" pitchFamily="34" charset="0"/>
                <a:ea typeface="Geist Mono" pitchFamily="34" charset="-122"/>
                <a:cs typeface="Geist Mono" pitchFamily="34" charset="-120"/>
              </a:rPr>
              <a:t>BONUS / PRACTICE LAB · AUTOMATION LAB</a:t>
            </a:r>
            <a:endParaRPr lang="en-US" sz="1000" dirty="0"/>
          </a:p>
        </p:txBody>
      </p:sp>
      <p:sp>
        <p:nvSpPr>
          <p:cNvPr id="5" name="Text 3"/>
          <p:cNvSpPr/>
          <p:nvPr/>
        </p:nvSpPr>
        <p:spPr>
          <a:xfrm>
            <a:off x="841248" y="6400800"/>
            <a:ext cx="7315200" cy="274320"/>
          </a:xfrm>
          <a:prstGeom prst="rect">
            <a:avLst/>
          </a:prstGeom>
          <a:noFill/>
          <a:ln/>
        </p:spPr>
        <p:txBody>
          <a:bodyPr wrap="square" lIns="0" tIns="0" rIns="0" bIns="0" rtlCol="0" anchor="ctr"/>
          <a:lstStyle/>
          <a:p>
            <a:pPr indent="0" marL="0">
              <a:buNone/>
            </a:pPr>
            <a:r>
              <a:rPr lang="en-US" sz="950" spc="100" kern="0" dirty="0" b="0">
                <a:solidFill>
                  <a:srgbClr val="6A6D75"/>
                </a:solidFill>
                <a:latin typeface="Geist Mono" pitchFamily="34" charset="0"/>
                <a:ea typeface="Geist Mono" pitchFamily="34" charset="-122"/>
                <a:cs typeface="Geist Mono" pitchFamily="34" charset="-120"/>
              </a:rPr>
              <a:t>v2026.1 · BONUS · THE AUTOMATION LAB</a:t>
            </a:r>
            <a:endParaRPr lang="en-US" sz="950" dirty="0"/>
          </a:p>
        </p:txBody>
      </p:sp>
      <p:sp>
        <p:nvSpPr>
          <p:cNvPr id="6" name="Text 4"/>
          <p:cNvSpPr/>
          <p:nvPr/>
        </p:nvSpPr>
        <p:spPr>
          <a:xfrm>
            <a:off x="8607247" y="6400800"/>
            <a:ext cx="2743200" cy="274320"/>
          </a:xfrm>
          <a:prstGeom prst="rect">
            <a:avLst/>
          </a:prstGeom>
          <a:noFill/>
          <a:ln/>
        </p:spPr>
        <p:txBody>
          <a:bodyPr wrap="square" lIns="0" tIns="0" rIns="0" bIns="0" rtlCol="0" anchor="ctr"/>
          <a:lstStyle/>
          <a:p>
            <a:pPr algn="r" indent="0" marL="0">
              <a:buNone/>
            </a:pPr>
            <a:pPr algn="r" indent="0" marL="0">
              <a:buNone/>
            </a:pPr>
            <a:r>
              <a:rPr lang="en-US" sz="1000" spc="100" kern="0" dirty="0" b="0">
                <a:solidFill>
                  <a:srgbClr val="F4F4F2"/>
                </a:solidFill>
                <a:latin typeface="Geist Mono" pitchFamily="34" charset="0"/>
                <a:ea typeface="Geist Mono" pitchFamily="34" charset="-122"/>
                <a:cs typeface="Geist Mono" pitchFamily="34" charset="-120"/>
              </a:rPr>
              <a:t>01</a:t>
            </a:r>
            <a:r>
              <a:rPr lang="en-US" sz="1000" spc="100" kern="0" dirty="0" b="0">
                <a:solidFill>
                  <a:srgbClr val="6A6D75"/>
                </a:solidFill>
                <a:latin typeface="Geist Mono" pitchFamily="34" charset="0"/>
                <a:ea typeface="Geist Mono" pitchFamily="34" charset="-122"/>
                <a:cs typeface="Geist Mono" pitchFamily="34" charset="-120"/>
              </a:rPr>
              <a:t xml:space="preserve"> / 18</a:t>
            </a:r>
            <a:endParaRPr lang="en-US" sz="1000" dirty="0"/>
          </a:p>
        </p:txBody>
      </p:sp>
      <p:sp>
        <p:nvSpPr>
          <p:cNvPr id="7" name="Text 5"/>
          <p:cNvSpPr/>
          <p:nvPr/>
        </p:nvSpPr>
        <p:spPr>
          <a:xfrm>
            <a:off x="841248" y="1051560"/>
            <a:ext cx="10509199" cy="365760"/>
          </a:xfrm>
          <a:prstGeom prst="rect">
            <a:avLst/>
          </a:prstGeom>
          <a:noFill/>
          <a:ln/>
        </p:spPr>
        <p:txBody>
          <a:bodyPr wrap="square" lIns="0" tIns="0" rIns="0" bIns="0" rtlCol="0" anchor="ctr"/>
          <a:lstStyle/>
          <a:p>
            <a:pPr indent="0" marL="0">
              <a:buNone/>
            </a:pPr>
            <a:r>
              <a:rPr lang="en-US" sz="1250" b="1" spc="150" kern="0" dirty="0">
                <a:solidFill>
                  <a:srgbClr val="E8B84B"/>
                </a:solidFill>
                <a:latin typeface="Geist Mono" pitchFamily="34" charset="0"/>
                <a:ea typeface="Geist Mono" pitchFamily="34" charset="-122"/>
                <a:cs typeface="Geist Mono" pitchFamily="34" charset="-120"/>
              </a:rPr>
              <a:t>[</a:t>
            </a:r>
            <a:pPr indent="0" marL="0">
              <a:buNone/>
            </a:pPr>
            <a:r>
              <a:rPr lang="en-US" sz="1250" b="1" spc="150" kern="0" dirty="0">
                <a:solidFill>
                  <a:srgbClr val="F4F4F2"/>
                </a:solidFill>
                <a:latin typeface="Geist Mono" pitchFamily="34" charset="0"/>
                <a:ea typeface="Geist Mono" pitchFamily="34" charset="-122"/>
                <a:cs typeface="Geist Mono" pitchFamily="34" charset="-120"/>
              </a:rPr>
              <a:t>MS</a:t>
            </a:r>
            <a:pPr indent="0" marL="0">
              <a:buNone/>
            </a:pPr>
            <a:r>
              <a:rPr lang="en-US" sz="1250" b="1" spc="150" kern="0" dirty="0">
                <a:solidFill>
                  <a:srgbClr val="F4F4F2"/>
                </a:solidFill>
                <a:latin typeface="Geist Mono" pitchFamily="34" charset="0"/>
                <a:ea typeface="Geist Mono" pitchFamily="34" charset="-122"/>
                <a:cs typeface="Geist Mono" pitchFamily="34" charset="-120"/>
              </a:rPr>
              <a:t>] MOHAMMED SHAKER</a:t>
            </a:r>
            <a:pPr indent="0" marL="0">
              <a:buNone/>
            </a:pPr>
            <a:r>
              <a:rPr lang="en-US" sz="1250" b="1" spc="150" kern="0" dirty="0">
                <a:solidFill>
                  <a:srgbClr val="6A6D75"/>
                </a:solidFill>
                <a:latin typeface="Geist Mono" pitchFamily="34" charset="0"/>
                <a:ea typeface="Geist Mono" pitchFamily="34" charset="-122"/>
                <a:cs typeface="Geist Mono" pitchFamily="34" charset="-120"/>
              </a:rPr>
              <a:t>      AUTOMATION MENTORING</a:t>
            </a:r>
            <a:endParaRPr lang="en-US" sz="1250" dirty="0"/>
          </a:p>
        </p:txBody>
      </p:sp>
      <p:sp>
        <p:nvSpPr>
          <p:cNvPr id="8" name="Text 6"/>
          <p:cNvSpPr/>
          <p:nvPr/>
        </p:nvSpPr>
        <p:spPr>
          <a:xfrm>
            <a:off x="841248" y="2331720"/>
            <a:ext cx="10509199" cy="365760"/>
          </a:xfrm>
          <a:prstGeom prst="rect">
            <a:avLst/>
          </a:prstGeom>
          <a:noFill/>
          <a:ln/>
        </p:spPr>
        <p:txBody>
          <a:bodyPr wrap="square" lIns="0" tIns="0" rIns="0" bIns="0" rtlCol="0" anchor="ctr"/>
          <a:lstStyle/>
          <a:p>
            <a:pPr indent="0" marL="0">
              <a:buNone/>
            </a:pPr>
            <a:r>
              <a:rPr lang="en-US" sz="1300" spc="200" kern="0" dirty="0" b="0">
                <a:solidFill>
                  <a:srgbClr val="E8B84B"/>
                </a:solidFill>
                <a:latin typeface="Geist Mono" pitchFamily="34" charset="0"/>
                <a:ea typeface="Geist Mono" pitchFamily="34" charset="-122"/>
                <a:cs typeface="Geist Mono" pitchFamily="34" charset="-120"/>
              </a:rPr>
              <a:t>— BONUS · THE AUTOMATION LAB · PRACTISE ON A REAL SYSTEM</a:t>
            </a:r>
            <a:endParaRPr lang="en-US" sz="1300" dirty="0"/>
          </a:p>
        </p:txBody>
      </p:sp>
      <p:sp>
        <p:nvSpPr>
          <p:cNvPr id="9" name="Text 7"/>
          <p:cNvSpPr/>
          <p:nvPr/>
        </p:nvSpPr>
        <p:spPr>
          <a:xfrm>
            <a:off x="841248" y="2743200"/>
            <a:ext cx="10509199" cy="1828800"/>
          </a:xfrm>
          <a:prstGeom prst="rect">
            <a:avLst/>
          </a:prstGeom>
          <a:noFill/>
          <a:ln/>
        </p:spPr>
        <p:txBody>
          <a:bodyPr wrap="square" lIns="0" tIns="0" rIns="0" bIns="0" rtlCol="0" anchor="t"/>
          <a:lstStyle/>
          <a:p>
            <a:pPr indent="0" marL="0">
              <a:lnSpc>
                <a:spcPct val="98000"/>
              </a:lnSpc>
              <a:buNone/>
            </a:pPr>
            <a:r>
              <a:rPr lang="en-US" sz="6000" b="0" dirty="0">
                <a:solidFill>
                  <a:srgbClr val="F4F4F2"/>
                </a:solidFill>
                <a:latin typeface="Geist" pitchFamily="34" charset="0"/>
                <a:ea typeface="Geist" pitchFamily="34" charset="-122"/>
                <a:cs typeface="Geist" pitchFamily="34" charset="-120"/>
              </a:rPr>
              <a:t xml:space="preserve">The Automation </a:t>
            </a:r>
            <a:r>
              <a:rPr lang="en-US" sz="6000" b="0" dirty="0">
                <a:solidFill>
                  <a:srgbClr val="9B9EA6"/>
                </a:solidFill>
                <a:latin typeface="Geist" pitchFamily="34" charset="0"/>
                <a:ea typeface="Geist" pitchFamily="34" charset="-122"/>
                <a:cs typeface="Geist" pitchFamily="34" charset="-120"/>
              </a:rPr>
              <a:t>Lab.</a:t>
            </a:r>
            <a:endParaRPr lang="en-US" sz="6000" dirty="0"/>
          </a:p>
        </p:txBody>
      </p:sp>
      <p:sp>
        <p:nvSpPr>
          <p:cNvPr id="10" name="Shape 8"/>
          <p:cNvSpPr/>
          <p:nvPr/>
        </p:nvSpPr>
        <p:spPr>
          <a:xfrm>
            <a:off x="841248" y="4736592"/>
            <a:ext cx="603504" cy="41148"/>
          </a:xfrm>
          <a:prstGeom prst="rect">
            <a:avLst/>
          </a:prstGeom>
          <a:solidFill>
            <a:srgbClr val="E8B84B"/>
          </a:solidFill>
          <a:ln/>
        </p:spPr>
      </p:sp>
      <p:sp>
        <p:nvSpPr>
          <p:cNvPr id="11" name="Text 9"/>
          <p:cNvSpPr/>
          <p:nvPr/>
        </p:nvSpPr>
        <p:spPr>
          <a:xfrm>
            <a:off x="841248" y="4956048"/>
            <a:ext cx="10509199" cy="548640"/>
          </a:xfrm>
          <a:prstGeom prst="rect">
            <a:avLst/>
          </a:prstGeom>
          <a:noFill/>
          <a:ln/>
        </p:spPr>
        <p:txBody>
          <a:bodyPr wrap="square" lIns="0" tIns="0" rIns="0" bIns="0" rtlCol="0" anchor="ctr"/>
          <a:lstStyle/>
          <a:p>
            <a:pPr indent="0" marL="0">
              <a:buNone/>
            </a:pPr>
            <a:r>
              <a:rPr lang="en-US" sz="2400" dirty="0" b="0">
                <a:solidFill>
                  <a:srgbClr val="9B9EA6"/>
                </a:solidFill>
                <a:latin typeface="Geist" pitchFamily="34" charset="0"/>
                <a:ea typeface="Geist" pitchFamily="34" charset="-122"/>
                <a:cs typeface="Geist" pitchFamily="34" charset="-120"/>
              </a:rPr>
              <a:t>A working ERP · Four scenarios · Scored runs · A verifiable certificate</a:t>
            </a:r>
            <a:endParaRPr lang="en-US" sz="2400" dirty="0"/>
          </a:p>
        </p:txBody>
      </p:sp>
      <p:sp>
        <p:nvSpPr>
          <p:cNvPr id="12" name="Text 10"/>
          <p:cNvSpPr/>
          <p:nvPr/>
        </p:nvSpPr>
        <p:spPr>
          <a:xfrm>
            <a:off x="841248" y="5715000"/>
            <a:ext cx="10509199" cy="365760"/>
          </a:xfrm>
          <a:prstGeom prst="rect">
            <a:avLst/>
          </a:prstGeom>
          <a:noFill/>
          <a:ln/>
        </p:spPr>
        <p:txBody>
          <a:bodyPr wrap="square" lIns="0" tIns="0" rIns="0" bIns="0" rtlCol="0" anchor="ctr"/>
          <a:lstStyle/>
          <a:p>
            <a:pPr indent="0" marL="0">
              <a:buNone/>
            </a:pPr>
            <a:pPr indent="0" marL="0">
              <a:buNone/>
            </a:pPr>
            <a:pPr indent="0" marL="0">
              <a:buNone/>
            </a:pPr>
            <a:pPr indent="0" marL="0">
              <a:buNone/>
            </a:pPr>
            <a:pPr indent="0" marL="0">
              <a:buNone/>
            </a:pPr>
            <a:pPr indent="0" marL="0">
              <a:buNone/>
            </a:pPr>
            <a:pPr indent="0" marL="0">
              <a:buNone/>
            </a:pPr>
            <a:pPr indent="0" marL="0">
              <a:buNone/>
            </a:pPr>
            <a:pPr indent="0" marL="0">
              <a:buNone/>
            </a:pPr>
            <a:pPr indent="0" marL="0">
              <a:buNone/>
            </a:pPr>
            <a:pPr indent="0" marL="0">
              <a:buNone/>
            </a:pPr>
            <a:r>
              <a:rPr lang="en-US" sz="800" spc="120" kern="0" dirty="0" b="0">
                <a:solidFill>
                  <a:srgbClr val="E8B84B"/>
                </a:solidFill>
                <a:latin typeface="Geist Mono" pitchFamily="34" charset="0"/>
                <a:ea typeface="Geist Mono" pitchFamily="34" charset="-122"/>
                <a:cs typeface="Geist Mono" pitchFamily="34" charset="-120"/>
              </a:rPr>
              <a:t xml:space="preserve">●  </a:t>
            </a:r>
            <a:r>
              <a:rPr lang="en-US" sz="1100" spc="120" kern="0" dirty="0" b="0">
                <a:solidFill>
                  <a:srgbClr val="6A6D75"/>
                </a:solidFill>
                <a:latin typeface="Geist Mono" pitchFamily="34" charset="0"/>
                <a:ea typeface="Geist Mono" pitchFamily="34" charset="-122"/>
                <a:cs typeface="Geist Mono" pitchFamily="34" charset="-120"/>
              </a:rPr>
              <a:t>2 HOURS</a:t>
            </a:r>
            <a:r>
              <a:rPr lang="en-US" sz="1100" spc="120" kern="0" dirty="0" b="0">
                <a:solidFill>
                  <a:srgbClr val="6A6D75"/>
                </a:solidFill>
                <a:latin typeface="Geist Mono" pitchFamily="34" charset="0"/>
                <a:ea typeface="Geist Mono" pitchFamily="34" charset="-122"/>
                <a:cs typeface="Geist Mono" pitchFamily="34" charset="-120"/>
              </a:rPr>
              <a:t xml:space="preserve">     </a:t>
            </a:r>
            <a:r>
              <a:rPr lang="en-US" sz="800" spc="120" kern="0" dirty="0" b="0">
                <a:solidFill>
                  <a:srgbClr val="E8B84B"/>
                </a:solidFill>
                <a:latin typeface="Geist Mono" pitchFamily="34" charset="0"/>
                <a:ea typeface="Geist Mono" pitchFamily="34" charset="-122"/>
                <a:cs typeface="Geist Mono" pitchFamily="34" charset="-120"/>
              </a:rPr>
              <a:t xml:space="preserve">●  </a:t>
            </a:r>
            <a:r>
              <a:rPr lang="en-US" sz="1100" spc="120" kern="0" dirty="0" b="0">
                <a:solidFill>
                  <a:srgbClr val="6A6D75"/>
                </a:solidFill>
                <a:latin typeface="Geist Mono" pitchFamily="34" charset="0"/>
                <a:ea typeface="Geist Mono" pitchFamily="34" charset="-122"/>
                <a:cs typeface="Geist Mono" pitchFamily="34" charset="-120"/>
              </a:rPr>
              <a:t>BONUS MODULE</a:t>
            </a:r>
            <a:r>
              <a:rPr lang="en-US" sz="1100" spc="120" kern="0" dirty="0" b="0">
                <a:solidFill>
                  <a:srgbClr val="6A6D75"/>
                </a:solidFill>
                <a:latin typeface="Geist Mono" pitchFamily="34" charset="0"/>
                <a:ea typeface="Geist Mono" pitchFamily="34" charset="-122"/>
                <a:cs typeface="Geist Mono" pitchFamily="34" charset="-120"/>
              </a:rPr>
              <a:t xml:space="preserve">     </a:t>
            </a:r>
            <a:r>
              <a:rPr lang="en-US" sz="800" spc="120" kern="0" dirty="0" b="0">
                <a:solidFill>
                  <a:srgbClr val="E8B84B"/>
                </a:solidFill>
                <a:latin typeface="Geist Mono" pitchFamily="34" charset="0"/>
                <a:ea typeface="Geist Mono" pitchFamily="34" charset="-122"/>
                <a:cs typeface="Geist Mono" pitchFamily="34" charset="-120"/>
              </a:rPr>
              <a:t xml:space="preserve">●  </a:t>
            </a:r>
            <a:r>
              <a:rPr lang="en-US" sz="1100" spc="120" kern="0" dirty="0" b="0">
                <a:solidFill>
                  <a:srgbClr val="6A6D75"/>
                </a:solidFill>
                <a:latin typeface="Geist Mono" pitchFamily="34" charset="0"/>
                <a:ea typeface="Geist Mono" pitchFamily="34" charset="-122"/>
                <a:cs typeface="Geist Mono" pitchFamily="34" charset="-120"/>
              </a:rPr>
              <a:t>BRING A BOT</a:t>
            </a:r>
            <a:r>
              <a:rPr lang="en-US" sz="1100" spc="120" kern="0" dirty="0" b="0">
                <a:solidFill>
                  <a:srgbClr val="6A6D75"/>
                </a:solidFill>
                <a:latin typeface="Geist Mono" pitchFamily="34" charset="0"/>
                <a:ea typeface="Geist Mono" pitchFamily="34" charset="-122"/>
                <a:cs typeface="Geist Mono" pitchFamily="34" charset="-120"/>
              </a:rPr>
              <a:t xml:space="preserve">     </a:t>
            </a:r>
            <a:r>
              <a:rPr lang="en-US" sz="800" spc="120" kern="0" dirty="0" b="0">
                <a:solidFill>
                  <a:srgbClr val="E8B84B"/>
                </a:solidFill>
                <a:latin typeface="Geist Mono" pitchFamily="34" charset="0"/>
                <a:ea typeface="Geist Mono" pitchFamily="34" charset="-122"/>
                <a:cs typeface="Geist Mono" pitchFamily="34" charset="-120"/>
              </a:rPr>
              <a:t xml:space="preserve">●  </a:t>
            </a:r>
            <a:r>
              <a:rPr lang="en-US" sz="1100" spc="120" kern="0" dirty="0" b="0">
                <a:solidFill>
                  <a:srgbClr val="6A6D75"/>
                </a:solidFill>
                <a:latin typeface="Geist Mono" pitchFamily="34" charset="0"/>
                <a:ea typeface="Geist Mono" pitchFamily="34" charset="-122"/>
                <a:cs typeface="Geist Mono" pitchFamily="34" charset="-120"/>
              </a:rPr>
              <a:t>OPEN ALL YEAR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354633" cy="41148"/>
          </a:xfrm>
          <a:prstGeom prst="rect">
            <a:avLst/>
          </a:prstGeom>
          <a:solidFill>
            <a:srgbClr val="E8B84B"/>
          </a:solidFill>
          <a:ln/>
        </p:spPr>
      </p:sp>
      <p:sp>
        <p:nvSpPr>
          <p:cNvPr id="3" name="Text 1"/>
          <p:cNvSpPr/>
          <p:nvPr/>
        </p:nvSpPr>
        <p:spPr>
          <a:xfrm>
            <a:off x="841248" y="274320"/>
            <a:ext cx="5486400" cy="310896"/>
          </a:xfrm>
          <a:prstGeom prst="rect">
            <a:avLst/>
          </a:prstGeom>
          <a:noFill/>
          <a:ln/>
        </p:spPr>
        <p:txBody>
          <a:bodyPr wrap="square" lIns="0" tIns="0" rIns="0" bIns="0" rtlCol="0" anchor="ctr"/>
          <a:lstStyle/>
          <a:p>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F4F4F2"/>
                </a:solidFill>
                <a:latin typeface="Geist Mono" pitchFamily="34" charset="0"/>
                <a:ea typeface="Geist Mono" pitchFamily="34" charset="-122"/>
                <a:cs typeface="Geist Mono" pitchFamily="34" charset="-120"/>
              </a:rPr>
              <a:t>MS</a:t>
            </a:r>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6A6D75"/>
                </a:solidFill>
                <a:latin typeface="Geist Mono" pitchFamily="34" charset="0"/>
                <a:ea typeface="Geist Mono" pitchFamily="34" charset="-122"/>
                <a:cs typeface="Geist Mono" pitchFamily="34" charset="-120"/>
              </a:rPr>
              <a:t>  DU MENTORING</a:t>
            </a:r>
            <a:endParaRPr lang="en-US" sz="1100" dirty="0"/>
          </a:p>
        </p:txBody>
      </p:sp>
      <p:sp>
        <p:nvSpPr>
          <p:cNvPr id="4" name="Text 2"/>
          <p:cNvSpPr/>
          <p:nvPr/>
        </p:nvSpPr>
        <p:spPr>
          <a:xfrm>
            <a:off x="5864047" y="274320"/>
            <a:ext cx="5486400" cy="310896"/>
          </a:xfrm>
          <a:prstGeom prst="rect">
            <a:avLst/>
          </a:prstGeom>
          <a:noFill/>
          <a:ln/>
        </p:spPr>
        <p:txBody>
          <a:bodyPr wrap="square" lIns="0" tIns="0" rIns="0" bIns="0" rtlCol="0" anchor="ctr"/>
          <a:lstStyle/>
          <a:p>
            <a:pPr algn="r" indent="0" marL="0">
              <a:buNone/>
            </a:pPr>
            <a:r>
              <a:rPr lang="en-US" sz="1000" spc="150" kern="0" dirty="0" b="0">
                <a:solidFill>
                  <a:srgbClr val="6A6D75"/>
                </a:solidFill>
                <a:latin typeface="Geist Mono" pitchFamily="34" charset="0"/>
                <a:ea typeface="Geist Mono" pitchFamily="34" charset="-122"/>
                <a:cs typeface="Geist Mono" pitchFamily="34" charset="-120"/>
              </a:rPr>
              <a:t>BONUS / PRACTICE LAB · AUTOMATION LAB</a:t>
            </a:r>
            <a:endParaRPr lang="en-US" sz="1000" dirty="0"/>
          </a:p>
        </p:txBody>
      </p:sp>
      <p:sp>
        <p:nvSpPr>
          <p:cNvPr id="5" name="Text 3"/>
          <p:cNvSpPr/>
          <p:nvPr/>
        </p:nvSpPr>
        <p:spPr>
          <a:xfrm>
            <a:off x="841248" y="6400800"/>
            <a:ext cx="7315200" cy="274320"/>
          </a:xfrm>
          <a:prstGeom prst="rect">
            <a:avLst/>
          </a:prstGeom>
          <a:noFill/>
          <a:ln/>
        </p:spPr>
        <p:txBody>
          <a:bodyPr wrap="square" lIns="0" tIns="0" rIns="0" bIns="0" rtlCol="0" anchor="ctr"/>
          <a:lstStyle/>
          <a:p>
            <a:pPr indent="0" marL="0">
              <a:buNone/>
            </a:pPr>
            <a:r>
              <a:rPr lang="en-US" sz="950" spc="100" kern="0" dirty="0" b="0">
                <a:solidFill>
                  <a:srgbClr val="6A6D75"/>
                </a:solidFill>
                <a:latin typeface="Geist Mono" pitchFamily="34" charset="0"/>
                <a:ea typeface="Geist Mono" pitchFamily="34" charset="-122"/>
                <a:cs typeface="Geist Mono" pitchFamily="34" charset="-120"/>
              </a:rPr>
              <a:t>v2026.1 · BONUS · THE AUTOMATION LAB</a:t>
            </a:r>
            <a:endParaRPr lang="en-US" sz="950" dirty="0"/>
          </a:p>
        </p:txBody>
      </p:sp>
      <p:sp>
        <p:nvSpPr>
          <p:cNvPr id="6" name="Text 4"/>
          <p:cNvSpPr/>
          <p:nvPr/>
        </p:nvSpPr>
        <p:spPr>
          <a:xfrm>
            <a:off x="8607247" y="6400800"/>
            <a:ext cx="2743200" cy="274320"/>
          </a:xfrm>
          <a:prstGeom prst="rect">
            <a:avLst/>
          </a:prstGeom>
          <a:noFill/>
          <a:ln/>
        </p:spPr>
        <p:txBody>
          <a:bodyPr wrap="square" lIns="0" tIns="0" rIns="0" bIns="0" rtlCol="0" anchor="ctr"/>
          <a:lstStyle/>
          <a:p>
            <a:pPr algn="r" indent="0" marL="0">
              <a:buNone/>
            </a:pPr>
            <a:pPr algn="r" indent="0" marL="0">
              <a:buNone/>
            </a:pPr>
            <a:r>
              <a:rPr lang="en-US" sz="1000" spc="100" kern="0" dirty="0" b="0">
                <a:solidFill>
                  <a:srgbClr val="F4F4F2"/>
                </a:solidFill>
                <a:latin typeface="Geist Mono" pitchFamily="34" charset="0"/>
                <a:ea typeface="Geist Mono" pitchFamily="34" charset="-122"/>
                <a:cs typeface="Geist Mono" pitchFamily="34" charset="-120"/>
              </a:rPr>
              <a:t>02</a:t>
            </a:r>
            <a:r>
              <a:rPr lang="en-US" sz="1000" spc="100" kern="0" dirty="0" b="0">
                <a:solidFill>
                  <a:srgbClr val="6A6D75"/>
                </a:solidFill>
                <a:latin typeface="Geist Mono" pitchFamily="34" charset="0"/>
                <a:ea typeface="Geist Mono" pitchFamily="34" charset="-122"/>
                <a:cs typeface="Geist Mono" pitchFamily="34" charset="-120"/>
              </a:rPr>
              <a:t xml:space="preserve"> / 18</a:t>
            </a:r>
            <a:endParaRPr lang="en-US" sz="1000" dirty="0"/>
          </a:p>
        </p:txBody>
      </p:sp>
      <p:sp>
        <p:nvSpPr>
          <p:cNvPr id="7" name="Text 5"/>
          <p:cNvSpPr/>
          <p:nvPr/>
        </p:nvSpPr>
        <p:spPr>
          <a:xfrm>
            <a:off x="841248" y="1371600"/>
            <a:ext cx="10509199" cy="310896"/>
          </a:xfrm>
          <a:prstGeom prst="rect">
            <a:avLst/>
          </a:prstGeom>
          <a:noFill/>
          <a:ln/>
        </p:spPr>
        <p:txBody>
          <a:bodyPr wrap="square" lIns="0" tIns="0" rIns="0" bIns="0" rtlCol="0" anchor="ctr"/>
          <a:lstStyle/>
          <a:p>
            <a:pPr indent="0" marL="0">
              <a:buNone/>
            </a:pPr>
            <a:pPr indent="0" marL="0">
              <a:buNone/>
            </a:pPr>
            <a:pPr indent="0" marL="0">
              <a:buNone/>
            </a:pPr>
            <a:r>
              <a:rPr lang="en-US" sz="1250" spc="200" kern="0" dirty="0" b="0">
                <a:solidFill>
                  <a:srgbClr val="9B9EA6"/>
                </a:solidFill>
                <a:latin typeface="Geist Mono" pitchFamily="34" charset="0"/>
                <a:ea typeface="Geist Mono" pitchFamily="34" charset="-122"/>
                <a:cs typeface="Geist Mono" pitchFamily="34" charset="-120"/>
              </a:rPr>
              <a:t>— BONUS</a:t>
            </a:r>
            <a:r>
              <a:rPr lang="en-US" sz="1250" spc="200" kern="0" dirty="0" b="0">
                <a:solidFill>
                  <a:srgbClr val="6A6D75"/>
                </a:solidFill>
                <a:latin typeface="Geist Mono" pitchFamily="34" charset="0"/>
                <a:ea typeface="Geist Mono" pitchFamily="34" charset="-122"/>
                <a:cs typeface="Geist Mono" pitchFamily="34" charset="-120"/>
              </a:rPr>
              <a:t xml:space="preserve">   /   </a:t>
            </a:r>
            <a:r>
              <a:rPr lang="en-US" sz="1250" spc="200" kern="0" dirty="0" b="0">
                <a:solidFill>
                  <a:srgbClr val="9B9EA6"/>
                </a:solidFill>
                <a:latin typeface="Geist Mono" pitchFamily="34" charset="0"/>
                <a:ea typeface="Geist Mono" pitchFamily="34" charset="-122"/>
                <a:cs typeface="Geist Mono" pitchFamily="34" charset="-120"/>
              </a:rPr>
              <a:t>CONTENTS</a:t>
            </a:r>
            <a:endParaRPr lang="en-US" sz="1250" dirty="0"/>
          </a:p>
        </p:txBody>
      </p:sp>
      <p:sp>
        <p:nvSpPr>
          <p:cNvPr id="8" name="Text 6"/>
          <p:cNvSpPr/>
          <p:nvPr/>
        </p:nvSpPr>
        <p:spPr>
          <a:xfrm>
            <a:off x="841248" y="1828800"/>
            <a:ext cx="10509199" cy="1371600"/>
          </a:xfrm>
          <a:prstGeom prst="rect">
            <a:avLst/>
          </a:prstGeom>
          <a:noFill/>
          <a:ln/>
        </p:spPr>
        <p:txBody>
          <a:bodyPr wrap="square" lIns="0" tIns="0" rIns="0" bIns="0" rtlCol="0" anchor="t"/>
          <a:lstStyle/>
          <a:p>
            <a:pPr indent="0" marL="0">
              <a:lnSpc>
                <a:spcPct val="102000"/>
              </a:lnSpc>
              <a:buNone/>
            </a:pPr>
            <a:r>
              <a:rPr lang="en-US" sz="3800" b="1" dirty="0">
                <a:solidFill>
                  <a:srgbClr val="F4F4F2"/>
                </a:solidFill>
                <a:latin typeface="Geist" pitchFamily="34" charset="0"/>
                <a:ea typeface="Geist" pitchFamily="34" charset="-122"/>
                <a:cs typeface="Geist" pitchFamily="34" charset="-120"/>
              </a:rPr>
              <a:t>What we'll cover.</a:t>
            </a:r>
            <a:endParaRPr lang="en-US" sz="3800" dirty="0"/>
          </a:p>
        </p:txBody>
      </p:sp>
      <p:sp>
        <p:nvSpPr>
          <p:cNvPr id="9" name="Shape 7"/>
          <p:cNvSpPr/>
          <p:nvPr/>
        </p:nvSpPr>
        <p:spPr>
          <a:xfrm>
            <a:off x="841248" y="2788920"/>
            <a:ext cx="10509199" cy="0"/>
          </a:xfrm>
          <a:prstGeom prst="line">
            <a:avLst/>
          </a:prstGeom>
          <a:noFill/>
          <a:ln w="9525">
            <a:solidFill>
              <a:srgbClr val="2C2D34"/>
            </a:solidFill>
            <a:prstDash val="solid"/>
          </a:ln>
        </p:spPr>
      </p:sp>
      <p:sp>
        <p:nvSpPr>
          <p:cNvPr id="10" name="Text 8"/>
          <p:cNvSpPr/>
          <p:nvPr/>
        </p:nvSpPr>
        <p:spPr>
          <a:xfrm>
            <a:off x="841248" y="2907792"/>
            <a:ext cx="640080" cy="457200"/>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01</a:t>
            </a:r>
            <a:endParaRPr lang="en-US" sz="1250" dirty="0"/>
          </a:p>
        </p:txBody>
      </p:sp>
      <p:sp>
        <p:nvSpPr>
          <p:cNvPr id="11" name="Text 9"/>
          <p:cNvSpPr/>
          <p:nvPr/>
        </p:nvSpPr>
        <p:spPr>
          <a:xfrm>
            <a:off x="1554480" y="2889504"/>
            <a:ext cx="9795967" cy="493776"/>
          </a:xfrm>
          <a:prstGeom prst="rect">
            <a:avLst/>
          </a:prstGeom>
          <a:noFill/>
          <a:ln/>
        </p:spPr>
        <p:txBody>
          <a:bodyPr wrap="square" lIns="0" tIns="0" rIns="0" bIns="0" rtlCol="0" anchor="t"/>
          <a:lstStyle/>
          <a:p>
            <a:pPr indent="0" marL="0">
              <a:lnSpc>
                <a:spcPct val="112000"/>
              </a:lnSpc>
              <a:buNone/>
            </a:pPr>
            <a:pPr indent="0" marL="0">
              <a:lnSpc>
                <a:spcPct val="112000"/>
              </a:lnSpc>
              <a:buNone/>
            </a:pPr>
            <a:r>
              <a:rPr lang="en-US" sz="1550" b="1" dirty="0">
                <a:solidFill>
                  <a:srgbClr val="F4F4F2"/>
                </a:solidFill>
                <a:latin typeface="Geist" pitchFamily="34" charset="0"/>
                <a:ea typeface="Geist" pitchFamily="34" charset="-122"/>
                <a:cs typeface="Geist" pitchFamily="34" charset="-120"/>
              </a:rPr>
              <a:t>What the lab is</a:t>
            </a:r>
            <a:r>
              <a:rPr lang="en-US" sz="1550" dirty="0" b="0">
                <a:solidFill>
                  <a:srgbClr val="9B9EA6"/>
                </a:solidFill>
                <a:latin typeface="Geist" pitchFamily="34" charset="0"/>
                <a:ea typeface="Geist" pitchFamily="34" charset="-122"/>
                <a:cs typeface="Geist" pitchFamily="34" charset="-120"/>
              </a:rPr>
              <a:t xml:space="preserve">  — a working system, not a practice form.</a:t>
            </a:r>
            <a:endParaRPr lang="en-US" sz="1550" dirty="0"/>
          </a:p>
        </p:txBody>
      </p:sp>
      <p:sp>
        <p:nvSpPr>
          <p:cNvPr id="12" name="Shape 10"/>
          <p:cNvSpPr/>
          <p:nvPr/>
        </p:nvSpPr>
        <p:spPr>
          <a:xfrm>
            <a:off x="841248" y="3337560"/>
            <a:ext cx="10509199" cy="0"/>
          </a:xfrm>
          <a:prstGeom prst="line">
            <a:avLst/>
          </a:prstGeom>
          <a:noFill/>
          <a:ln w="9525">
            <a:solidFill>
              <a:srgbClr val="2C2D34"/>
            </a:solidFill>
            <a:prstDash val="solid"/>
          </a:ln>
        </p:spPr>
      </p:sp>
      <p:sp>
        <p:nvSpPr>
          <p:cNvPr id="13" name="Text 11"/>
          <p:cNvSpPr/>
          <p:nvPr/>
        </p:nvSpPr>
        <p:spPr>
          <a:xfrm>
            <a:off x="841248" y="3456432"/>
            <a:ext cx="640080" cy="457200"/>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02</a:t>
            </a:r>
            <a:endParaRPr lang="en-US" sz="1250" dirty="0"/>
          </a:p>
        </p:txBody>
      </p:sp>
      <p:sp>
        <p:nvSpPr>
          <p:cNvPr id="14" name="Text 12"/>
          <p:cNvSpPr/>
          <p:nvPr/>
        </p:nvSpPr>
        <p:spPr>
          <a:xfrm>
            <a:off x="1554480" y="3438144"/>
            <a:ext cx="9795967" cy="493776"/>
          </a:xfrm>
          <a:prstGeom prst="rect">
            <a:avLst/>
          </a:prstGeom>
          <a:noFill/>
          <a:ln/>
        </p:spPr>
        <p:txBody>
          <a:bodyPr wrap="square" lIns="0" tIns="0" rIns="0" bIns="0" rtlCol="0" anchor="t"/>
          <a:lstStyle/>
          <a:p>
            <a:pPr indent="0" marL="0">
              <a:lnSpc>
                <a:spcPct val="112000"/>
              </a:lnSpc>
              <a:buNone/>
            </a:pPr>
            <a:pPr indent="0" marL="0">
              <a:lnSpc>
                <a:spcPct val="112000"/>
              </a:lnSpc>
              <a:buNone/>
            </a:pPr>
            <a:r>
              <a:rPr lang="en-US" sz="1550" b="1" dirty="0">
                <a:solidFill>
                  <a:srgbClr val="F4F4F2"/>
                </a:solidFill>
                <a:latin typeface="Geist" pitchFamily="34" charset="0"/>
                <a:ea typeface="Geist" pitchFamily="34" charset="-122"/>
                <a:cs typeface="Geist" pitchFamily="34" charset="-120"/>
              </a:rPr>
              <a:t>The company</a:t>
            </a:r>
            <a:r>
              <a:rPr lang="en-US" sz="1550" dirty="0" b="0">
                <a:solidFill>
                  <a:srgbClr val="9B9EA6"/>
                </a:solidFill>
                <a:latin typeface="Geist" pitchFamily="34" charset="0"/>
                <a:ea typeface="Geist" pitchFamily="34" charset="-122"/>
                <a:cs typeface="Geist" pitchFamily="34" charset="-120"/>
              </a:rPr>
              <a:t xml:space="preserve">  — how it buys, and the paper trail it leaves behind.</a:t>
            </a:r>
            <a:endParaRPr lang="en-US" sz="1550" dirty="0"/>
          </a:p>
        </p:txBody>
      </p:sp>
      <p:sp>
        <p:nvSpPr>
          <p:cNvPr id="15" name="Shape 13"/>
          <p:cNvSpPr/>
          <p:nvPr/>
        </p:nvSpPr>
        <p:spPr>
          <a:xfrm>
            <a:off x="841248" y="3886200"/>
            <a:ext cx="10509199" cy="0"/>
          </a:xfrm>
          <a:prstGeom prst="line">
            <a:avLst/>
          </a:prstGeom>
          <a:noFill/>
          <a:ln w="9525">
            <a:solidFill>
              <a:srgbClr val="2C2D34"/>
            </a:solidFill>
            <a:prstDash val="solid"/>
          </a:ln>
        </p:spPr>
      </p:sp>
      <p:sp>
        <p:nvSpPr>
          <p:cNvPr id="16" name="Text 14"/>
          <p:cNvSpPr/>
          <p:nvPr/>
        </p:nvSpPr>
        <p:spPr>
          <a:xfrm>
            <a:off x="841248" y="4005072"/>
            <a:ext cx="640080" cy="457200"/>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03</a:t>
            </a:r>
            <a:endParaRPr lang="en-US" sz="1250" dirty="0"/>
          </a:p>
        </p:txBody>
      </p:sp>
      <p:sp>
        <p:nvSpPr>
          <p:cNvPr id="17" name="Text 15"/>
          <p:cNvSpPr/>
          <p:nvPr/>
        </p:nvSpPr>
        <p:spPr>
          <a:xfrm>
            <a:off x="1554480" y="3986784"/>
            <a:ext cx="9795967" cy="493776"/>
          </a:xfrm>
          <a:prstGeom prst="rect">
            <a:avLst/>
          </a:prstGeom>
          <a:noFill/>
          <a:ln/>
        </p:spPr>
        <p:txBody>
          <a:bodyPr wrap="square" lIns="0" tIns="0" rIns="0" bIns="0" rtlCol="0" anchor="t"/>
          <a:lstStyle/>
          <a:p>
            <a:pPr indent="0" marL="0">
              <a:lnSpc>
                <a:spcPct val="112000"/>
              </a:lnSpc>
              <a:buNone/>
            </a:pPr>
            <a:pPr indent="0" marL="0">
              <a:lnSpc>
                <a:spcPct val="112000"/>
              </a:lnSpc>
              <a:buNone/>
            </a:pPr>
            <a:r>
              <a:rPr lang="en-US" sz="1550" b="1" dirty="0">
                <a:solidFill>
                  <a:srgbClr val="F4F4F2"/>
                </a:solidFill>
                <a:latin typeface="Geist" pitchFamily="34" charset="0"/>
                <a:ea typeface="Geist" pitchFamily="34" charset="-122"/>
                <a:cs typeface="Geist" pitchFamily="34" charset="-120"/>
              </a:rPr>
              <a:t>The document ladder</a:t>
            </a:r>
            <a:r>
              <a:rPr lang="en-US" sz="1550" dirty="0" b="0">
                <a:solidFill>
                  <a:srgbClr val="9B9EA6"/>
                </a:solidFill>
                <a:latin typeface="Geist" pitchFamily="34" charset="0"/>
                <a:ea typeface="Geist" pitchFamily="34" charset="-122"/>
                <a:cs typeface="Geist" pitchFamily="34" charset="-120"/>
              </a:rPr>
              <a:t xml:space="preserve">  — the same invoice, five times harder.</a:t>
            </a:r>
            <a:endParaRPr lang="en-US" sz="1550" dirty="0"/>
          </a:p>
        </p:txBody>
      </p:sp>
      <p:sp>
        <p:nvSpPr>
          <p:cNvPr id="18" name="Shape 16"/>
          <p:cNvSpPr/>
          <p:nvPr/>
        </p:nvSpPr>
        <p:spPr>
          <a:xfrm>
            <a:off x="841248" y="4434840"/>
            <a:ext cx="10509199" cy="0"/>
          </a:xfrm>
          <a:prstGeom prst="line">
            <a:avLst/>
          </a:prstGeom>
          <a:noFill/>
          <a:ln w="9525">
            <a:solidFill>
              <a:srgbClr val="2C2D34"/>
            </a:solidFill>
            <a:prstDash val="solid"/>
          </a:ln>
        </p:spPr>
      </p:sp>
      <p:sp>
        <p:nvSpPr>
          <p:cNvPr id="19" name="Text 17"/>
          <p:cNvSpPr/>
          <p:nvPr/>
        </p:nvSpPr>
        <p:spPr>
          <a:xfrm>
            <a:off x="841248" y="4553712"/>
            <a:ext cx="640080" cy="457200"/>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04</a:t>
            </a:r>
            <a:endParaRPr lang="en-US" sz="1250" dirty="0"/>
          </a:p>
        </p:txBody>
      </p:sp>
      <p:sp>
        <p:nvSpPr>
          <p:cNvPr id="20" name="Text 18"/>
          <p:cNvSpPr/>
          <p:nvPr/>
        </p:nvSpPr>
        <p:spPr>
          <a:xfrm>
            <a:off x="1554480" y="4535424"/>
            <a:ext cx="9795967" cy="493776"/>
          </a:xfrm>
          <a:prstGeom prst="rect">
            <a:avLst/>
          </a:prstGeom>
          <a:noFill/>
          <a:ln/>
        </p:spPr>
        <p:txBody>
          <a:bodyPr wrap="square" lIns="0" tIns="0" rIns="0" bIns="0" rtlCol="0" anchor="t"/>
          <a:lstStyle/>
          <a:p>
            <a:pPr indent="0" marL="0">
              <a:lnSpc>
                <a:spcPct val="112000"/>
              </a:lnSpc>
              <a:buNone/>
            </a:pPr>
            <a:pPr indent="0" marL="0">
              <a:lnSpc>
                <a:spcPct val="112000"/>
              </a:lnSpc>
              <a:buNone/>
            </a:pPr>
            <a:r>
              <a:rPr lang="en-US" sz="1550" b="1" dirty="0">
                <a:solidFill>
                  <a:srgbClr val="F4F4F2"/>
                </a:solidFill>
                <a:latin typeface="Geist" pitchFamily="34" charset="0"/>
                <a:ea typeface="Geist" pitchFamily="34" charset="-122"/>
                <a:cs typeface="Geist" pitchFamily="34" charset="-120"/>
              </a:rPr>
              <a:t>The four scenarios</a:t>
            </a:r>
            <a:r>
              <a:rPr lang="en-US" sz="1550" dirty="0" b="0">
                <a:solidFill>
                  <a:srgbClr val="9B9EA6"/>
                </a:solidFill>
                <a:latin typeface="Geist" pitchFamily="34" charset="0"/>
                <a:ea typeface="Geist" pitchFamily="34" charset="-122"/>
                <a:cs typeface="Geist" pitchFamily="34" charset="-120"/>
              </a:rPr>
              <a:t xml:space="preserve">  — what each one actually asks of you.</a:t>
            </a:r>
            <a:endParaRPr lang="en-US" sz="1550" dirty="0"/>
          </a:p>
        </p:txBody>
      </p:sp>
      <p:sp>
        <p:nvSpPr>
          <p:cNvPr id="21" name="Shape 19"/>
          <p:cNvSpPr/>
          <p:nvPr/>
        </p:nvSpPr>
        <p:spPr>
          <a:xfrm>
            <a:off x="841248" y="4983480"/>
            <a:ext cx="10509199" cy="0"/>
          </a:xfrm>
          <a:prstGeom prst="line">
            <a:avLst/>
          </a:prstGeom>
          <a:noFill/>
          <a:ln w="9525">
            <a:solidFill>
              <a:srgbClr val="2C2D34"/>
            </a:solidFill>
            <a:prstDash val="solid"/>
          </a:ln>
        </p:spPr>
      </p:sp>
      <p:sp>
        <p:nvSpPr>
          <p:cNvPr id="22" name="Text 20"/>
          <p:cNvSpPr/>
          <p:nvPr/>
        </p:nvSpPr>
        <p:spPr>
          <a:xfrm>
            <a:off x="841248" y="5102352"/>
            <a:ext cx="640080" cy="457200"/>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05</a:t>
            </a:r>
            <a:endParaRPr lang="en-US" sz="1250" dirty="0"/>
          </a:p>
        </p:txBody>
      </p:sp>
      <p:sp>
        <p:nvSpPr>
          <p:cNvPr id="23" name="Text 21"/>
          <p:cNvSpPr/>
          <p:nvPr/>
        </p:nvSpPr>
        <p:spPr>
          <a:xfrm>
            <a:off x="1554480" y="5084064"/>
            <a:ext cx="9795967" cy="493776"/>
          </a:xfrm>
          <a:prstGeom prst="rect">
            <a:avLst/>
          </a:prstGeom>
          <a:noFill/>
          <a:ln/>
        </p:spPr>
        <p:txBody>
          <a:bodyPr wrap="square" lIns="0" tIns="0" rIns="0" bIns="0" rtlCol="0" anchor="t"/>
          <a:lstStyle/>
          <a:p>
            <a:pPr indent="0" marL="0">
              <a:lnSpc>
                <a:spcPct val="112000"/>
              </a:lnSpc>
              <a:buNone/>
            </a:pPr>
            <a:pPr indent="0" marL="0">
              <a:lnSpc>
                <a:spcPct val="112000"/>
              </a:lnSpc>
              <a:buNone/>
            </a:pPr>
            <a:r>
              <a:rPr lang="en-US" sz="1550" b="1" dirty="0">
                <a:solidFill>
                  <a:srgbClr val="F4F4F2"/>
                </a:solidFill>
                <a:latin typeface="Geist" pitchFamily="34" charset="0"/>
                <a:ea typeface="Geist" pitchFamily="34" charset="-122"/>
                <a:cs typeface="Geist" pitchFamily="34" charset="-120"/>
              </a:rPr>
              <a:t>How a run is scored</a:t>
            </a:r>
            <a:r>
              <a:rPr lang="en-US" sz="1550" dirty="0" b="0">
                <a:solidFill>
                  <a:srgbClr val="9B9EA6"/>
                </a:solidFill>
                <a:latin typeface="Geist" pitchFamily="34" charset="0"/>
                <a:ea typeface="Geist" pitchFamily="34" charset="-122"/>
                <a:cs typeface="Geist" pitchFamily="34" charset="-120"/>
              </a:rPr>
              <a:t xml:space="preserve">  — five parameters, published up front.</a:t>
            </a:r>
            <a:endParaRPr lang="en-US" sz="1550" dirty="0"/>
          </a:p>
        </p:txBody>
      </p:sp>
      <p:sp>
        <p:nvSpPr>
          <p:cNvPr id="24" name="Shape 22"/>
          <p:cNvSpPr/>
          <p:nvPr/>
        </p:nvSpPr>
        <p:spPr>
          <a:xfrm>
            <a:off x="841248" y="5532120"/>
            <a:ext cx="10509199" cy="0"/>
          </a:xfrm>
          <a:prstGeom prst="line">
            <a:avLst/>
          </a:prstGeom>
          <a:noFill/>
          <a:ln w="9525">
            <a:solidFill>
              <a:srgbClr val="2C2D34"/>
            </a:solidFill>
            <a:prstDash val="solid"/>
          </a:ln>
        </p:spPr>
      </p:sp>
      <p:sp>
        <p:nvSpPr>
          <p:cNvPr id="25" name="Text 23"/>
          <p:cNvSpPr/>
          <p:nvPr/>
        </p:nvSpPr>
        <p:spPr>
          <a:xfrm>
            <a:off x="841248" y="5650992"/>
            <a:ext cx="640080" cy="457200"/>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06</a:t>
            </a:r>
            <a:endParaRPr lang="en-US" sz="1250" dirty="0"/>
          </a:p>
        </p:txBody>
      </p:sp>
      <p:sp>
        <p:nvSpPr>
          <p:cNvPr id="26" name="Text 24"/>
          <p:cNvSpPr/>
          <p:nvPr/>
        </p:nvSpPr>
        <p:spPr>
          <a:xfrm>
            <a:off x="1554480" y="5632704"/>
            <a:ext cx="9795967" cy="493776"/>
          </a:xfrm>
          <a:prstGeom prst="rect">
            <a:avLst/>
          </a:prstGeom>
          <a:noFill/>
          <a:ln/>
        </p:spPr>
        <p:txBody>
          <a:bodyPr wrap="square" lIns="0" tIns="0" rIns="0" bIns="0" rtlCol="0" anchor="t"/>
          <a:lstStyle/>
          <a:p>
            <a:pPr indent="0" marL="0">
              <a:lnSpc>
                <a:spcPct val="112000"/>
              </a:lnSpc>
              <a:buNone/>
            </a:pPr>
            <a:pPr indent="0" marL="0">
              <a:lnSpc>
                <a:spcPct val="112000"/>
              </a:lnSpc>
              <a:buNone/>
            </a:pPr>
            <a:r>
              <a:rPr lang="en-US" sz="1550" b="1" dirty="0">
                <a:solidFill>
                  <a:srgbClr val="F4F4F2"/>
                </a:solidFill>
                <a:latin typeface="Geist" pitchFamily="34" charset="0"/>
                <a:ea typeface="Geist" pitchFamily="34" charset="-122"/>
                <a:cs typeface="Geist" pitchFamily="34" charset="-120"/>
              </a:rPr>
              <a:t>Sign up live</a:t>
            </a:r>
            <a:r>
              <a:rPr lang="en-US" sz="1550" dirty="0" b="0">
                <a:solidFill>
                  <a:srgbClr val="9B9EA6"/>
                </a:solidFill>
                <a:latin typeface="Geist" pitchFamily="34" charset="0"/>
                <a:ea typeface="Geist" pitchFamily="34" charset="-122"/>
                <a:cs typeface="Geist" pitchFamily="34" charset="-120"/>
              </a:rPr>
              <a:t xml:space="preserve">  — open a run together, then your task.</a:t>
            </a:r>
            <a:endParaRPr lang="en-US" sz="1550" dirty="0"/>
          </a:p>
        </p:txBody>
      </p:sp>
      <p:sp>
        <p:nvSpPr>
          <p:cNvPr id="27" name="Shape 25"/>
          <p:cNvSpPr/>
          <p:nvPr/>
        </p:nvSpPr>
        <p:spPr>
          <a:xfrm>
            <a:off x="841248" y="6080760"/>
            <a:ext cx="10509199" cy="0"/>
          </a:xfrm>
          <a:prstGeom prst="line">
            <a:avLst/>
          </a:prstGeom>
          <a:noFill/>
          <a:ln w="9525">
            <a:solidFill>
              <a:srgbClr val="2C2D34"/>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2031949" cy="41148"/>
          </a:xfrm>
          <a:prstGeom prst="rect">
            <a:avLst/>
          </a:prstGeom>
          <a:solidFill>
            <a:srgbClr val="E8B84B"/>
          </a:solidFill>
          <a:ln/>
        </p:spPr>
      </p:sp>
      <p:sp>
        <p:nvSpPr>
          <p:cNvPr id="3" name="Text 1"/>
          <p:cNvSpPr/>
          <p:nvPr/>
        </p:nvSpPr>
        <p:spPr>
          <a:xfrm>
            <a:off x="841248" y="274320"/>
            <a:ext cx="5486400" cy="310896"/>
          </a:xfrm>
          <a:prstGeom prst="rect">
            <a:avLst/>
          </a:prstGeom>
          <a:noFill/>
          <a:ln/>
        </p:spPr>
        <p:txBody>
          <a:bodyPr wrap="square" lIns="0" tIns="0" rIns="0" bIns="0" rtlCol="0" anchor="ctr"/>
          <a:lstStyle/>
          <a:p>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F4F4F2"/>
                </a:solidFill>
                <a:latin typeface="Geist Mono" pitchFamily="34" charset="0"/>
                <a:ea typeface="Geist Mono" pitchFamily="34" charset="-122"/>
                <a:cs typeface="Geist Mono" pitchFamily="34" charset="-120"/>
              </a:rPr>
              <a:t>MS</a:t>
            </a:r>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6A6D75"/>
                </a:solidFill>
                <a:latin typeface="Geist Mono" pitchFamily="34" charset="0"/>
                <a:ea typeface="Geist Mono" pitchFamily="34" charset="-122"/>
                <a:cs typeface="Geist Mono" pitchFamily="34" charset="-120"/>
              </a:rPr>
              <a:t>  DU MENTORING</a:t>
            </a:r>
            <a:endParaRPr lang="en-US" sz="1100" dirty="0"/>
          </a:p>
        </p:txBody>
      </p:sp>
      <p:sp>
        <p:nvSpPr>
          <p:cNvPr id="4" name="Text 2"/>
          <p:cNvSpPr/>
          <p:nvPr/>
        </p:nvSpPr>
        <p:spPr>
          <a:xfrm>
            <a:off x="5864047" y="274320"/>
            <a:ext cx="5486400" cy="310896"/>
          </a:xfrm>
          <a:prstGeom prst="rect">
            <a:avLst/>
          </a:prstGeom>
          <a:noFill/>
          <a:ln/>
        </p:spPr>
        <p:txBody>
          <a:bodyPr wrap="square" lIns="0" tIns="0" rIns="0" bIns="0" rtlCol="0" anchor="ctr"/>
          <a:lstStyle/>
          <a:p>
            <a:pPr algn="r" indent="0" marL="0">
              <a:buNone/>
            </a:pPr>
            <a:r>
              <a:rPr lang="en-US" sz="1000" spc="150" kern="0" dirty="0" b="0">
                <a:solidFill>
                  <a:srgbClr val="6A6D75"/>
                </a:solidFill>
                <a:latin typeface="Geist Mono" pitchFamily="34" charset="0"/>
                <a:ea typeface="Geist Mono" pitchFamily="34" charset="-122"/>
                <a:cs typeface="Geist Mono" pitchFamily="34" charset="-120"/>
              </a:rPr>
              <a:t>BONUS / PRACTICE LAB · AUTOMATION LAB</a:t>
            </a:r>
            <a:endParaRPr lang="en-US" sz="1000" dirty="0"/>
          </a:p>
        </p:txBody>
      </p:sp>
      <p:sp>
        <p:nvSpPr>
          <p:cNvPr id="5" name="Text 3"/>
          <p:cNvSpPr/>
          <p:nvPr/>
        </p:nvSpPr>
        <p:spPr>
          <a:xfrm>
            <a:off x="841248" y="6400800"/>
            <a:ext cx="7315200" cy="274320"/>
          </a:xfrm>
          <a:prstGeom prst="rect">
            <a:avLst/>
          </a:prstGeom>
          <a:noFill/>
          <a:ln/>
        </p:spPr>
        <p:txBody>
          <a:bodyPr wrap="square" lIns="0" tIns="0" rIns="0" bIns="0" rtlCol="0" anchor="ctr"/>
          <a:lstStyle/>
          <a:p>
            <a:pPr indent="0" marL="0">
              <a:buNone/>
            </a:pPr>
            <a:r>
              <a:rPr lang="en-US" sz="950" spc="100" kern="0" dirty="0" b="0">
                <a:solidFill>
                  <a:srgbClr val="6A6D75"/>
                </a:solidFill>
                <a:latin typeface="Geist Mono" pitchFamily="34" charset="0"/>
                <a:ea typeface="Geist Mono" pitchFamily="34" charset="-122"/>
                <a:cs typeface="Geist Mono" pitchFamily="34" charset="-120"/>
              </a:rPr>
              <a:t>v2026.1 · BONUS · THE AUTOMATION LAB</a:t>
            </a:r>
            <a:endParaRPr lang="en-US" sz="950" dirty="0"/>
          </a:p>
        </p:txBody>
      </p:sp>
      <p:sp>
        <p:nvSpPr>
          <p:cNvPr id="6" name="Text 4"/>
          <p:cNvSpPr/>
          <p:nvPr/>
        </p:nvSpPr>
        <p:spPr>
          <a:xfrm>
            <a:off x="8607247" y="6400800"/>
            <a:ext cx="2743200" cy="274320"/>
          </a:xfrm>
          <a:prstGeom prst="rect">
            <a:avLst/>
          </a:prstGeom>
          <a:noFill/>
          <a:ln/>
        </p:spPr>
        <p:txBody>
          <a:bodyPr wrap="square" lIns="0" tIns="0" rIns="0" bIns="0" rtlCol="0" anchor="ctr"/>
          <a:lstStyle/>
          <a:p>
            <a:pPr algn="r" indent="0" marL="0">
              <a:buNone/>
            </a:pPr>
            <a:pPr algn="r" indent="0" marL="0">
              <a:buNone/>
            </a:pPr>
            <a:r>
              <a:rPr lang="en-US" sz="1000" spc="100" kern="0" dirty="0" b="0">
                <a:solidFill>
                  <a:srgbClr val="F4F4F2"/>
                </a:solidFill>
                <a:latin typeface="Geist Mono" pitchFamily="34" charset="0"/>
                <a:ea typeface="Geist Mono" pitchFamily="34" charset="-122"/>
                <a:cs typeface="Geist Mono" pitchFamily="34" charset="-120"/>
              </a:rPr>
              <a:t>03</a:t>
            </a:r>
            <a:r>
              <a:rPr lang="en-US" sz="1000" spc="100" kern="0" dirty="0" b="0">
                <a:solidFill>
                  <a:srgbClr val="6A6D75"/>
                </a:solidFill>
                <a:latin typeface="Geist Mono" pitchFamily="34" charset="0"/>
                <a:ea typeface="Geist Mono" pitchFamily="34" charset="-122"/>
                <a:cs typeface="Geist Mono" pitchFamily="34" charset="-120"/>
              </a:rPr>
              <a:t xml:space="preserve"> / 18</a:t>
            </a:r>
            <a:endParaRPr lang="en-US" sz="1000" dirty="0"/>
          </a:p>
        </p:txBody>
      </p:sp>
      <p:sp>
        <p:nvSpPr>
          <p:cNvPr id="7" name="Text 5"/>
          <p:cNvSpPr/>
          <p:nvPr/>
        </p:nvSpPr>
        <p:spPr>
          <a:xfrm>
            <a:off x="841248" y="1371600"/>
            <a:ext cx="10509199" cy="310896"/>
          </a:xfrm>
          <a:prstGeom prst="rect">
            <a:avLst/>
          </a:prstGeom>
          <a:noFill/>
          <a:ln/>
        </p:spPr>
        <p:txBody>
          <a:bodyPr wrap="square" lIns="0" tIns="0" rIns="0" bIns="0" rtlCol="0" anchor="ctr"/>
          <a:lstStyle/>
          <a:p>
            <a:pPr indent="0" marL="0">
              <a:buNone/>
            </a:pPr>
            <a:pPr indent="0" marL="0">
              <a:buNone/>
            </a:pPr>
            <a:pPr indent="0" marL="0">
              <a:buNone/>
            </a:pPr>
            <a:r>
              <a:rPr lang="en-US" sz="1250" spc="200" kern="0" dirty="0" b="0">
                <a:solidFill>
                  <a:srgbClr val="9B9EA6"/>
                </a:solidFill>
                <a:latin typeface="Geist Mono" pitchFamily="34" charset="0"/>
                <a:ea typeface="Geist Mono" pitchFamily="34" charset="-122"/>
                <a:cs typeface="Geist Mono" pitchFamily="34" charset="-120"/>
              </a:rPr>
              <a:t>— 01</a:t>
            </a:r>
            <a:r>
              <a:rPr lang="en-US" sz="1250" spc="200" kern="0" dirty="0" b="0">
                <a:solidFill>
                  <a:srgbClr val="6A6D75"/>
                </a:solidFill>
                <a:latin typeface="Geist Mono" pitchFamily="34" charset="0"/>
                <a:ea typeface="Geist Mono" pitchFamily="34" charset="-122"/>
                <a:cs typeface="Geist Mono" pitchFamily="34" charset="-120"/>
              </a:rPr>
              <a:t xml:space="preserve">   /   </a:t>
            </a:r>
            <a:r>
              <a:rPr lang="en-US" sz="1250" spc="200" kern="0" dirty="0" b="0">
                <a:solidFill>
                  <a:srgbClr val="9B9EA6"/>
                </a:solidFill>
                <a:latin typeface="Geist Mono" pitchFamily="34" charset="0"/>
                <a:ea typeface="Geist Mono" pitchFamily="34" charset="-122"/>
                <a:cs typeface="Geist Mono" pitchFamily="34" charset="-120"/>
              </a:rPr>
              <a:t>EXPECTED TO LEARN</a:t>
            </a:r>
            <a:endParaRPr lang="en-US" sz="1250" dirty="0"/>
          </a:p>
        </p:txBody>
      </p:sp>
      <p:sp>
        <p:nvSpPr>
          <p:cNvPr id="8" name="Text 6"/>
          <p:cNvSpPr/>
          <p:nvPr/>
        </p:nvSpPr>
        <p:spPr>
          <a:xfrm>
            <a:off x="841248" y="1828800"/>
            <a:ext cx="10509199" cy="1371600"/>
          </a:xfrm>
          <a:prstGeom prst="rect">
            <a:avLst/>
          </a:prstGeom>
          <a:noFill/>
          <a:ln/>
        </p:spPr>
        <p:txBody>
          <a:bodyPr wrap="square" lIns="0" tIns="0" rIns="0" bIns="0" rtlCol="0" anchor="t"/>
          <a:lstStyle/>
          <a:p>
            <a:pPr indent="0" marL="0">
              <a:lnSpc>
                <a:spcPct val="102000"/>
              </a:lnSpc>
              <a:buNone/>
            </a:pPr>
            <a:r>
              <a:rPr lang="en-US" sz="3800" b="1" dirty="0">
                <a:solidFill>
                  <a:srgbClr val="F4F4F2"/>
                </a:solidFill>
                <a:latin typeface="Geist" pitchFamily="34" charset="0"/>
                <a:ea typeface="Geist" pitchFamily="34" charset="-122"/>
                <a:cs typeface="Geist" pitchFamily="34" charset="-120"/>
              </a:rPr>
              <a:t>By the end of today, you can —</a:t>
            </a:r>
            <a:endParaRPr lang="en-US" sz="3800" dirty="0"/>
          </a:p>
        </p:txBody>
      </p:sp>
      <p:sp>
        <p:nvSpPr>
          <p:cNvPr id="9" name="Shape 7"/>
          <p:cNvSpPr/>
          <p:nvPr/>
        </p:nvSpPr>
        <p:spPr>
          <a:xfrm>
            <a:off x="841248" y="2926080"/>
            <a:ext cx="10509199" cy="0"/>
          </a:xfrm>
          <a:prstGeom prst="line">
            <a:avLst/>
          </a:prstGeom>
          <a:noFill/>
          <a:ln w="9525">
            <a:solidFill>
              <a:srgbClr val="2C2D34"/>
            </a:solidFill>
            <a:prstDash val="solid"/>
          </a:ln>
        </p:spPr>
      </p:sp>
      <p:sp>
        <p:nvSpPr>
          <p:cNvPr id="10" name="Text 8"/>
          <p:cNvSpPr/>
          <p:nvPr/>
        </p:nvSpPr>
        <p:spPr>
          <a:xfrm>
            <a:off x="841248" y="3044952"/>
            <a:ext cx="640080" cy="585216"/>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01</a:t>
            </a:r>
            <a:endParaRPr lang="en-US" sz="1250" dirty="0"/>
          </a:p>
        </p:txBody>
      </p:sp>
      <p:sp>
        <p:nvSpPr>
          <p:cNvPr id="11" name="Text 9"/>
          <p:cNvSpPr/>
          <p:nvPr/>
        </p:nvSpPr>
        <p:spPr>
          <a:xfrm>
            <a:off x="1554480" y="3026664"/>
            <a:ext cx="9795967" cy="621792"/>
          </a:xfrm>
          <a:prstGeom prst="rect">
            <a:avLst/>
          </a:prstGeom>
          <a:noFill/>
          <a:ln/>
        </p:spPr>
        <p:txBody>
          <a:bodyPr wrap="square" lIns="0" tIns="0" rIns="0" bIns="0" rtlCol="0" anchor="t"/>
          <a:lstStyle/>
          <a:p>
            <a:pPr indent="0" marL="0">
              <a:lnSpc>
                <a:spcPct val="112000"/>
              </a:lnSpc>
              <a:buNone/>
            </a:pPr>
            <a:pPr indent="0" marL="0">
              <a:lnSpc>
                <a:spcPct val="112000"/>
              </a:lnSpc>
              <a:buNone/>
            </a:pPr>
            <a:pPr indent="0" marL="0">
              <a:lnSpc>
                <a:spcPct val="112000"/>
              </a:lnSpc>
              <a:buNone/>
            </a:pPr>
            <a:r>
              <a:rPr lang="en-US" sz="1550" dirty="0" b="0">
                <a:solidFill>
                  <a:srgbClr val="9B9EA6"/>
                </a:solidFill>
                <a:latin typeface="Geist" pitchFamily="34" charset="0"/>
                <a:ea typeface="Geist" pitchFamily="34" charset="-122"/>
                <a:cs typeface="Geist" pitchFamily="34" charset="-120"/>
              </a:rPr>
              <a:t xml:space="preserve">Say why a </a:t>
            </a:r>
            <a:r>
              <a:rPr lang="en-US" sz="1550" b="1" dirty="0">
                <a:solidFill>
                  <a:srgbClr val="F4F4F2"/>
                </a:solidFill>
                <a:latin typeface="Geist" pitchFamily="34" charset="0"/>
                <a:ea typeface="Geist" pitchFamily="34" charset="-122"/>
                <a:cs typeface="Geist" pitchFamily="34" charset="-120"/>
              </a:rPr>
              <a:t>demo sandbox teaches nothing</a:t>
            </a:r>
            <a:r>
              <a:rPr lang="en-US" sz="1550" dirty="0" b="0">
                <a:solidFill>
                  <a:srgbClr val="9B9EA6"/>
                </a:solidFill>
                <a:latin typeface="Geist" pitchFamily="34" charset="0"/>
                <a:ea typeface="Geist" pitchFamily="34" charset="-122"/>
                <a:cs typeface="Geist" pitchFamily="34" charset="-120"/>
              </a:rPr>
              <a:t xml:space="preserve"> — and what a real system adds.</a:t>
            </a:r>
            <a:endParaRPr lang="en-US" sz="1550" dirty="0"/>
          </a:p>
        </p:txBody>
      </p:sp>
      <p:sp>
        <p:nvSpPr>
          <p:cNvPr id="12" name="Shape 10"/>
          <p:cNvSpPr/>
          <p:nvPr/>
        </p:nvSpPr>
        <p:spPr>
          <a:xfrm>
            <a:off x="841248" y="3602736"/>
            <a:ext cx="10509199" cy="0"/>
          </a:xfrm>
          <a:prstGeom prst="line">
            <a:avLst/>
          </a:prstGeom>
          <a:noFill/>
          <a:ln w="9525">
            <a:solidFill>
              <a:srgbClr val="2C2D34"/>
            </a:solidFill>
            <a:prstDash val="solid"/>
          </a:ln>
        </p:spPr>
      </p:sp>
      <p:sp>
        <p:nvSpPr>
          <p:cNvPr id="13" name="Text 11"/>
          <p:cNvSpPr/>
          <p:nvPr/>
        </p:nvSpPr>
        <p:spPr>
          <a:xfrm>
            <a:off x="841248" y="3721608"/>
            <a:ext cx="640080" cy="585216"/>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02</a:t>
            </a:r>
            <a:endParaRPr lang="en-US" sz="1250" dirty="0"/>
          </a:p>
        </p:txBody>
      </p:sp>
      <p:sp>
        <p:nvSpPr>
          <p:cNvPr id="14" name="Text 12"/>
          <p:cNvSpPr/>
          <p:nvPr/>
        </p:nvSpPr>
        <p:spPr>
          <a:xfrm>
            <a:off x="1554480" y="3703320"/>
            <a:ext cx="9795967" cy="621792"/>
          </a:xfrm>
          <a:prstGeom prst="rect">
            <a:avLst/>
          </a:prstGeom>
          <a:noFill/>
          <a:ln/>
        </p:spPr>
        <p:txBody>
          <a:bodyPr wrap="square" lIns="0" tIns="0" rIns="0" bIns="0" rtlCol="0" anchor="t"/>
          <a:lstStyle/>
          <a:p>
            <a:pPr indent="0" marL="0">
              <a:lnSpc>
                <a:spcPct val="112000"/>
              </a:lnSpc>
              <a:buNone/>
            </a:pPr>
            <a:pPr indent="0" marL="0">
              <a:lnSpc>
                <a:spcPct val="112000"/>
              </a:lnSpc>
              <a:buNone/>
            </a:pPr>
            <a:pPr indent="0" marL="0">
              <a:lnSpc>
                <a:spcPct val="112000"/>
              </a:lnSpc>
              <a:buNone/>
            </a:pPr>
            <a:r>
              <a:rPr lang="en-US" sz="1550" dirty="0" b="0">
                <a:solidFill>
                  <a:srgbClr val="9B9EA6"/>
                </a:solidFill>
                <a:latin typeface="Geist" pitchFamily="34" charset="0"/>
                <a:ea typeface="Geist" pitchFamily="34" charset="-122"/>
                <a:cs typeface="Geist" pitchFamily="34" charset="-120"/>
              </a:rPr>
              <a:t xml:space="preserve">Work a scenario </a:t>
            </a:r>
            <a:r>
              <a:rPr lang="en-US" sz="1550" b="1" dirty="0">
                <a:solidFill>
                  <a:srgbClr val="F4F4F2"/>
                </a:solidFill>
                <a:latin typeface="Geist" pitchFamily="34" charset="0"/>
                <a:ea typeface="Geist" pitchFamily="34" charset="-122"/>
                <a:cs typeface="Geist" pitchFamily="34" charset="-120"/>
              </a:rPr>
              <a:t>end to end</a:t>
            </a:r>
            <a:r>
              <a:rPr lang="en-US" sz="1550" dirty="0" b="0">
                <a:solidFill>
                  <a:srgbClr val="9B9EA6"/>
                </a:solidFill>
                <a:latin typeface="Geist" pitchFamily="34" charset="0"/>
                <a:ea typeface="Geist" pitchFamily="34" charset="-122"/>
                <a:cs typeface="Geist" pitchFamily="34" charset="-120"/>
              </a:rPr>
              <a:t xml:space="preserve"> — through the screens or the API, your choice.</a:t>
            </a:r>
            <a:endParaRPr lang="en-US" sz="1550" dirty="0"/>
          </a:p>
        </p:txBody>
      </p:sp>
      <p:sp>
        <p:nvSpPr>
          <p:cNvPr id="15" name="Shape 13"/>
          <p:cNvSpPr/>
          <p:nvPr/>
        </p:nvSpPr>
        <p:spPr>
          <a:xfrm>
            <a:off x="841248" y="4279392"/>
            <a:ext cx="10509199" cy="0"/>
          </a:xfrm>
          <a:prstGeom prst="line">
            <a:avLst/>
          </a:prstGeom>
          <a:noFill/>
          <a:ln w="9525">
            <a:solidFill>
              <a:srgbClr val="2C2D34"/>
            </a:solidFill>
            <a:prstDash val="solid"/>
          </a:ln>
        </p:spPr>
      </p:sp>
      <p:sp>
        <p:nvSpPr>
          <p:cNvPr id="16" name="Text 14"/>
          <p:cNvSpPr/>
          <p:nvPr/>
        </p:nvSpPr>
        <p:spPr>
          <a:xfrm>
            <a:off x="841248" y="4398264"/>
            <a:ext cx="640080" cy="585216"/>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03</a:t>
            </a:r>
            <a:endParaRPr lang="en-US" sz="1250" dirty="0"/>
          </a:p>
        </p:txBody>
      </p:sp>
      <p:sp>
        <p:nvSpPr>
          <p:cNvPr id="17" name="Text 15"/>
          <p:cNvSpPr/>
          <p:nvPr/>
        </p:nvSpPr>
        <p:spPr>
          <a:xfrm>
            <a:off x="1554480" y="4379976"/>
            <a:ext cx="9795967" cy="621792"/>
          </a:xfrm>
          <a:prstGeom prst="rect">
            <a:avLst/>
          </a:prstGeom>
          <a:noFill/>
          <a:ln/>
        </p:spPr>
        <p:txBody>
          <a:bodyPr wrap="square" lIns="0" tIns="0" rIns="0" bIns="0" rtlCol="0" anchor="t"/>
          <a:lstStyle/>
          <a:p>
            <a:pPr indent="0" marL="0">
              <a:lnSpc>
                <a:spcPct val="112000"/>
              </a:lnSpc>
              <a:buNone/>
            </a:pPr>
            <a:pPr indent="0" marL="0">
              <a:lnSpc>
                <a:spcPct val="112000"/>
              </a:lnSpc>
              <a:buNone/>
            </a:pPr>
            <a:pPr indent="0" marL="0">
              <a:lnSpc>
                <a:spcPct val="112000"/>
              </a:lnSpc>
              <a:buNone/>
            </a:pPr>
            <a:r>
              <a:rPr lang="en-US" sz="1550" dirty="0" b="0">
                <a:solidFill>
                  <a:srgbClr val="9B9EA6"/>
                </a:solidFill>
                <a:latin typeface="Geist" pitchFamily="34" charset="0"/>
                <a:ea typeface="Geist" pitchFamily="34" charset="-122"/>
                <a:cs typeface="Geist" pitchFamily="34" charset="-120"/>
              </a:rPr>
              <a:t xml:space="preserve">Read a </a:t>
            </a:r>
            <a:r>
              <a:rPr lang="en-US" sz="1550" b="1" dirty="0">
                <a:solidFill>
                  <a:srgbClr val="F4F4F2"/>
                </a:solidFill>
                <a:latin typeface="Geist" pitchFamily="34" charset="0"/>
                <a:ea typeface="Geist" pitchFamily="34" charset="-122"/>
                <a:cs typeface="Geist" pitchFamily="34" charset="-120"/>
              </a:rPr>
              <a:t>score breakdown</a:t>
            </a:r>
            <a:r>
              <a:rPr lang="en-US" sz="1550" dirty="0" b="0">
                <a:solidFill>
                  <a:srgbClr val="9B9EA6"/>
                </a:solidFill>
                <a:latin typeface="Geist" pitchFamily="34" charset="0"/>
                <a:ea typeface="Geist" pitchFamily="34" charset="-122"/>
                <a:cs typeface="Geist" pitchFamily="34" charset="-120"/>
              </a:rPr>
              <a:t xml:space="preserve"> and name the parameter you would attack next.</a:t>
            </a:r>
            <a:endParaRPr lang="en-US" sz="1550" dirty="0"/>
          </a:p>
        </p:txBody>
      </p:sp>
      <p:sp>
        <p:nvSpPr>
          <p:cNvPr id="18" name="Shape 16"/>
          <p:cNvSpPr/>
          <p:nvPr/>
        </p:nvSpPr>
        <p:spPr>
          <a:xfrm>
            <a:off x="841248" y="4956048"/>
            <a:ext cx="10509199" cy="0"/>
          </a:xfrm>
          <a:prstGeom prst="line">
            <a:avLst/>
          </a:prstGeom>
          <a:noFill/>
          <a:ln w="9525">
            <a:solidFill>
              <a:srgbClr val="2C2D34"/>
            </a:solidFill>
            <a:prstDash val="solid"/>
          </a:ln>
        </p:spPr>
      </p:sp>
      <p:sp>
        <p:nvSpPr>
          <p:cNvPr id="19" name="Text 17"/>
          <p:cNvSpPr/>
          <p:nvPr/>
        </p:nvSpPr>
        <p:spPr>
          <a:xfrm>
            <a:off x="841248" y="5074920"/>
            <a:ext cx="640080" cy="585216"/>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04</a:t>
            </a:r>
            <a:endParaRPr lang="en-US" sz="1250" dirty="0"/>
          </a:p>
        </p:txBody>
      </p:sp>
      <p:sp>
        <p:nvSpPr>
          <p:cNvPr id="20" name="Text 18"/>
          <p:cNvSpPr/>
          <p:nvPr/>
        </p:nvSpPr>
        <p:spPr>
          <a:xfrm>
            <a:off x="1554480" y="5056632"/>
            <a:ext cx="9795967" cy="621792"/>
          </a:xfrm>
          <a:prstGeom prst="rect">
            <a:avLst/>
          </a:prstGeom>
          <a:noFill/>
          <a:ln/>
        </p:spPr>
        <p:txBody>
          <a:bodyPr wrap="square" lIns="0" tIns="0" rIns="0" bIns="0" rtlCol="0" anchor="t"/>
          <a:lstStyle/>
          <a:p>
            <a:pPr indent="0" marL="0">
              <a:lnSpc>
                <a:spcPct val="112000"/>
              </a:lnSpc>
              <a:buNone/>
            </a:pPr>
            <a:pPr indent="0" marL="0">
              <a:lnSpc>
                <a:spcPct val="112000"/>
              </a:lnSpc>
              <a:buNone/>
            </a:pPr>
            <a:pPr indent="0" marL="0">
              <a:lnSpc>
                <a:spcPct val="112000"/>
              </a:lnSpc>
              <a:buNone/>
            </a:pPr>
            <a:r>
              <a:rPr lang="en-US" sz="1550" dirty="0" b="0">
                <a:solidFill>
                  <a:srgbClr val="9B9EA6"/>
                </a:solidFill>
                <a:latin typeface="Geist" pitchFamily="34" charset="0"/>
                <a:ea typeface="Geist" pitchFamily="34" charset="-122"/>
                <a:cs typeface="Geist" pitchFamily="34" charset="-120"/>
              </a:rPr>
              <a:t xml:space="preserve">Point a bot at the API with </a:t>
            </a:r>
            <a:r>
              <a:rPr lang="en-US" sz="1550" b="1" dirty="0">
                <a:solidFill>
                  <a:srgbClr val="F4F4F2"/>
                </a:solidFill>
                <a:latin typeface="Geist" pitchFamily="34" charset="0"/>
                <a:ea typeface="Geist" pitchFamily="34" charset="-122"/>
                <a:cs typeface="Geist" pitchFamily="34" charset="-120"/>
              </a:rPr>
              <a:t>its own credential</a:t>
            </a:r>
            <a:r>
              <a:rPr lang="en-US" sz="1550" dirty="0" b="0">
                <a:solidFill>
                  <a:srgbClr val="9B9EA6"/>
                </a:solidFill>
                <a:latin typeface="Geist" pitchFamily="34" charset="0"/>
                <a:ea typeface="Geist" pitchFamily="34" charset="-122"/>
                <a:cs typeface="Geist" pitchFamily="34" charset="-120"/>
              </a:rPr>
              <a:t xml:space="preserve"> — no browser involved.</a:t>
            </a:r>
            <a:endParaRPr lang="en-US" sz="1550" dirty="0"/>
          </a:p>
        </p:txBody>
      </p:sp>
      <p:sp>
        <p:nvSpPr>
          <p:cNvPr id="21" name="Shape 19"/>
          <p:cNvSpPr/>
          <p:nvPr/>
        </p:nvSpPr>
        <p:spPr>
          <a:xfrm>
            <a:off x="841248" y="5632704"/>
            <a:ext cx="10509199" cy="0"/>
          </a:xfrm>
          <a:prstGeom prst="line">
            <a:avLst/>
          </a:prstGeom>
          <a:noFill/>
          <a:ln w="9525">
            <a:solidFill>
              <a:srgbClr val="2C2D34"/>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2709266" cy="41148"/>
          </a:xfrm>
          <a:prstGeom prst="rect">
            <a:avLst/>
          </a:prstGeom>
          <a:solidFill>
            <a:srgbClr val="E8B84B"/>
          </a:solidFill>
          <a:ln/>
        </p:spPr>
      </p:sp>
      <p:sp>
        <p:nvSpPr>
          <p:cNvPr id="3" name="Text 1"/>
          <p:cNvSpPr/>
          <p:nvPr/>
        </p:nvSpPr>
        <p:spPr>
          <a:xfrm>
            <a:off x="841248" y="274320"/>
            <a:ext cx="5486400" cy="310896"/>
          </a:xfrm>
          <a:prstGeom prst="rect">
            <a:avLst/>
          </a:prstGeom>
          <a:noFill/>
          <a:ln/>
        </p:spPr>
        <p:txBody>
          <a:bodyPr wrap="square" lIns="0" tIns="0" rIns="0" bIns="0" rtlCol="0" anchor="ctr"/>
          <a:lstStyle/>
          <a:p>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F4F4F2"/>
                </a:solidFill>
                <a:latin typeface="Geist Mono" pitchFamily="34" charset="0"/>
                <a:ea typeface="Geist Mono" pitchFamily="34" charset="-122"/>
                <a:cs typeface="Geist Mono" pitchFamily="34" charset="-120"/>
              </a:rPr>
              <a:t>MS</a:t>
            </a:r>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6A6D75"/>
                </a:solidFill>
                <a:latin typeface="Geist Mono" pitchFamily="34" charset="0"/>
                <a:ea typeface="Geist Mono" pitchFamily="34" charset="-122"/>
                <a:cs typeface="Geist Mono" pitchFamily="34" charset="-120"/>
              </a:rPr>
              <a:t>  DU MENTORING</a:t>
            </a:r>
            <a:endParaRPr lang="en-US" sz="1100" dirty="0"/>
          </a:p>
        </p:txBody>
      </p:sp>
      <p:sp>
        <p:nvSpPr>
          <p:cNvPr id="4" name="Text 2"/>
          <p:cNvSpPr/>
          <p:nvPr/>
        </p:nvSpPr>
        <p:spPr>
          <a:xfrm>
            <a:off x="5864047" y="274320"/>
            <a:ext cx="5486400" cy="310896"/>
          </a:xfrm>
          <a:prstGeom prst="rect">
            <a:avLst/>
          </a:prstGeom>
          <a:noFill/>
          <a:ln/>
        </p:spPr>
        <p:txBody>
          <a:bodyPr wrap="square" lIns="0" tIns="0" rIns="0" bIns="0" rtlCol="0" anchor="ctr"/>
          <a:lstStyle/>
          <a:p>
            <a:pPr algn="r" indent="0" marL="0">
              <a:buNone/>
            </a:pPr>
            <a:r>
              <a:rPr lang="en-US" sz="1000" spc="150" kern="0" dirty="0" b="0">
                <a:solidFill>
                  <a:srgbClr val="6A6D75"/>
                </a:solidFill>
                <a:latin typeface="Geist Mono" pitchFamily="34" charset="0"/>
                <a:ea typeface="Geist Mono" pitchFamily="34" charset="-122"/>
                <a:cs typeface="Geist Mono" pitchFamily="34" charset="-120"/>
              </a:rPr>
              <a:t>BONUS / PRACTICE LAB · AUTOMATION LAB</a:t>
            </a:r>
            <a:endParaRPr lang="en-US" sz="1000" dirty="0"/>
          </a:p>
        </p:txBody>
      </p:sp>
      <p:sp>
        <p:nvSpPr>
          <p:cNvPr id="5" name="Text 3"/>
          <p:cNvSpPr/>
          <p:nvPr/>
        </p:nvSpPr>
        <p:spPr>
          <a:xfrm>
            <a:off x="841248" y="6400800"/>
            <a:ext cx="7315200" cy="274320"/>
          </a:xfrm>
          <a:prstGeom prst="rect">
            <a:avLst/>
          </a:prstGeom>
          <a:noFill/>
          <a:ln/>
        </p:spPr>
        <p:txBody>
          <a:bodyPr wrap="square" lIns="0" tIns="0" rIns="0" bIns="0" rtlCol="0" anchor="ctr"/>
          <a:lstStyle/>
          <a:p>
            <a:pPr indent="0" marL="0">
              <a:buNone/>
            </a:pPr>
            <a:r>
              <a:rPr lang="en-US" sz="950" spc="100" kern="0" dirty="0" b="0">
                <a:solidFill>
                  <a:srgbClr val="6A6D75"/>
                </a:solidFill>
                <a:latin typeface="Geist Mono" pitchFamily="34" charset="0"/>
                <a:ea typeface="Geist Mono" pitchFamily="34" charset="-122"/>
                <a:cs typeface="Geist Mono" pitchFamily="34" charset="-120"/>
              </a:rPr>
              <a:t>v2026.1 · BONUS · THE AUTOMATION LAB</a:t>
            </a:r>
            <a:endParaRPr lang="en-US" sz="950" dirty="0"/>
          </a:p>
        </p:txBody>
      </p:sp>
      <p:sp>
        <p:nvSpPr>
          <p:cNvPr id="6" name="Text 4"/>
          <p:cNvSpPr/>
          <p:nvPr/>
        </p:nvSpPr>
        <p:spPr>
          <a:xfrm>
            <a:off x="8607247" y="6400800"/>
            <a:ext cx="2743200" cy="274320"/>
          </a:xfrm>
          <a:prstGeom prst="rect">
            <a:avLst/>
          </a:prstGeom>
          <a:noFill/>
          <a:ln/>
        </p:spPr>
        <p:txBody>
          <a:bodyPr wrap="square" lIns="0" tIns="0" rIns="0" bIns="0" rtlCol="0" anchor="ctr"/>
          <a:lstStyle/>
          <a:p>
            <a:pPr algn="r" indent="0" marL="0">
              <a:buNone/>
            </a:pPr>
            <a:pPr algn="r" indent="0" marL="0">
              <a:buNone/>
            </a:pPr>
            <a:r>
              <a:rPr lang="en-US" sz="1000" spc="100" kern="0" dirty="0" b="0">
                <a:solidFill>
                  <a:srgbClr val="F4F4F2"/>
                </a:solidFill>
                <a:latin typeface="Geist Mono" pitchFamily="34" charset="0"/>
                <a:ea typeface="Geist Mono" pitchFamily="34" charset="-122"/>
                <a:cs typeface="Geist Mono" pitchFamily="34" charset="-120"/>
              </a:rPr>
              <a:t>04</a:t>
            </a:r>
            <a:r>
              <a:rPr lang="en-US" sz="1000" spc="100" kern="0" dirty="0" b="0">
                <a:solidFill>
                  <a:srgbClr val="6A6D75"/>
                </a:solidFill>
                <a:latin typeface="Geist Mono" pitchFamily="34" charset="0"/>
                <a:ea typeface="Geist Mono" pitchFamily="34" charset="-122"/>
                <a:cs typeface="Geist Mono" pitchFamily="34" charset="-120"/>
              </a:rPr>
              <a:t xml:space="preserve"> / 18</a:t>
            </a:r>
            <a:endParaRPr lang="en-US" sz="1000" dirty="0"/>
          </a:p>
        </p:txBody>
      </p:sp>
      <p:sp>
        <p:nvSpPr>
          <p:cNvPr id="7" name="Text 5"/>
          <p:cNvSpPr/>
          <p:nvPr/>
        </p:nvSpPr>
        <p:spPr>
          <a:xfrm>
            <a:off x="841248" y="1371600"/>
            <a:ext cx="10509199" cy="310896"/>
          </a:xfrm>
          <a:prstGeom prst="rect">
            <a:avLst/>
          </a:prstGeom>
          <a:noFill/>
          <a:ln/>
        </p:spPr>
        <p:txBody>
          <a:bodyPr wrap="square" lIns="0" tIns="0" rIns="0" bIns="0" rtlCol="0" anchor="ctr"/>
          <a:lstStyle/>
          <a:p>
            <a:pPr indent="0" marL="0">
              <a:buNone/>
            </a:pPr>
            <a:pPr indent="0" marL="0">
              <a:buNone/>
            </a:pPr>
            <a:pPr indent="0" marL="0">
              <a:buNone/>
            </a:pPr>
            <a:r>
              <a:rPr lang="en-US" sz="1250" spc="200" kern="0" dirty="0" b="0">
                <a:solidFill>
                  <a:srgbClr val="9B9EA6"/>
                </a:solidFill>
                <a:latin typeface="Geist Mono" pitchFamily="34" charset="0"/>
                <a:ea typeface="Geist Mono" pitchFamily="34" charset="-122"/>
                <a:cs typeface="Geist Mono" pitchFamily="34" charset="-120"/>
              </a:rPr>
              <a:t>— 02</a:t>
            </a:r>
            <a:r>
              <a:rPr lang="en-US" sz="1250" spc="200" kern="0" dirty="0" b="0">
                <a:solidFill>
                  <a:srgbClr val="6A6D75"/>
                </a:solidFill>
                <a:latin typeface="Geist Mono" pitchFamily="34" charset="0"/>
                <a:ea typeface="Geist Mono" pitchFamily="34" charset="-122"/>
                <a:cs typeface="Geist Mono" pitchFamily="34" charset="-120"/>
              </a:rPr>
              <a:t xml:space="preserve">   /   </a:t>
            </a:r>
            <a:r>
              <a:rPr lang="en-US" sz="1250" spc="200" kern="0" dirty="0" b="0">
                <a:solidFill>
                  <a:srgbClr val="9B9EA6"/>
                </a:solidFill>
                <a:latin typeface="Geist Mono" pitchFamily="34" charset="0"/>
                <a:ea typeface="Geist Mono" pitchFamily="34" charset="-122"/>
                <a:cs typeface="Geist Mono" pitchFamily="34" charset="-120"/>
              </a:rPr>
              <a:t>WHAT IT IS</a:t>
            </a:r>
            <a:endParaRPr lang="en-US" sz="1250" dirty="0"/>
          </a:p>
        </p:txBody>
      </p:sp>
      <p:sp>
        <p:nvSpPr>
          <p:cNvPr id="8" name="Shape 6"/>
          <p:cNvSpPr/>
          <p:nvPr/>
        </p:nvSpPr>
        <p:spPr>
          <a:xfrm>
            <a:off x="841248" y="2011680"/>
            <a:ext cx="5163160" cy="3383280"/>
          </a:xfrm>
          <a:prstGeom prst="roundRect">
            <a:avLst>
              <a:gd name="adj" fmla="val 1351"/>
            </a:avLst>
          </a:prstGeom>
          <a:solidFill>
            <a:srgbClr val="101116"/>
          </a:solidFill>
          <a:ln w="9525">
            <a:solidFill>
              <a:srgbClr val="2C2D34"/>
            </a:solidFill>
            <a:prstDash val="solid"/>
          </a:ln>
        </p:spPr>
      </p:sp>
      <p:sp>
        <p:nvSpPr>
          <p:cNvPr id="9" name="Text 7"/>
          <p:cNvSpPr/>
          <p:nvPr/>
        </p:nvSpPr>
        <p:spPr>
          <a:xfrm>
            <a:off x="1152144" y="2286000"/>
            <a:ext cx="4614520" cy="274320"/>
          </a:xfrm>
          <a:prstGeom prst="rect">
            <a:avLst/>
          </a:prstGeom>
          <a:noFill/>
          <a:ln/>
        </p:spPr>
        <p:txBody>
          <a:bodyPr wrap="square" lIns="0" tIns="0" rIns="0" bIns="0" rtlCol="0" anchor="ctr"/>
          <a:lstStyle/>
          <a:p>
            <a:pPr indent="0" marL="0">
              <a:buNone/>
            </a:pPr>
            <a:r>
              <a:rPr lang="en-US" sz="1100" spc="150" kern="0" dirty="0" b="0">
                <a:solidFill>
                  <a:srgbClr val="6A6D75"/>
                </a:solidFill>
                <a:latin typeface="Geist Mono" pitchFamily="34" charset="0"/>
                <a:ea typeface="Geist Mono" pitchFamily="34" charset="-122"/>
                <a:cs typeface="Geist Mono" pitchFamily="34" charset="-120"/>
              </a:rPr>
              <a:t>— A PRACTICE FORM</a:t>
            </a:r>
            <a:endParaRPr lang="en-US" sz="1100" dirty="0"/>
          </a:p>
        </p:txBody>
      </p:sp>
      <p:sp>
        <p:nvSpPr>
          <p:cNvPr id="10" name="Text 8"/>
          <p:cNvSpPr/>
          <p:nvPr/>
        </p:nvSpPr>
        <p:spPr>
          <a:xfrm>
            <a:off x="1152144" y="2578608"/>
            <a:ext cx="4614520" cy="457200"/>
          </a:xfrm>
          <a:prstGeom prst="rect">
            <a:avLst/>
          </a:prstGeom>
          <a:noFill/>
          <a:ln/>
        </p:spPr>
        <p:txBody>
          <a:bodyPr wrap="square" lIns="0" tIns="0" rIns="0" bIns="0" rtlCol="0" anchor="ctr"/>
          <a:lstStyle/>
          <a:p>
            <a:pPr indent="0" marL="0">
              <a:buNone/>
            </a:pPr>
            <a:r>
              <a:rPr lang="en-US" sz="2300" b="1" dirty="0">
                <a:solidFill>
                  <a:srgbClr val="F4F4F2"/>
                </a:solidFill>
                <a:latin typeface="Geist" pitchFamily="34" charset="0"/>
                <a:ea typeface="Geist" pitchFamily="34" charset="-122"/>
                <a:cs typeface="Geist" pitchFamily="34" charset="-120"/>
              </a:rPr>
              <a:t>Four rows and a submit</a:t>
            </a:r>
            <a:endParaRPr lang="en-US" sz="2300" dirty="0"/>
          </a:p>
        </p:txBody>
      </p:sp>
      <p:sp>
        <p:nvSpPr>
          <p:cNvPr id="11" name="Text 9"/>
          <p:cNvSpPr/>
          <p:nvPr/>
        </p:nvSpPr>
        <p:spPr>
          <a:xfrm>
            <a:off x="1152144" y="3090672"/>
            <a:ext cx="4596232" cy="2148840"/>
          </a:xfrm>
          <a:prstGeom prst="rect">
            <a:avLst/>
          </a:prstGeom>
          <a:noFill/>
          <a:ln/>
        </p:spPr>
        <p:txBody>
          <a:bodyPr wrap="square" lIns="0" tIns="0" rIns="0" bIns="0" rtlCol="0" anchor="t"/>
          <a:lstStyle/>
          <a:p>
            <a:pPr marL="342900" indent="-342900">
              <a:spcAft>
                <a:spcPts val="700"/>
              </a:spcAft>
              <a:buSzPct val="100000"/>
              <a:buChar char="›"/>
            </a:pPr>
            <a:r>
              <a:rPr lang="en-US" sz="1350" dirty="0" b="0">
                <a:solidFill>
                  <a:srgbClr val="9B9EA6"/>
                </a:solidFill>
                <a:latin typeface="Geist" pitchFamily="34" charset="0"/>
                <a:ea typeface="Geist" pitchFamily="34" charset="-122"/>
                <a:cs typeface="Geist" pitchFamily="34" charset="-120"/>
              </a:rPr>
              <a:t>Data invented for the exercise</a:t>
            </a:r>
            <a:endParaRPr lang="en-US" sz="1350" dirty="0"/>
          </a:p>
          <a:p>
            <a:pPr marL="342900" indent="-342900">
              <a:spcAft>
                <a:spcPts val="700"/>
              </a:spcAft>
              <a:buSzPct val="100000"/>
              <a:buChar char="›"/>
            </a:pPr>
            <a:r>
              <a:rPr lang="en-US" sz="1350" dirty="0" b="0">
                <a:solidFill>
                  <a:srgbClr val="9B9EA6"/>
                </a:solidFill>
                <a:latin typeface="Geist" pitchFamily="34" charset="0"/>
                <a:ea typeface="Geist" pitchFamily="34" charset="-122"/>
                <a:cs typeface="Geist" pitchFamily="34" charset="-120"/>
              </a:rPr>
              <a:t>Every field already clean</a:t>
            </a:r>
            <a:endParaRPr lang="en-US" sz="1350" dirty="0"/>
          </a:p>
          <a:p>
            <a:pPr marL="342900" indent="-342900">
              <a:spcAft>
                <a:spcPts val="700"/>
              </a:spcAft>
              <a:buSzPct val="100000"/>
              <a:buChar char="›"/>
            </a:pPr>
            <a:r>
              <a:rPr lang="en-US" sz="1350" dirty="0" b="0">
                <a:solidFill>
                  <a:srgbClr val="9B9EA6"/>
                </a:solidFill>
                <a:latin typeface="Geist" pitchFamily="34" charset="0"/>
                <a:ea typeface="Geist" pitchFamily="34" charset="-122"/>
                <a:cs typeface="Geist" pitchFamily="34" charset="-120"/>
              </a:rPr>
              <a:t>Nothing references anything else</a:t>
            </a:r>
            <a:endParaRPr lang="en-US" sz="1350" dirty="0"/>
          </a:p>
          <a:p>
            <a:pPr marL="342900" indent="-342900">
              <a:spcAft>
                <a:spcPts val="700"/>
              </a:spcAft>
              <a:buSzPct val="100000"/>
              <a:buChar char="›"/>
            </a:pPr>
            <a:r>
              <a:rPr lang="en-US" sz="1350" dirty="0" b="0">
                <a:solidFill>
                  <a:srgbClr val="9B9EA6"/>
                </a:solidFill>
                <a:latin typeface="Geist" pitchFamily="34" charset="0"/>
                <a:ea typeface="Geist" pitchFamily="34" charset="-122"/>
                <a:cs typeface="Geist" pitchFamily="34" charset="-120"/>
              </a:rPr>
              <a:t>Break it and nobody notices</a:t>
            </a:r>
            <a:endParaRPr lang="en-US" sz="1350" dirty="0"/>
          </a:p>
          <a:p>
            <a:pPr marL="342900" indent="-342900">
              <a:spcAft>
                <a:spcPts val="700"/>
              </a:spcAft>
              <a:buSzPct val="100000"/>
              <a:buChar char="›"/>
            </a:pPr>
            <a:r>
              <a:rPr lang="en-US" sz="1350" dirty="0" b="0">
                <a:solidFill>
                  <a:srgbClr val="9B9EA6"/>
                </a:solidFill>
                <a:latin typeface="Geist" pitchFamily="34" charset="0"/>
                <a:ea typeface="Geist" pitchFamily="34" charset="-122"/>
                <a:cs typeface="Geist" pitchFamily="34" charset="-120"/>
              </a:rPr>
              <a:t>You finish, and learn the form</a:t>
            </a:r>
            <a:endParaRPr lang="en-US" sz="1350" dirty="0"/>
          </a:p>
        </p:txBody>
      </p:sp>
      <p:sp>
        <p:nvSpPr>
          <p:cNvPr id="12" name="Shape 10"/>
          <p:cNvSpPr/>
          <p:nvPr/>
        </p:nvSpPr>
        <p:spPr>
          <a:xfrm>
            <a:off x="6187288" y="2011680"/>
            <a:ext cx="5163160" cy="3383280"/>
          </a:xfrm>
          <a:prstGeom prst="roundRect">
            <a:avLst>
              <a:gd name="adj" fmla="val 1351"/>
            </a:avLst>
          </a:prstGeom>
          <a:solidFill>
            <a:srgbClr val="16171D"/>
          </a:solidFill>
          <a:ln w="12700">
            <a:solidFill>
              <a:srgbClr val="E8B84B"/>
            </a:solidFill>
            <a:prstDash val="solid"/>
          </a:ln>
        </p:spPr>
      </p:sp>
      <p:sp>
        <p:nvSpPr>
          <p:cNvPr id="13" name="Text 11"/>
          <p:cNvSpPr/>
          <p:nvPr/>
        </p:nvSpPr>
        <p:spPr>
          <a:xfrm>
            <a:off x="6498184" y="2286000"/>
            <a:ext cx="4614520" cy="274320"/>
          </a:xfrm>
          <a:prstGeom prst="rect">
            <a:avLst/>
          </a:prstGeom>
          <a:noFill/>
          <a:ln/>
        </p:spPr>
        <p:txBody>
          <a:bodyPr wrap="square" lIns="0" tIns="0" rIns="0" bIns="0" rtlCol="0" anchor="ctr"/>
          <a:lstStyle/>
          <a:p>
            <a:pPr indent="0" marL="0">
              <a:buNone/>
            </a:pPr>
            <a:r>
              <a:rPr lang="en-US" sz="1100" spc="150" kern="0" dirty="0" b="0">
                <a:solidFill>
                  <a:srgbClr val="E8B84B"/>
                </a:solidFill>
                <a:latin typeface="Geist Mono" pitchFamily="34" charset="0"/>
                <a:ea typeface="Geist Mono" pitchFamily="34" charset="-122"/>
                <a:cs typeface="Geist Mono" pitchFamily="34" charset="-120"/>
              </a:rPr>
              <a:t>— THE AUTOMATION LAB</a:t>
            </a:r>
            <a:endParaRPr lang="en-US" sz="1100" dirty="0"/>
          </a:p>
        </p:txBody>
      </p:sp>
      <p:sp>
        <p:nvSpPr>
          <p:cNvPr id="14" name="Text 12"/>
          <p:cNvSpPr/>
          <p:nvPr/>
        </p:nvSpPr>
        <p:spPr>
          <a:xfrm>
            <a:off x="6498184" y="2578608"/>
            <a:ext cx="4614520" cy="457200"/>
          </a:xfrm>
          <a:prstGeom prst="rect">
            <a:avLst/>
          </a:prstGeom>
          <a:noFill/>
          <a:ln/>
        </p:spPr>
        <p:txBody>
          <a:bodyPr wrap="square" lIns="0" tIns="0" rIns="0" bIns="0" rtlCol="0" anchor="ctr"/>
          <a:lstStyle/>
          <a:p>
            <a:pPr indent="0" marL="0">
              <a:buNone/>
            </a:pPr>
            <a:r>
              <a:rPr lang="en-US" sz="2300" b="1" dirty="0">
                <a:solidFill>
                  <a:srgbClr val="F4F4F2"/>
                </a:solidFill>
                <a:latin typeface="Geist" pitchFamily="34" charset="0"/>
                <a:ea typeface="Geist" pitchFamily="34" charset="-122"/>
                <a:cs typeface="Geist" pitchFamily="34" charset="-120"/>
              </a:rPr>
              <a:t>A company with a history</a:t>
            </a:r>
            <a:endParaRPr lang="en-US" sz="2300" dirty="0"/>
          </a:p>
        </p:txBody>
      </p:sp>
      <p:sp>
        <p:nvSpPr>
          <p:cNvPr id="15" name="Text 13"/>
          <p:cNvSpPr/>
          <p:nvPr/>
        </p:nvSpPr>
        <p:spPr>
          <a:xfrm>
            <a:off x="6498184" y="3090672"/>
            <a:ext cx="4596232" cy="2148840"/>
          </a:xfrm>
          <a:prstGeom prst="rect">
            <a:avLst/>
          </a:prstGeom>
          <a:noFill/>
          <a:ln/>
        </p:spPr>
        <p:txBody>
          <a:bodyPr wrap="square" lIns="0" tIns="0" rIns="0" bIns="0" rtlCol="0" anchor="t"/>
          <a:lstStyle/>
          <a:p>
            <a:pPr marL="342900" indent="-342900">
              <a:spcAft>
                <a:spcPts val="700"/>
              </a:spcAft>
              <a:buSzPct val="100000"/>
              <a:buChar char="›"/>
            </a:pPr>
            <a:r>
              <a:rPr lang="en-US" sz="1350" dirty="0" b="0">
                <a:solidFill>
                  <a:srgbClr val="9B9EA6"/>
                </a:solidFill>
                <a:latin typeface="Geist" pitchFamily="34" charset="0"/>
                <a:ea typeface="Geist" pitchFamily="34" charset="-122"/>
                <a:cs typeface="Geist" pitchFamily="34" charset="-120"/>
              </a:rPr>
              <a:t>Two years of purchasing behind it</a:t>
            </a:r>
            <a:endParaRPr lang="en-US" sz="1350" dirty="0"/>
          </a:p>
          <a:p>
            <a:pPr marL="342900" indent="-342900">
              <a:spcAft>
                <a:spcPts val="700"/>
              </a:spcAft>
              <a:buSzPct val="100000"/>
              <a:buChar char="›"/>
            </a:pPr>
            <a:r>
              <a:rPr lang="en-US" sz="1350" dirty="0" b="0">
                <a:solidFill>
                  <a:srgbClr val="9B9EA6"/>
                </a:solidFill>
                <a:latin typeface="Geist" pitchFamily="34" charset="0"/>
                <a:ea typeface="Geist" pitchFamily="34" charset="-122"/>
                <a:cs typeface="Geist" pitchFamily="34" charset="-120"/>
              </a:rPr>
              <a:t>Documents that argue with each other</a:t>
            </a:r>
            <a:endParaRPr lang="en-US" sz="1350" dirty="0"/>
          </a:p>
          <a:p>
            <a:pPr marL="342900" indent="-342900">
              <a:spcAft>
                <a:spcPts val="700"/>
              </a:spcAft>
              <a:buSzPct val="100000"/>
              <a:buChar char="›"/>
            </a:pPr>
            <a:r>
              <a:rPr lang="en-US" sz="1350" dirty="0" b="0">
                <a:solidFill>
                  <a:srgbClr val="9B9EA6"/>
                </a:solidFill>
                <a:latin typeface="Geist" pitchFamily="34" charset="0"/>
                <a:ea typeface="Geist" pitchFamily="34" charset="-122"/>
                <a:cs typeface="Geist" pitchFamily="34" charset="-120"/>
              </a:rPr>
              <a:t>Orders, receipts and invoices that must agree</a:t>
            </a:r>
            <a:endParaRPr lang="en-US" sz="1350" dirty="0"/>
          </a:p>
          <a:p>
            <a:pPr marL="342900" indent="-342900">
              <a:spcAft>
                <a:spcPts val="700"/>
              </a:spcAft>
              <a:buSzPct val="100000"/>
              <a:buChar char="›"/>
            </a:pPr>
            <a:r>
              <a:rPr lang="en-US" sz="1350" dirty="0" b="0">
                <a:solidFill>
                  <a:srgbClr val="9B9EA6"/>
                </a:solidFill>
                <a:latin typeface="Geist" pitchFamily="34" charset="0"/>
                <a:ea typeface="Geist" pitchFamily="34" charset="-122"/>
                <a:cs typeface="Geist" pitchFamily="34" charset="-120"/>
              </a:rPr>
              <a:t>Break the chain and it tells you</a:t>
            </a:r>
            <a:endParaRPr lang="en-US" sz="1350" dirty="0"/>
          </a:p>
          <a:p>
            <a:pPr marL="342900" indent="-342900">
              <a:spcAft>
                <a:spcPts val="700"/>
              </a:spcAft>
              <a:buSzPct val="100000"/>
              <a:buChar char="›"/>
            </a:pPr>
            <a:r>
              <a:rPr lang="en-US" sz="1350" dirty="0" b="0">
                <a:solidFill>
                  <a:srgbClr val="9B9EA6"/>
                </a:solidFill>
                <a:latin typeface="Geist" pitchFamily="34" charset="0"/>
                <a:ea typeface="Geist" pitchFamily="34" charset="-122"/>
                <a:cs typeface="Geist" pitchFamily="34" charset="-120"/>
              </a:rPr>
              <a:t>You finish, and learn the process</a:t>
            </a:r>
            <a:endParaRPr lang="en-US" sz="1350" dirty="0"/>
          </a:p>
        </p:txBody>
      </p:sp>
      <p:sp>
        <p:nvSpPr>
          <p:cNvPr id="16" name="Text 14"/>
          <p:cNvSpPr/>
          <p:nvPr/>
        </p:nvSpPr>
        <p:spPr>
          <a:xfrm>
            <a:off x="841248" y="5623560"/>
            <a:ext cx="10509199" cy="365760"/>
          </a:xfrm>
          <a:prstGeom prst="rect">
            <a:avLst/>
          </a:prstGeom>
          <a:noFill/>
          <a:ln/>
        </p:spPr>
        <p:txBody>
          <a:bodyPr wrap="square" lIns="0" tIns="0" rIns="0" bIns="0" rtlCol="0" anchor="ctr"/>
          <a:lstStyle/>
          <a:p>
            <a:pPr indent="0" marL="0">
              <a:buNone/>
            </a:pPr>
            <a:pPr indent="0" marL="0">
              <a:buNone/>
            </a:pPr>
            <a:r>
              <a:rPr lang="en-US" sz="800" spc="120" kern="0" dirty="0" b="0">
                <a:solidFill>
                  <a:srgbClr val="E8B84B"/>
                </a:solidFill>
                <a:latin typeface="Geist Mono" pitchFamily="34" charset="0"/>
                <a:ea typeface="Geist Mono" pitchFamily="34" charset="-122"/>
                <a:cs typeface="Geist Mono" pitchFamily="34" charset="-120"/>
              </a:rPr>
              <a:t xml:space="preserve">●  </a:t>
            </a:r>
            <a:r>
              <a:rPr lang="en-US" sz="1100" spc="120" kern="0" dirty="0" b="0">
                <a:solidFill>
                  <a:srgbClr val="6A6D75"/>
                </a:solidFill>
                <a:latin typeface="Geist Mono" pitchFamily="34" charset="0"/>
                <a:ea typeface="Geist Mono" pitchFamily="34" charset="-122"/>
                <a:cs typeface="Geist Mono" pitchFamily="34" charset="-120"/>
              </a:rPr>
              <a:t>YOU ARE GIVEN A LOGIN, NOT A TUTORIAL</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3386582" cy="41148"/>
          </a:xfrm>
          <a:prstGeom prst="rect">
            <a:avLst/>
          </a:prstGeom>
          <a:solidFill>
            <a:srgbClr val="E8B84B"/>
          </a:solidFill>
          <a:ln/>
        </p:spPr>
      </p:sp>
      <p:sp>
        <p:nvSpPr>
          <p:cNvPr id="3" name="Text 1"/>
          <p:cNvSpPr/>
          <p:nvPr/>
        </p:nvSpPr>
        <p:spPr>
          <a:xfrm>
            <a:off x="841248" y="274320"/>
            <a:ext cx="5486400" cy="310896"/>
          </a:xfrm>
          <a:prstGeom prst="rect">
            <a:avLst/>
          </a:prstGeom>
          <a:noFill/>
          <a:ln/>
        </p:spPr>
        <p:txBody>
          <a:bodyPr wrap="square" lIns="0" tIns="0" rIns="0" bIns="0" rtlCol="0" anchor="ctr"/>
          <a:lstStyle/>
          <a:p>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F4F4F2"/>
                </a:solidFill>
                <a:latin typeface="Geist Mono" pitchFamily="34" charset="0"/>
                <a:ea typeface="Geist Mono" pitchFamily="34" charset="-122"/>
                <a:cs typeface="Geist Mono" pitchFamily="34" charset="-120"/>
              </a:rPr>
              <a:t>MS</a:t>
            </a:r>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6A6D75"/>
                </a:solidFill>
                <a:latin typeface="Geist Mono" pitchFamily="34" charset="0"/>
                <a:ea typeface="Geist Mono" pitchFamily="34" charset="-122"/>
                <a:cs typeface="Geist Mono" pitchFamily="34" charset="-120"/>
              </a:rPr>
              <a:t>  DU MENTORING</a:t>
            </a:r>
            <a:endParaRPr lang="en-US" sz="1100" dirty="0"/>
          </a:p>
        </p:txBody>
      </p:sp>
      <p:sp>
        <p:nvSpPr>
          <p:cNvPr id="4" name="Text 2"/>
          <p:cNvSpPr/>
          <p:nvPr/>
        </p:nvSpPr>
        <p:spPr>
          <a:xfrm>
            <a:off x="5864047" y="274320"/>
            <a:ext cx="5486400" cy="310896"/>
          </a:xfrm>
          <a:prstGeom prst="rect">
            <a:avLst/>
          </a:prstGeom>
          <a:noFill/>
          <a:ln/>
        </p:spPr>
        <p:txBody>
          <a:bodyPr wrap="square" lIns="0" tIns="0" rIns="0" bIns="0" rtlCol="0" anchor="ctr"/>
          <a:lstStyle/>
          <a:p>
            <a:pPr algn="r" indent="0" marL="0">
              <a:buNone/>
            </a:pPr>
            <a:r>
              <a:rPr lang="en-US" sz="1000" spc="150" kern="0" dirty="0" b="0">
                <a:solidFill>
                  <a:srgbClr val="6A6D75"/>
                </a:solidFill>
                <a:latin typeface="Geist Mono" pitchFamily="34" charset="0"/>
                <a:ea typeface="Geist Mono" pitchFamily="34" charset="-122"/>
                <a:cs typeface="Geist Mono" pitchFamily="34" charset="-120"/>
              </a:rPr>
              <a:t>BONUS / PRACTICE LAB · AUTOMATION LAB</a:t>
            </a:r>
            <a:endParaRPr lang="en-US" sz="1000" dirty="0"/>
          </a:p>
        </p:txBody>
      </p:sp>
      <p:sp>
        <p:nvSpPr>
          <p:cNvPr id="5" name="Text 3"/>
          <p:cNvSpPr/>
          <p:nvPr/>
        </p:nvSpPr>
        <p:spPr>
          <a:xfrm>
            <a:off x="841248" y="6400800"/>
            <a:ext cx="7315200" cy="274320"/>
          </a:xfrm>
          <a:prstGeom prst="rect">
            <a:avLst/>
          </a:prstGeom>
          <a:noFill/>
          <a:ln/>
        </p:spPr>
        <p:txBody>
          <a:bodyPr wrap="square" lIns="0" tIns="0" rIns="0" bIns="0" rtlCol="0" anchor="ctr"/>
          <a:lstStyle/>
          <a:p>
            <a:pPr indent="0" marL="0">
              <a:buNone/>
            </a:pPr>
            <a:r>
              <a:rPr lang="en-US" sz="950" spc="100" kern="0" dirty="0" b="0">
                <a:solidFill>
                  <a:srgbClr val="6A6D75"/>
                </a:solidFill>
                <a:latin typeface="Geist Mono" pitchFamily="34" charset="0"/>
                <a:ea typeface="Geist Mono" pitchFamily="34" charset="-122"/>
                <a:cs typeface="Geist Mono" pitchFamily="34" charset="-120"/>
              </a:rPr>
              <a:t>v2026.1 · BONUS · THE AUTOMATION LAB</a:t>
            </a:r>
            <a:endParaRPr lang="en-US" sz="950" dirty="0"/>
          </a:p>
        </p:txBody>
      </p:sp>
      <p:sp>
        <p:nvSpPr>
          <p:cNvPr id="6" name="Text 4"/>
          <p:cNvSpPr/>
          <p:nvPr/>
        </p:nvSpPr>
        <p:spPr>
          <a:xfrm>
            <a:off x="8607247" y="6400800"/>
            <a:ext cx="2743200" cy="274320"/>
          </a:xfrm>
          <a:prstGeom prst="rect">
            <a:avLst/>
          </a:prstGeom>
          <a:noFill/>
          <a:ln/>
        </p:spPr>
        <p:txBody>
          <a:bodyPr wrap="square" lIns="0" tIns="0" rIns="0" bIns="0" rtlCol="0" anchor="ctr"/>
          <a:lstStyle/>
          <a:p>
            <a:pPr algn="r" indent="0" marL="0">
              <a:buNone/>
            </a:pPr>
            <a:pPr algn="r" indent="0" marL="0">
              <a:buNone/>
            </a:pPr>
            <a:r>
              <a:rPr lang="en-US" sz="1000" spc="100" kern="0" dirty="0" b="0">
                <a:solidFill>
                  <a:srgbClr val="F4F4F2"/>
                </a:solidFill>
                <a:latin typeface="Geist Mono" pitchFamily="34" charset="0"/>
                <a:ea typeface="Geist Mono" pitchFamily="34" charset="-122"/>
                <a:cs typeface="Geist Mono" pitchFamily="34" charset="-120"/>
              </a:rPr>
              <a:t>05</a:t>
            </a:r>
            <a:r>
              <a:rPr lang="en-US" sz="1000" spc="100" kern="0" dirty="0" b="0">
                <a:solidFill>
                  <a:srgbClr val="6A6D75"/>
                </a:solidFill>
                <a:latin typeface="Geist Mono" pitchFamily="34" charset="0"/>
                <a:ea typeface="Geist Mono" pitchFamily="34" charset="-122"/>
                <a:cs typeface="Geist Mono" pitchFamily="34" charset="-120"/>
              </a:rPr>
              <a:t xml:space="preserve"> / 18</a:t>
            </a:r>
            <a:endParaRPr lang="en-US" sz="1000" dirty="0"/>
          </a:p>
        </p:txBody>
      </p:sp>
      <p:sp>
        <p:nvSpPr>
          <p:cNvPr id="7" name="Text 5"/>
          <p:cNvSpPr/>
          <p:nvPr/>
        </p:nvSpPr>
        <p:spPr>
          <a:xfrm>
            <a:off x="841248" y="1371600"/>
            <a:ext cx="10509199" cy="310896"/>
          </a:xfrm>
          <a:prstGeom prst="rect">
            <a:avLst/>
          </a:prstGeom>
          <a:noFill/>
          <a:ln/>
        </p:spPr>
        <p:txBody>
          <a:bodyPr wrap="square" lIns="0" tIns="0" rIns="0" bIns="0" rtlCol="0" anchor="ctr"/>
          <a:lstStyle/>
          <a:p>
            <a:pPr indent="0" marL="0">
              <a:buNone/>
            </a:pPr>
            <a:pPr indent="0" marL="0">
              <a:buNone/>
            </a:pPr>
            <a:pPr indent="0" marL="0">
              <a:buNone/>
            </a:pPr>
            <a:r>
              <a:rPr lang="en-US" sz="1250" spc="200" kern="0" dirty="0" b="0">
                <a:solidFill>
                  <a:srgbClr val="9B9EA6"/>
                </a:solidFill>
                <a:latin typeface="Geist Mono" pitchFamily="34" charset="0"/>
                <a:ea typeface="Geist Mono" pitchFamily="34" charset="-122"/>
                <a:cs typeface="Geist Mono" pitchFamily="34" charset="-120"/>
              </a:rPr>
              <a:t>— 02.1</a:t>
            </a:r>
            <a:r>
              <a:rPr lang="en-US" sz="1250" spc="200" kern="0" dirty="0" b="0">
                <a:solidFill>
                  <a:srgbClr val="6A6D75"/>
                </a:solidFill>
                <a:latin typeface="Geist Mono" pitchFamily="34" charset="0"/>
                <a:ea typeface="Geist Mono" pitchFamily="34" charset="-122"/>
                <a:cs typeface="Geist Mono" pitchFamily="34" charset="-120"/>
              </a:rPr>
              <a:t xml:space="preserve">   /   </a:t>
            </a:r>
            <a:r>
              <a:rPr lang="en-US" sz="1250" spc="200" kern="0" dirty="0" b="0">
                <a:solidFill>
                  <a:srgbClr val="9B9EA6"/>
                </a:solidFill>
                <a:latin typeface="Geist Mono" pitchFamily="34" charset="0"/>
                <a:ea typeface="Geist Mono" pitchFamily="34" charset="-122"/>
                <a:cs typeface="Geist Mono" pitchFamily="34" charset="-120"/>
              </a:rPr>
              <a:t>THREE WAYS IN</a:t>
            </a:r>
            <a:endParaRPr lang="en-US" sz="1250" dirty="0"/>
          </a:p>
        </p:txBody>
      </p:sp>
      <p:sp>
        <p:nvSpPr>
          <p:cNvPr id="8" name="Text 6"/>
          <p:cNvSpPr/>
          <p:nvPr/>
        </p:nvSpPr>
        <p:spPr>
          <a:xfrm>
            <a:off x="841248" y="1828800"/>
            <a:ext cx="10509199" cy="1371600"/>
          </a:xfrm>
          <a:prstGeom prst="rect">
            <a:avLst/>
          </a:prstGeom>
          <a:noFill/>
          <a:ln/>
        </p:spPr>
        <p:txBody>
          <a:bodyPr wrap="square" lIns="0" tIns="0" rIns="0" bIns="0" rtlCol="0" anchor="t"/>
          <a:lstStyle/>
          <a:p>
            <a:pPr indent="0" marL="0">
              <a:lnSpc>
                <a:spcPct val="102000"/>
              </a:lnSpc>
              <a:buNone/>
            </a:pPr>
            <a:pPr indent="0" marL="0">
              <a:lnSpc>
                <a:spcPct val="102000"/>
              </a:lnSpc>
              <a:buNone/>
            </a:pPr>
            <a:r>
              <a:rPr lang="en-US" sz="3200" b="1" dirty="0">
                <a:solidFill>
                  <a:srgbClr val="F4F4F2"/>
                </a:solidFill>
                <a:latin typeface="Geist" pitchFamily="34" charset="0"/>
                <a:ea typeface="Geist" pitchFamily="34" charset="-122"/>
                <a:cs typeface="Geist" pitchFamily="34" charset="-120"/>
              </a:rPr>
              <a:t>Screens for people. API for bots. Paper for both.</a:t>
            </a:r>
            <a:endParaRPr lang="en-US" sz="3200" dirty="0"/>
          </a:p>
        </p:txBody>
      </p:sp>
      <p:sp>
        <p:nvSpPr>
          <p:cNvPr id="9" name="Shape 7"/>
          <p:cNvSpPr/>
          <p:nvPr/>
        </p:nvSpPr>
        <p:spPr>
          <a:xfrm>
            <a:off x="841248" y="3108960"/>
            <a:ext cx="3350666" cy="1371600"/>
          </a:xfrm>
          <a:prstGeom prst="roundRect">
            <a:avLst>
              <a:gd name="adj" fmla="val 4000"/>
            </a:avLst>
          </a:prstGeom>
          <a:solidFill>
            <a:srgbClr val="24210F"/>
          </a:solidFill>
          <a:ln w="12700">
            <a:solidFill>
              <a:srgbClr val="E8B84B"/>
            </a:solidFill>
            <a:prstDash val="solid"/>
          </a:ln>
        </p:spPr>
      </p:sp>
      <p:sp>
        <p:nvSpPr>
          <p:cNvPr id="10" name="Text 8"/>
          <p:cNvSpPr/>
          <p:nvPr/>
        </p:nvSpPr>
        <p:spPr>
          <a:xfrm>
            <a:off x="1042416" y="3273552"/>
            <a:ext cx="2984906" cy="274320"/>
          </a:xfrm>
          <a:prstGeom prst="rect">
            <a:avLst/>
          </a:prstGeom>
          <a:noFill/>
          <a:ln/>
        </p:spPr>
        <p:txBody>
          <a:bodyPr wrap="square" lIns="0" tIns="0" rIns="0" bIns="0" rtlCol="0" anchor="ctr"/>
          <a:lstStyle/>
          <a:p>
            <a:pPr indent="0" marL="0">
              <a:buNone/>
            </a:pPr>
            <a:r>
              <a:rPr lang="en-US" sz="1050" spc="150" kern="0" dirty="0" b="0">
                <a:solidFill>
                  <a:srgbClr val="E8B84B"/>
                </a:solidFill>
                <a:latin typeface="Geist Mono" pitchFamily="34" charset="0"/>
                <a:ea typeface="Geist Mono" pitchFamily="34" charset="-122"/>
                <a:cs typeface="Geist Mono" pitchFamily="34" charset="-120"/>
              </a:rPr>
              <a:t>SCREENS</a:t>
            </a:r>
            <a:endParaRPr lang="en-US" sz="1050" dirty="0"/>
          </a:p>
        </p:txBody>
      </p:sp>
      <p:sp>
        <p:nvSpPr>
          <p:cNvPr id="11" name="Text 9"/>
          <p:cNvSpPr/>
          <p:nvPr/>
        </p:nvSpPr>
        <p:spPr>
          <a:xfrm>
            <a:off x="1042416" y="3566160"/>
            <a:ext cx="2948330" cy="411480"/>
          </a:xfrm>
          <a:prstGeom prst="rect">
            <a:avLst/>
          </a:prstGeom>
          <a:noFill/>
          <a:ln/>
        </p:spPr>
        <p:txBody>
          <a:bodyPr wrap="square" lIns="0" tIns="0" rIns="0" bIns="0" rtlCol="0" anchor="ctr"/>
          <a:lstStyle/>
          <a:p>
            <a:pPr indent="0" marL="0">
              <a:buNone/>
            </a:pPr>
            <a:r>
              <a:rPr lang="en-US" sz="1700" b="1" dirty="0">
                <a:solidFill>
                  <a:srgbClr val="F4F4F2"/>
                </a:solidFill>
                <a:latin typeface="Geist" pitchFamily="34" charset="0"/>
                <a:ea typeface="Geist" pitchFamily="34" charset="-122"/>
                <a:cs typeface="Geist" pitchFamily="34" charset="-120"/>
              </a:rPr>
              <a:t>Click it through</a:t>
            </a:r>
            <a:endParaRPr lang="en-US" sz="1700" dirty="0"/>
          </a:p>
        </p:txBody>
      </p:sp>
      <p:sp>
        <p:nvSpPr>
          <p:cNvPr id="12" name="Text 10"/>
          <p:cNvSpPr/>
          <p:nvPr/>
        </p:nvSpPr>
        <p:spPr>
          <a:xfrm>
            <a:off x="1042416" y="4023360"/>
            <a:ext cx="2948330" cy="320040"/>
          </a:xfrm>
          <a:prstGeom prst="rect">
            <a:avLst/>
          </a:prstGeom>
          <a:noFill/>
          <a:ln/>
        </p:spPr>
        <p:txBody>
          <a:bodyPr wrap="square" lIns="0" tIns="0" rIns="0" bIns="0" rtlCol="0" anchor="ctr"/>
          <a:lstStyle/>
          <a:p>
            <a:pPr indent="0" marL="0">
              <a:buNone/>
            </a:pPr>
            <a:r>
              <a:rPr lang="en-US" sz="1000" dirty="0" b="0">
                <a:solidFill>
                  <a:srgbClr val="9B9EA6"/>
                </a:solidFill>
                <a:latin typeface="Geist Mono" pitchFamily="34" charset="0"/>
                <a:ea typeface="Geist Mono" pitchFamily="34" charset="-122"/>
                <a:cs typeface="Geist Mono" pitchFamily="34" charset="-120"/>
              </a:rPr>
              <a:t>queues · forms · decisions</a:t>
            </a:r>
            <a:endParaRPr lang="en-US" sz="1000" dirty="0"/>
          </a:p>
        </p:txBody>
      </p:sp>
      <p:sp>
        <p:nvSpPr>
          <p:cNvPr id="13" name="Shape 11"/>
          <p:cNvSpPr/>
          <p:nvPr/>
        </p:nvSpPr>
        <p:spPr>
          <a:xfrm>
            <a:off x="4420514" y="3108960"/>
            <a:ext cx="3350666" cy="1371600"/>
          </a:xfrm>
          <a:prstGeom prst="roundRect">
            <a:avLst>
              <a:gd name="adj" fmla="val 4000"/>
            </a:avLst>
          </a:prstGeom>
          <a:solidFill>
            <a:srgbClr val="16171D"/>
          </a:solidFill>
          <a:ln w="9525">
            <a:solidFill>
              <a:srgbClr val="2C2D34"/>
            </a:solidFill>
            <a:prstDash val="solid"/>
          </a:ln>
        </p:spPr>
      </p:sp>
      <p:sp>
        <p:nvSpPr>
          <p:cNvPr id="14" name="Text 12"/>
          <p:cNvSpPr/>
          <p:nvPr/>
        </p:nvSpPr>
        <p:spPr>
          <a:xfrm>
            <a:off x="4621682" y="3273552"/>
            <a:ext cx="2984906" cy="274320"/>
          </a:xfrm>
          <a:prstGeom prst="rect">
            <a:avLst/>
          </a:prstGeom>
          <a:noFill/>
          <a:ln/>
        </p:spPr>
        <p:txBody>
          <a:bodyPr wrap="square" lIns="0" tIns="0" rIns="0" bIns="0" rtlCol="0" anchor="ctr"/>
          <a:lstStyle/>
          <a:p>
            <a:pPr indent="0" marL="0">
              <a:buNone/>
            </a:pPr>
            <a:r>
              <a:rPr lang="en-US" sz="1050" spc="150" kern="0" dirty="0" b="0">
                <a:solidFill>
                  <a:srgbClr val="E8B84B"/>
                </a:solidFill>
                <a:latin typeface="Geist Mono" pitchFamily="34" charset="0"/>
                <a:ea typeface="Geist Mono" pitchFamily="34" charset="-122"/>
                <a:cs typeface="Geist Mono" pitchFamily="34" charset="-120"/>
              </a:rPr>
              <a:t>API</a:t>
            </a:r>
            <a:endParaRPr lang="en-US" sz="1050" dirty="0"/>
          </a:p>
        </p:txBody>
      </p:sp>
      <p:sp>
        <p:nvSpPr>
          <p:cNvPr id="15" name="Text 13"/>
          <p:cNvSpPr/>
          <p:nvPr/>
        </p:nvSpPr>
        <p:spPr>
          <a:xfrm>
            <a:off x="4621682" y="3566160"/>
            <a:ext cx="2948330" cy="411480"/>
          </a:xfrm>
          <a:prstGeom prst="rect">
            <a:avLst/>
          </a:prstGeom>
          <a:noFill/>
          <a:ln/>
        </p:spPr>
        <p:txBody>
          <a:bodyPr wrap="square" lIns="0" tIns="0" rIns="0" bIns="0" rtlCol="0" anchor="ctr"/>
          <a:lstStyle/>
          <a:p>
            <a:pPr indent="0" marL="0">
              <a:buNone/>
            </a:pPr>
            <a:r>
              <a:rPr lang="en-US" sz="1700" b="1" dirty="0">
                <a:solidFill>
                  <a:srgbClr val="F4F4F2"/>
                </a:solidFill>
                <a:latin typeface="Geist" pitchFamily="34" charset="0"/>
                <a:ea typeface="Geist" pitchFamily="34" charset="-122"/>
                <a:cs typeface="Geist" pitchFamily="34" charset="-120"/>
              </a:rPr>
              <a:t>Drive it headless</a:t>
            </a:r>
            <a:endParaRPr lang="en-US" sz="1700" dirty="0"/>
          </a:p>
        </p:txBody>
      </p:sp>
      <p:sp>
        <p:nvSpPr>
          <p:cNvPr id="16" name="Text 14"/>
          <p:cNvSpPr/>
          <p:nvPr/>
        </p:nvSpPr>
        <p:spPr>
          <a:xfrm>
            <a:off x="4621682" y="4023360"/>
            <a:ext cx="2948330" cy="320040"/>
          </a:xfrm>
          <a:prstGeom prst="rect">
            <a:avLst/>
          </a:prstGeom>
          <a:noFill/>
          <a:ln/>
        </p:spPr>
        <p:txBody>
          <a:bodyPr wrap="square" lIns="0" tIns="0" rIns="0" bIns="0" rtlCol="0" anchor="ctr"/>
          <a:lstStyle/>
          <a:p>
            <a:pPr indent="0" marL="0">
              <a:buNone/>
            </a:pPr>
            <a:r>
              <a:rPr lang="en-US" sz="1000" dirty="0" b="0">
                <a:solidFill>
                  <a:srgbClr val="9B9EA6"/>
                </a:solidFill>
                <a:latin typeface="Geist Mono" pitchFamily="34" charset="0"/>
                <a:ea typeface="Geist Mono" pitchFamily="34" charset="-122"/>
                <a:cs typeface="Geist Mono" pitchFamily="34" charset="-120"/>
              </a:rPr>
              <a:t>REST · tokens · work items</a:t>
            </a:r>
            <a:endParaRPr lang="en-US" sz="1000" dirty="0"/>
          </a:p>
        </p:txBody>
      </p:sp>
      <p:sp>
        <p:nvSpPr>
          <p:cNvPr id="17" name="Shape 15"/>
          <p:cNvSpPr/>
          <p:nvPr/>
        </p:nvSpPr>
        <p:spPr>
          <a:xfrm>
            <a:off x="7999781" y="3108960"/>
            <a:ext cx="3350666" cy="1371600"/>
          </a:xfrm>
          <a:prstGeom prst="roundRect">
            <a:avLst>
              <a:gd name="adj" fmla="val 4000"/>
            </a:avLst>
          </a:prstGeom>
          <a:solidFill>
            <a:srgbClr val="16171D"/>
          </a:solidFill>
          <a:ln w="9525">
            <a:solidFill>
              <a:srgbClr val="2C2D34"/>
            </a:solidFill>
            <a:prstDash val="solid"/>
          </a:ln>
        </p:spPr>
      </p:sp>
      <p:sp>
        <p:nvSpPr>
          <p:cNvPr id="18" name="Text 16"/>
          <p:cNvSpPr/>
          <p:nvPr/>
        </p:nvSpPr>
        <p:spPr>
          <a:xfrm>
            <a:off x="8200949" y="3273552"/>
            <a:ext cx="2984906" cy="274320"/>
          </a:xfrm>
          <a:prstGeom prst="rect">
            <a:avLst/>
          </a:prstGeom>
          <a:noFill/>
          <a:ln/>
        </p:spPr>
        <p:txBody>
          <a:bodyPr wrap="square" lIns="0" tIns="0" rIns="0" bIns="0" rtlCol="0" anchor="ctr"/>
          <a:lstStyle/>
          <a:p>
            <a:pPr indent="0" marL="0">
              <a:buNone/>
            </a:pPr>
            <a:r>
              <a:rPr lang="en-US" sz="1050" spc="150" kern="0" dirty="0" b="0">
                <a:solidFill>
                  <a:srgbClr val="E8B84B"/>
                </a:solidFill>
                <a:latin typeface="Geist Mono" pitchFamily="34" charset="0"/>
                <a:ea typeface="Geist Mono" pitchFamily="34" charset="-122"/>
                <a:cs typeface="Geist Mono" pitchFamily="34" charset="-120"/>
              </a:rPr>
              <a:t>DOCUMENTS</a:t>
            </a:r>
            <a:endParaRPr lang="en-US" sz="1050" dirty="0"/>
          </a:p>
        </p:txBody>
      </p:sp>
      <p:sp>
        <p:nvSpPr>
          <p:cNvPr id="19" name="Text 17"/>
          <p:cNvSpPr/>
          <p:nvPr/>
        </p:nvSpPr>
        <p:spPr>
          <a:xfrm>
            <a:off x="8200949" y="3566160"/>
            <a:ext cx="2948330" cy="411480"/>
          </a:xfrm>
          <a:prstGeom prst="rect">
            <a:avLst/>
          </a:prstGeom>
          <a:noFill/>
          <a:ln/>
        </p:spPr>
        <p:txBody>
          <a:bodyPr wrap="square" lIns="0" tIns="0" rIns="0" bIns="0" rtlCol="0" anchor="ctr"/>
          <a:lstStyle/>
          <a:p>
            <a:pPr indent="0" marL="0">
              <a:buNone/>
            </a:pPr>
            <a:r>
              <a:rPr lang="en-US" sz="1700" b="1" dirty="0">
                <a:solidFill>
                  <a:srgbClr val="F4F4F2"/>
                </a:solidFill>
                <a:latin typeface="Geist" pitchFamily="34" charset="0"/>
                <a:ea typeface="Geist" pitchFamily="34" charset="-122"/>
                <a:cs typeface="Geist" pitchFamily="34" charset="-120"/>
              </a:rPr>
              <a:t>Read the paper</a:t>
            </a:r>
            <a:endParaRPr lang="en-US" sz="1700" dirty="0"/>
          </a:p>
        </p:txBody>
      </p:sp>
      <p:sp>
        <p:nvSpPr>
          <p:cNvPr id="20" name="Text 18"/>
          <p:cNvSpPr/>
          <p:nvPr/>
        </p:nvSpPr>
        <p:spPr>
          <a:xfrm>
            <a:off x="8200949" y="4023360"/>
            <a:ext cx="2948330" cy="320040"/>
          </a:xfrm>
          <a:prstGeom prst="rect">
            <a:avLst/>
          </a:prstGeom>
          <a:noFill/>
          <a:ln/>
        </p:spPr>
        <p:txBody>
          <a:bodyPr wrap="square" lIns="0" tIns="0" rIns="0" bIns="0" rtlCol="0" anchor="ctr"/>
          <a:lstStyle/>
          <a:p>
            <a:pPr indent="0" marL="0">
              <a:buNone/>
            </a:pPr>
            <a:r>
              <a:rPr lang="en-US" sz="1000" dirty="0" b="0">
                <a:solidFill>
                  <a:srgbClr val="9B9EA6"/>
                </a:solidFill>
                <a:latin typeface="Geist Mono" pitchFamily="34" charset="0"/>
                <a:ea typeface="Geist Mono" pitchFamily="34" charset="-122"/>
                <a:cs typeface="Geist Mono" pitchFamily="34" charset="-120"/>
              </a:rPr>
              <a:t>PDF · five levels · Arabic</a:t>
            </a:r>
            <a:endParaRPr lang="en-US" sz="1000" dirty="0"/>
          </a:p>
        </p:txBody>
      </p:sp>
      <p:sp>
        <p:nvSpPr>
          <p:cNvPr id="21" name="Shape 19"/>
          <p:cNvSpPr/>
          <p:nvPr/>
        </p:nvSpPr>
        <p:spPr>
          <a:xfrm>
            <a:off x="841248" y="5056632"/>
            <a:ext cx="27432" cy="420624"/>
          </a:xfrm>
          <a:prstGeom prst="rect">
            <a:avLst/>
          </a:prstGeom>
          <a:solidFill>
            <a:srgbClr val="E8B84B"/>
          </a:solidFill>
          <a:ln/>
        </p:spPr>
      </p:sp>
      <p:sp>
        <p:nvSpPr>
          <p:cNvPr id="22" name="Text 20"/>
          <p:cNvSpPr/>
          <p:nvPr/>
        </p:nvSpPr>
        <p:spPr>
          <a:xfrm>
            <a:off x="1042416" y="4974336"/>
            <a:ext cx="10040112" cy="566928"/>
          </a:xfrm>
          <a:prstGeom prst="rect">
            <a:avLst/>
          </a:prstGeom>
          <a:noFill/>
          <a:ln/>
        </p:spPr>
        <p:txBody>
          <a:bodyPr wrap="square" lIns="0" tIns="0" rIns="0" bIns="0" rtlCol="0" anchor="ctr"/>
          <a:lstStyle/>
          <a:p>
            <a:pPr indent="0" marL="0">
              <a:lnSpc>
                <a:spcPct val="130000"/>
              </a:lnSpc>
              <a:buNone/>
            </a:pPr>
            <a:r>
              <a:rPr lang="en-US" sz="1200" dirty="0" b="0">
                <a:solidFill>
                  <a:srgbClr val="9B9EA6"/>
                </a:solidFill>
                <a:latin typeface="Geist Mono" pitchFamily="34" charset="0"/>
                <a:ea typeface="Geist Mono" pitchFamily="34" charset="-122"/>
                <a:cs typeface="Geist Mono" pitchFamily="34" charset="-120"/>
              </a:rPr>
              <a:t>The scoring is the same either way — the lab does not care whether a human or a robot did the work.</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063898" cy="41148"/>
          </a:xfrm>
          <a:prstGeom prst="rect">
            <a:avLst/>
          </a:prstGeom>
          <a:solidFill>
            <a:srgbClr val="E8B84B"/>
          </a:solidFill>
          <a:ln/>
        </p:spPr>
      </p:sp>
      <p:sp>
        <p:nvSpPr>
          <p:cNvPr id="3" name="Text 1"/>
          <p:cNvSpPr/>
          <p:nvPr/>
        </p:nvSpPr>
        <p:spPr>
          <a:xfrm>
            <a:off x="841248" y="274320"/>
            <a:ext cx="5486400" cy="310896"/>
          </a:xfrm>
          <a:prstGeom prst="rect">
            <a:avLst/>
          </a:prstGeom>
          <a:noFill/>
          <a:ln/>
        </p:spPr>
        <p:txBody>
          <a:bodyPr wrap="square" lIns="0" tIns="0" rIns="0" bIns="0" rtlCol="0" anchor="ctr"/>
          <a:lstStyle/>
          <a:p>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F4F4F2"/>
                </a:solidFill>
                <a:latin typeface="Geist Mono" pitchFamily="34" charset="0"/>
                <a:ea typeface="Geist Mono" pitchFamily="34" charset="-122"/>
                <a:cs typeface="Geist Mono" pitchFamily="34" charset="-120"/>
              </a:rPr>
              <a:t>MS</a:t>
            </a:r>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6A6D75"/>
                </a:solidFill>
                <a:latin typeface="Geist Mono" pitchFamily="34" charset="0"/>
                <a:ea typeface="Geist Mono" pitchFamily="34" charset="-122"/>
                <a:cs typeface="Geist Mono" pitchFamily="34" charset="-120"/>
              </a:rPr>
              <a:t>  DU MENTORING</a:t>
            </a:r>
            <a:endParaRPr lang="en-US" sz="1100" dirty="0"/>
          </a:p>
        </p:txBody>
      </p:sp>
      <p:sp>
        <p:nvSpPr>
          <p:cNvPr id="4" name="Text 2"/>
          <p:cNvSpPr/>
          <p:nvPr/>
        </p:nvSpPr>
        <p:spPr>
          <a:xfrm>
            <a:off x="5864047" y="274320"/>
            <a:ext cx="5486400" cy="310896"/>
          </a:xfrm>
          <a:prstGeom prst="rect">
            <a:avLst/>
          </a:prstGeom>
          <a:noFill/>
          <a:ln/>
        </p:spPr>
        <p:txBody>
          <a:bodyPr wrap="square" lIns="0" tIns="0" rIns="0" bIns="0" rtlCol="0" anchor="ctr"/>
          <a:lstStyle/>
          <a:p>
            <a:pPr algn="r" indent="0" marL="0">
              <a:buNone/>
            </a:pPr>
            <a:r>
              <a:rPr lang="en-US" sz="1000" spc="150" kern="0" dirty="0" b="0">
                <a:solidFill>
                  <a:srgbClr val="6A6D75"/>
                </a:solidFill>
                <a:latin typeface="Geist Mono" pitchFamily="34" charset="0"/>
                <a:ea typeface="Geist Mono" pitchFamily="34" charset="-122"/>
                <a:cs typeface="Geist Mono" pitchFamily="34" charset="-120"/>
              </a:rPr>
              <a:t>BONUS / PRACTICE LAB · AUTOMATION LAB</a:t>
            </a:r>
            <a:endParaRPr lang="en-US" sz="1000" dirty="0"/>
          </a:p>
        </p:txBody>
      </p:sp>
      <p:sp>
        <p:nvSpPr>
          <p:cNvPr id="5" name="Text 3"/>
          <p:cNvSpPr/>
          <p:nvPr/>
        </p:nvSpPr>
        <p:spPr>
          <a:xfrm>
            <a:off x="841248" y="6400800"/>
            <a:ext cx="7315200" cy="274320"/>
          </a:xfrm>
          <a:prstGeom prst="rect">
            <a:avLst/>
          </a:prstGeom>
          <a:noFill/>
          <a:ln/>
        </p:spPr>
        <p:txBody>
          <a:bodyPr wrap="square" lIns="0" tIns="0" rIns="0" bIns="0" rtlCol="0" anchor="ctr"/>
          <a:lstStyle/>
          <a:p>
            <a:pPr indent="0" marL="0">
              <a:buNone/>
            </a:pPr>
            <a:r>
              <a:rPr lang="en-US" sz="950" spc="100" kern="0" dirty="0" b="0">
                <a:solidFill>
                  <a:srgbClr val="6A6D75"/>
                </a:solidFill>
                <a:latin typeface="Geist Mono" pitchFamily="34" charset="0"/>
                <a:ea typeface="Geist Mono" pitchFamily="34" charset="-122"/>
                <a:cs typeface="Geist Mono" pitchFamily="34" charset="-120"/>
              </a:rPr>
              <a:t>v2026.1 · BONUS · THE AUTOMATION LAB</a:t>
            </a:r>
            <a:endParaRPr lang="en-US" sz="950" dirty="0"/>
          </a:p>
        </p:txBody>
      </p:sp>
      <p:sp>
        <p:nvSpPr>
          <p:cNvPr id="6" name="Text 4"/>
          <p:cNvSpPr/>
          <p:nvPr/>
        </p:nvSpPr>
        <p:spPr>
          <a:xfrm>
            <a:off x="8607247" y="6400800"/>
            <a:ext cx="2743200" cy="274320"/>
          </a:xfrm>
          <a:prstGeom prst="rect">
            <a:avLst/>
          </a:prstGeom>
          <a:noFill/>
          <a:ln/>
        </p:spPr>
        <p:txBody>
          <a:bodyPr wrap="square" lIns="0" tIns="0" rIns="0" bIns="0" rtlCol="0" anchor="ctr"/>
          <a:lstStyle/>
          <a:p>
            <a:pPr algn="r" indent="0" marL="0">
              <a:buNone/>
            </a:pPr>
            <a:pPr algn="r" indent="0" marL="0">
              <a:buNone/>
            </a:pPr>
            <a:r>
              <a:rPr lang="en-US" sz="1000" spc="100" kern="0" dirty="0" b="0">
                <a:solidFill>
                  <a:srgbClr val="F4F4F2"/>
                </a:solidFill>
                <a:latin typeface="Geist Mono" pitchFamily="34" charset="0"/>
                <a:ea typeface="Geist Mono" pitchFamily="34" charset="-122"/>
                <a:cs typeface="Geist Mono" pitchFamily="34" charset="-120"/>
              </a:rPr>
              <a:t>06</a:t>
            </a:r>
            <a:r>
              <a:rPr lang="en-US" sz="1000" spc="100" kern="0" dirty="0" b="0">
                <a:solidFill>
                  <a:srgbClr val="6A6D75"/>
                </a:solidFill>
                <a:latin typeface="Geist Mono" pitchFamily="34" charset="0"/>
                <a:ea typeface="Geist Mono" pitchFamily="34" charset="-122"/>
                <a:cs typeface="Geist Mono" pitchFamily="34" charset="-120"/>
              </a:rPr>
              <a:t xml:space="preserve"> / 18</a:t>
            </a:r>
            <a:endParaRPr lang="en-US" sz="1000" dirty="0"/>
          </a:p>
        </p:txBody>
      </p:sp>
      <p:sp>
        <p:nvSpPr>
          <p:cNvPr id="7" name="Text 5"/>
          <p:cNvSpPr/>
          <p:nvPr/>
        </p:nvSpPr>
        <p:spPr>
          <a:xfrm>
            <a:off x="841248" y="1371600"/>
            <a:ext cx="10509199" cy="310896"/>
          </a:xfrm>
          <a:prstGeom prst="rect">
            <a:avLst/>
          </a:prstGeom>
          <a:noFill/>
          <a:ln/>
        </p:spPr>
        <p:txBody>
          <a:bodyPr wrap="square" lIns="0" tIns="0" rIns="0" bIns="0" rtlCol="0" anchor="ctr"/>
          <a:lstStyle/>
          <a:p>
            <a:pPr indent="0" marL="0">
              <a:buNone/>
            </a:pPr>
            <a:pPr indent="0" marL="0">
              <a:buNone/>
            </a:pPr>
            <a:pPr indent="0" marL="0">
              <a:buNone/>
            </a:pPr>
            <a:r>
              <a:rPr lang="en-US" sz="1250" spc="200" kern="0" dirty="0" b="0">
                <a:solidFill>
                  <a:srgbClr val="9B9EA6"/>
                </a:solidFill>
                <a:latin typeface="Geist Mono" pitchFamily="34" charset="0"/>
                <a:ea typeface="Geist Mono" pitchFamily="34" charset="-122"/>
                <a:cs typeface="Geist Mono" pitchFamily="34" charset="-120"/>
              </a:rPr>
              <a:t>— 03</a:t>
            </a:r>
            <a:r>
              <a:rPr lang="en-US" sz="1250" spc="200" kern="0" dirty="0" b="0">
                <a:solidFill>
                  <a:srgbClr val="6A6D75"/>
                </a:solidFill>
                <a:latin typeface="Geist Mono" pitchFamily="34" charset="0"/>
                <a:ea typeface="Geist Mono" pitchFamily="34" charset="-122"/>
                <a:cs typeface="Geist Mono" pitchFamily="34" charset="-120"/>
              </a:rPr>
              <a:t xml:space="preserve">   /   </a:t>
            </a:r>
            <a:r>
              <a:rPr lang="en-US" sz="1250" spc="200" kern="0" dirty="0" b="0">
                <a:solidFill>
                  <a:srgbClr val="9B9EA6"/>
                </a:solidFill>
                <a:latin typeface="Geist Mono" pitchFamily="34" charset="0"/>
                <a:ea typeface="Geist Mono" pitchFamily="34" charset="-122"/>
                <a:cs typeface="Geist Mono" pitchFamily="34" charset="-120"/>
              </a:rPr>
              <a:t>THE PROBLEM</a:t>
            </a:r>
            <a:endParaRPr lang="en-US" sz="1250" dirty="0"/>
          </a:p>
        </p:txBody>
      </p:sp>
      <p:sp>
        <p:nvSpPr>
          <p:cNvPr id="8" name="Text 6"/>
          <p:cNvSpPr/>
          <p:nvPr/>
        </p:nvSpPr>
        <p:spPr>
          <a:xfrm>
            <a:off x="841248" y="1965960"/>
            <a:ext cx="10509199" cy="1737360"/>
          </a:xfrm>
          <a:prstGeom prst="rect">
            <a:avLst/>
          </a:prstGeom>
          <a:noFill/>
          <a:ln/>
        </p:spPr>
        <p:txBody>
          <a:bodyPr wrap="square" lIns="0" tIns="0" rIns="0" bIns="0" rtlCol="0" anchor="t"/>
          <a:lstStyle/>
          <a:p>
            <a:pPr indent="0" marL="0">
              <a:lnSpc>
                <a:spcPct val="102000"/>
              </a:lnSpc>
              <a:buNone/>
            </a:pPr>
            <a:pPr indent="0" marL="0">
              <a:lnSpc>
                <a:spcPct val="102000"/>
              </a:lnSpc>
              <a:buNone/>
            </a:pPr>
            <a:pPr indent="0" marL="0">
              <a:lnSpc>
                <a:spcPct val="102000"/>
              </a:lnSpc>
              <a:buNone/>
            </a:pPr>
            <a:r>
              <a:rPr lang="en-US" sz="4000" b="1" dirty="0">
                <a:solidFill>
                  <a:srgbClr val="F4F4F2"/>
                </a:solidFill>
                <a:latin typeface="Geist" pitchFamily="34" charset="0"/>
                <a:ea typeface="Geist" pitchFamily="34" charset="-122"/>
                <a:cs typeface="Geist" pitchFamily="34" charset="-120"/>
              </a:rPr>
              <a:t>Clean data teaches you nothing.</a:t>
            </a:r>
            <a:endParaRPr lang="en-US" sz="4000" dirty="0"/>
          </a:p>
        </p:txBody>
      </p:sp>
      <p:sp>
        <p:nvSpPr>
          <p:cNvPr id="9" name="Shape 7"/>
          <p:cNvSpPr/>
          <p:nvPr/>
        </p:nvSpPr>
        <p:spPr>
          <a:xfrm>
            <a:off x="841248" y="3794760"/>
            <a:ext cx="10509199" cy="0"/>
          </a:xfrm>
          <a:prstGeom prst="line">
            <a:avLst/>
          </a:prstGeom>
          <a:noFill/>
          <a:ln w="9525">
            <a:solidFill>
              <a:srgbClr val="2C2D34"/>
            </a:solidFill>
            <a:prstDash val="solid"/>
          </a:ln>
        </p:spPr>
      </p:sp>
      <p:sp>
        <p:nvSpPr>
          <p:cNvPr id="10" name="Text 8"/>
          <p:cNvSpPr/>
          <p:nvPr/>
        </p:nvSpPr>
        <p:spPr>
          <a:xfrm>
            <a:off x="841248" y="3913632"/>
            <a:ext cx="640080" cy="530352"/>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a:t>
            </a:r>
            <a:endParaRPr lang="en-US" sz="1250" dirty="0"/>
          </a:p>
        </p:txBody>
      </p:sp>
      <p:sp>
        <p:nvSpPr>
          <p:cNvPr id="11" name="Text 9"/>
          <p:cNvSpPr/>
          <p:nvPr/>
        </p:nvSpPr>
        <p:spPr>
          <a:xfrm>
            <a:off x="1554480" y="3895344"/>
            <a:ext cx="9795967" cy="566928"/>
          </a:xfrm>
          <a:prstGeom prst="rect">
            <a:avLst/>
          </a:prstGeom>
          <a:noFill/>
          <a:ln/>
        </p:spPr>
        <p:txBody>
          <a:bodyPr wrap="square" lIns="0" tIns="0" rIns="0" bIns="0" rtlCol="0" anchor="t"/>
          <a:lstStyle/>
          <a:p>
            <a:pPr indent="0" marL="0">
              <a:lnSpc>
                <a:spcPct val="112000"/>
              </a:lnSpc>
              <a:buNone/>
            </a:pPr>
            <a:pPr indent="0" marL="0">
              <a:lnSpc>
                <a:spcPct val="112000"/>
              </a:lnSpc>
              <a:buNone/>
            </a:pPr>
            <a:r>
              <a:rPr lang="en-US" sz="1550" dirty="0" b="0">
                <a:solidFill>
                  <a:srgbClr val="9B9EA6"/>
                </a:solidFill>
                <a:latin typeface="Geist" pitchFamily="34" charset="0"/>
                <a:ea typeface="Geist" pitchFamily="34" charset="-122"/>
                <a:cs typeface="Geist" pitchFamily="34" charset="-120"/>
              </a:rPr>
              <a:t>A tutorial invoice has every field where you expect it, spelled the way you expect.</a:t>
            </a:r>
            <a:endParaRPr lang="en-US" sz="1550" dirty="0"/>
          </a:p>
        </p:txBody>
      </p:sp>
      <p:sp>
        <p:nvSpPr>
          <p:cNvPr id="12" name="Shape 10"/>
          <p:cNvSpPr/>
          <p:nvPr/>
        </p:nvSpPr>
        <p:spPr>
          <a:xfrm>
            <a:off x="841248" y="4416552"/>
            <a:ext cx="10509199" cy="0"/>
          </a:xfrm>
          <a:prstGeom prst="line">
            <a:avLst/>
          </a:prstGeom>
          <a:noFill/>
          <a:ln w="9525">
            <a:solidFill>
              <a:srgbClr val="2C2D34"/>
            </a:solidFill>
            <a:prstDash val="solid"/>
          </a:ln>
        </p:spPr>
      </p:sp>
      <p:sp>
        <p:nvSpPr>
          <p:cNvPr id="13" name="Text 11"/>
          <p:cNvSpPr/>
          <p:nvPr/>
        </p:nvSpPr>
        <p:spPr>
          <a:xfrm>
            <a:off x="841248" y="4535424"/>
            <a:ext cx="640080" cy="530352"/>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a:t>
            </a:r>
            <a:endParaRPr lang="en-US" sz="1250" dirty="0"/>
          </a:p>
        </p:txBody>
      </p:sp>
      <p:sp>
        <p:nvSpPr>
          <p:cNvPr id="14" name="Text 12"/>
          <p:cNvSpPr/>
          <p:nvPr/>
        </p:nvSpPr>
        <p:spPr>
          <a:xfrm>
            <a:off x="1554480" y="4517136"/>
            <a:ext cx="9795967" cy="566928"/>
          </a:xfrm>
          <a:prstGeom prst="rect">
            <a:avLst/>
          </a:prstGeom>
          <a:noFill/>
          <a:ln/>
        </p:spPr>
        <p:txBody>
          <a:bodyPr wrap="square" lIns="0" tIns="0" rIns="0" bIns="0" rtlCol="0" anchor="t"/>
          <a:lstStyle/>
          <a:p>
            <a:pPr indent="0" marL="0">
              <a:lnSpc>
                <a:spcPct val="112000"/>
              </a:lnSpc>
              <a:buNone/>
            </a:pPr>
            <a:r>
              <a:rPr lang="en-US" sz="1550" dirty="0" b="0">
                <a:solidFill>
                  <a:srgbClr val="9B9EA6"/>
                </a:solidFill>
                <a:latin typeface="Geist" pitchFamily="34" charset="0"/>
                <a:ea typeface="Geist" pitchFamily="34" charset="-122"/>
                <a:cs typeface="Geist" pitchFamily="34" charset="-120"/>
              </a:rPr>
              <a:t xml:space="preserve">Production has a </a:t>
            </a:r>
            <a:r>
              <a:rPr lang="en-US" sz="1550" dirty="0" b="1">
                <a:solidFill>
                  <a:srgbClr val="F4F4F2"/>
                </a:solidFill>
                <a:latin typeface="Geist" pitchFamily="34" charset="0"/>
                <a:ea typeface="Geist" pitchFamily="34" charset="-122"/>
                <a:cs typeface="Geist" pitchFamily="34" charset="-120"/>
              </a:rPr>
              <a:t>photograph of a creased page</a:t>
            </a:r>
            <a:r>
              <a:rPr lang="en-US" sz="1550" dirty="0" b="0">
                <a:solidFill>
                  <a:srgbClr val="9B9EA6"/>
                </a:solidFill>
                <a:latin typeface="Geist" pitchFamily="34" charset="0"/>
                <a:ea typeface="Geist" pitchFamily="34" charset="-122"/>
                <a:cs typeface="Geist" pitchFamily="34" charset="-120"/>
              </a:rPr>
              <a:t>, in Arabic, with the total handwritten.</a:t>
            </a:r>
            <a:endParaRPr lang="en-US" sz="1550" dirty="0"/>
          </a:p>
        </p:txBody>
      </p:sp>
      <p:sp>
        <p:nvSpPr>
          <p:cNvPr id="15" name="Shape 13"/>
          <p:cNvSpPr/>
          <p:nvPr/>
        </p:nvSpPr>
        <p:spPr>
          <a:xfrm>
            <a:off x="841248" y="5038344"/>
            <a:ext cx="10509199" cy="0"/>
          </a:xfrm>
          <a:prstGeom prst="line">
            <a:avLst/>
          </a:prstGeom>
          <a:noFill/>
          <a:ln w="9525">
            <a:solidFill>
              <a:srgbClr val="2C2D34"/>
            </a:solidFill>
            <a:prstDash val="solid"/>
          </a:ln>
        </p:spPr>
      </p:sp>
      <p:sp>
        <p:nvSpPr>
          <p:cNvPr id="16" name="Text 14"/>
          <p:cNvSpPr/>
          <p:nvPr/>
        </p:nvSpPr>
        <p:spPr>
          <a:xfrm>
            <a:off x="841248" y="5157216"/>
            <a:ext cx="640080" cy="530352"/>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a:t>
            </a:r>
            <a:endParaRPr lang="en-US" sz="1250" dirty="0"/>
          </a:p>
        </p:txBody>
      </p:sp>
      <p:sp>
        <p:nvSpPr>
          <p:cNvPr id="17" name="Text 15"/>
          <p:cNvSpPr/>
          <p:nvPr/>
        </p:nvSpPr>
        <p:spPr>
          <a:xfrm>
            <a:off x="1554480" y="5138928"/>
            <a:ext cx="9795967" cy="566928"/>
          </a:xfrm>
          <a:prstGeom prst="rect">
            <a:avLst/>
          </a:prstGeom>
          <a:noFill/>
          <a:ln/>
        </p:spPr>
        <p:txBody>
          <a:bodyPr wrap="square" lIns="0" tIns="0" rIns="0" bIns="0" rtlCol="0" anchor="t"/>
          <a:lstStyle/>
          <a:p>
            <a:pPr indent="0" marL="0">
              <a:lnSpc>
                <a:spcPct val="112000"/>
              </a:lnSpc>
              <a:buNone/>
            </a:pPr>
            <a:pPr indent="0" marL="0">
              <a:lnSpc>
                <a:spcPct val="112000"/>
              </a:lnSpc>
              <a:buNone/>
            </a:pPr>
            <a:r>
              <a:rPr lang="en-US" sz="1550" dirty="0" b="0">
                <a:solidFill>
                  <a:srgbClr val="9B9EA6"/>
                </a:solidFill>
                <a:latin typeface="Geist" pitchFamily="34" charset="0"/>
                <a:ea typeface="Geist" pitchFamily="34" charset="-122"/>
                <a:cs typeface="Geist" pitchFamily="34" charset="-120"/>
              </a:rPr>
              <a:t>A bot that only ever met the first one fails on its first real day.</a:t>
            </a:r>
            <a:endParaRPr lang="en-US" sz="1550" dirty="0"/>
          </a:p>
        </p:txBody>
      </p:sp>
      <p:sp>
        <p:nvSpPr>
          <p:cNvPr id="18" name="Shape 16"/>
          <p:cNvSpPr/>
          <p:nvPr/>
        </p:nvSpPr>
        <p:spPr>
          <a:xfrm>
            <a:off x="841248" y="5660136"/>
            <a:ext cx="10509199" cy="0"/>
          </a:xfrm>
          <a:prstGeom prst="line">
            <a:avLst/>
          </a:prstGeom>
          <a:noFill/>
          <a:ln w="9525">
            <a:solidFill>
              <a:srgbClr val="2C2D34"/>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741215" cy="41148"/>
          </a:xfrm>
          <a:prstGeom prst="rect">
            <a:avLst/>
          </a:prstGeom>
          <a:solidFill>
            <a:srgbClr val="E8B84B"/>
          </a:solidFill>
          <a:ln/>
        </p:spPr>
      </p:sp>
      <p:sp>
        <p:nvSpPr>
          <p:cNvPr id="3" name="Text 1"/>
          <p:cNvSpPr/>
          <p:nvPr/>
        </p:nvSpPr>
        <p:spPr>
          <a:xfrm>
            <a:off x="841248" y="274320"/>
            <a:ext cx="5486400" cy="310896"/>
          </a:xfrm>
          <a:prstGeom prst="rect">
            <a:avLst/>
          </a:prstGeom>
          <a:noFill/>
          <a:ln/>
        </p:spPr>
        <p:txBody>
          <a:bodyPr wrap="square" lIns="0" tIns="0" rIns="0" bIns="0" rtlCol="0" anchor="ctr"/>
          <a:lstStyle/>
          <a:p>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F4F4F2"/>
                </a:solidFill>
                <a:latin typeface="Geist Mono" pitchFamily="34" charset="0"/>
                <a:ea typeface="Geist Mono" pitchFamily="34" charset="-122"/>
                <a:cs typeface="Geist Mono" pitchFamily="34" charset="-120"/>
              </a:rPr>
              <a:t>MS</a:t>
            </a:r>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6A6D75"/>
                </a:solidFill>
                <a:latin typeface="Geist Mono" pitchFamily="34" charset="0"/>
                <a:ea typeface="Geist Mono" pitchFamily="34" charset="-122"/>
                <a:cs typeface="Geist Mono" pitchFamily="34" charset="-120"/>
              </a:rPr>
              <a:t>  DU MENTORING</a:t>
            </a:r>
            <a:endParaRPr lang="en-US" sz="1100" dirty="0"/>
          </a:p>
        </p:txBody>
      </p:sp>
      <p:sp>
        <p:nvSpPr>
          <p:cNvPr id="4" name="Text 2"/>
          <p:cNvSpPr/>
          <p:nvPr/>
        </p:nvSpPr>
        <p:spPr>
          <a:xfrm>
            <a:off x="5864047" y="274320"/>
            <a:ext cx="5486400" cy="310896"/>
          </a:xfrm>
          <a:prstGeom prst="rect">
            <a:avLst/>
          </a:prstGeom>
          <a:noFill/>
          <a:ln/>
        </p:spPr>
        <p:txBody>
          <a:bodyPr wrap="square" lIns="0" tIns="0" rIns="0" bIns="0" rtlCol="0" anchor="ctr"/>
          <a:lstStyle/>
          <a:p>
            <a:pPr algn="r" indent="0" marL="0">
              <a:buNone/>
            </a:pPr>
            <a:r>
              <a:rPr lang="en-US" sz="1000" spc="150" kern="0" dirty="0" b="0">
                <a:solidFill>
                  <a:srgbClr val="6A6D75"/>
                </a:solidFill>
                <a:latin typeface="Geist Mono" pitchFamily="34" charset="0"/>
                <a:ea typeface="Geist Mono" pitchFamily="34" charset="-122"/>
                <a:cs typeface="Geist Mono" pitchFamily="34" charset="-120"/>
              </a:rPr>
              <a:t>BONUS / PRACTICE LAB · AUTOMATION LAB</a:t>
            </a:r>
            <a:endParaRPr lang="en-US" sz="1000" dirty="0"/>
          </a:p>
        </p:txBody>
      </p:sp>
      <p:sp>
        <p:nvSpPr>
          <p:cNvPr id="5" name="Text 3"/>
          <p:cNvSpPr/>
          <p:nvPr/>
        </p:nvSpPr>
        <p:spPr>
          <a:xfrm>
            <a:off x="841248" y="6400800"/>
            <a:ext cx="7315200" cy="274320"/>
          </a:xfrm>
          <a:prstGeom prst="rect">
            <a:avLst/>
          </a:prstGeom>
          <a:noFill/>
          <a:ln/>
        </p:spPr>
        <p:txBody>
          <a:bodyPr wrap="square" lIns="0" tIns="0" rIns="0" bIns="0" rtlCol="0" anchor="ctr"/>
          <a:lstStyle/>
          <a:p>
            <a:pPr indent="0" marL="0">
              <a:buNone/>
            </a:pPr>
            <a:r>
              <a:rPr lang="en-US" sz="950" spc="100" kern="0" dirty="0" b="0">
                <a:solidFill>
                  <a:srgbClr val="6A6D75"/>
                </a:solidFill>
                <a:latin typeface="Geist Mono" pitchFamily="34" charset="0"/>
                <a:ea typeface="Geist Mono" pitchFamily="34" charset="-122"/>
                <a:cs typeface="Geist Mono" pitchFamily="34" charset="-120"/>
              </a:rPr>
              <a:t>v2026.1 · BONUS · THE AUTOMATION LAB</a:t>
            </a:r>
            <a:endParaRPr lang="en-US" sz="950" dirty="0"/>
          </a:p>
        </p:txBody>
      </p:sp>
      <p:sp>
        <p:nvSpPr>
          <p:cNvPr id="6" name="Text 4"/>
          <p:cNvSpPr/>
          <p:nvPr/>
        </p:nvSpPr>
        <p:spPr>
          <a:xfrm>
            <a:off x="8607247" y="6400800"/>
            <a:ext cx="2743200" cy="274320"/>
          </a:xfrm>
          <a:prstGeom prst="rect">
            <a:avLst/>
          </a:prstGeom>
          <a:noFill/>
          <a:ln/>
        </p:spPr>
        <p:txBody>
          <a:bodyPr wrap="square" lIns="0" tIns="0" rIns="0" bIns="0" rtlCol="0" anchor="ctr"/>
          <a:lstStyle/>
          <a:p>
            <a:pPr algn="r" indent="0" marL="0">
              <a:buNone/>
            </a:pPr>
            <a:pPr algn="r" indent="0" marL="0">
              <a:buNone/>
            </a:pPr>
            <a:r>
              <a:rPr lang="en-US" sz="1000" spc="100" kern="0" dirty="0" b="0">
                <a:solidFill>
                  <a:srgbClr val="F4F4F2"/>
                </a:solidFill>
                <a:latin typeface="Geist Mono" pitchFamily="34" charset="0"/>
                <a:ea typeface="Geist Mono" pitchFamily="34" charset="-122"/>
                <a:cs typeface="Geist Mono" pitchFamily="34" charset="-120"/>
              </a:rPr>
              <a:t>07</a:t>
            </a:r>
            <a:r>
              <a:rPr lang="en-US" sz="1000" spc="100" kern="0" dirty="0" b="0">
                <a:solidFill>
                  <a:srgbClr val="6A6D75"/>
                </a:solidFill>
                <a:latin typeface="Geist Mono" pitchFamily="34" charset="0"/>
                <a:ea typeface="Geist Mono" pitchFamily="34" charset="-122"/>
                <a:cs typeface="Geist Mono" pitchFamily="34" charset="-120"/>
              </a:rPr>
              <a:t xml:space="preserve"> / 18</a:t>
            </a:r>
            <a:endParaRPr lang="en-US" sz="1000" dirty="0"/>
          </a:p>
        </p:txBody>
      </p:sp>
      <p:sp>
        <p:nvSpPr>
          <p:cNvPr id="7" name="Text 5"/>
          <p:cNvSpPr/>
          <p:nvPr/>
        </p:nvSpPr>
        <p:spPr>
          <a:xfrm>
            <a:off x="841248" y="1371600"/>
            <a:ext cx="10509199" cy="310896"/>
          </a:xfrm>
          <a:prstGeom prst="rect">
            <a:avLst/>
          </a:prstGeom>
          <a:noFill/>
          <a:ln/>
        </p:spPr>
        <p:txBody>
          <a:bodyPr wrap="square" lIns="0" tIns="0" rIns="0" bIns="0" rtlCol="0" anchor="ctr"/>
          <a:lstStyle/>
          <a:p>
            <a:pPr indent="0" marL="0">
              <a:buNone/>
            </a:pPr>
            <a:pPr indent="0" marL="0">
              <a:buNone/>
            </a:pPr>
            <a:pPr indent="0" marL="0">
              <a:buNone/>
            </a:pPr>
            <a:r>
              <a:rPr lang="en-US" sz="1250" spc="200" kern="0" dirty="0" b="0">
                <a:solidFill>
                  <a:srgbClr val="9B9EA6"/>
                </a:solidFill>
                <a:latin typeface="Geist Mono" pitchFamily="34" charset="0"/>
                <a:ea typeface="Geist Mono" pitchFamily="34" charset="-122"/>
                <a:cs typeface="Geist Mono" pitchFamily="34" charset="-120"/>
              </a:rPr>
              <a:t>— 04</a:t>
            </a:r>
            <a:r>
              <a:rPr lang="en-US" sz="1250" spc="200" kern="0" dirty="0" b="0">
                <a:solidFill>
                  <a:srgbClr val="6A6D75"/>
                </a:solidFill>
                <a:latin typeface="Geist Mono" pitchFamily="34" charset="0"/>
                <a:ea typeface="Geist Mono" pitchFamily="34" charset="-122"/>
                <a:cs typeface="Geist Mono" pitchFamily="34" charset="-120"/>
              </a:rPr>
              <a:t xml:space="preserve">   /   </a:t>
            </a:r>
            <a:r>
              <a:rPr lang="en-US" sz="1250" spc="200" kern="0" dirty="0" b="0">
                <a:solidFill>
                  <a:srgbClr val="9B9EA6"/>
                </a:solidFill>
                <a:latin typeface="Geist Mono" pitchFamily="34" charset="0"/>
                <a:ea typeface="Geist Mono" pitchFamily="34" charset="-122"/>
                <a:cs typeface="Geist Mono" pitchFamily="34" charset="-120"/>
              </a:rPr>
              <a:t>THE PAPER TRAIL</a:t>
            </a:r>
            <a:endParaRPr lang="en-US" sz="1250" dirty="0"/>
          </a:p>
        </p:txBody>
      </p:sp>
      <p:sp>
        <p:nvSpPr>
          <p:cNvPr id="8" name="Text 6"/>
          <p:cNvSpPr/>
          <p:nvPr/>
        </p:nvSpPr>
        <p:spPr>
          <a:xfrm>
            <a:off x="841248" y="1828800"/>
            <a:ext cx="10509199" cy="1371600"/>
          </a:xfrm>
          <a:prstGeom prst="rect">
            <a:avLst/>
          </a:prstGeom>
          <a:noFill/>
          <a:ln/>
        </p:spPr>
        <p:txBody>
          <a:bodyPr wrap="square" lIns="0" tIns="0" rIns="0" bIns="0" rtlCol="0" anchor="t"/>
          <a:lstStyle/>
          <a:p>
            <a:pPr indent="0" marL="0">
              <a:lnSpc>
                <a:spcPct val="102000"/>
              </a:lnSpc>
              <a:buNone/>
            </a:pPr>
            <a:pPr indent="0" marL="0">
              <a:lnSpc>
                <a:spcPct val="102000"/>
              </a:lnSpc>
              <a:buNone/>
            </a:pPr>
            <a:r>
              <a:rPr lang="en-US" sz="3000" b="1" dirty="0">
                <a:solidFill>
                  <a:srgbClr val="F4F4F2"/>
                </a:solidFill>
                <a:latin typeface="Geist" pitchFamily="34" charset="0"/>
                <a:ea typeface="Geist" pitchFamily="34" charset="-122"/>
                <a:cs typeface="Geist" pitchFamily="34" charset="-120"/>
              </a:rPr>
              <a:t>Every document points at another one.</a:t>
            </a:r>
            <a:endParaRPr lang="en-US" sz="3000" dirty="0"/>
          </a:p>
        </p:txBody>
      </p:sp>
      <p:sp>
        <p:nvSpPr>
          <p:cNvPr id="9" name="Shape 7"/>
          <p:cNvSpPr/>
          <p:nvPr/>
        </p:nvSpPr>
        <p:spPr>
          <a:xfrm>
            <a:off x="841248" y="3017520"/>
            <a:ext cx="10509199" cy="0"/>
          </a:xfrm>
          <a:prstGeom prst="line">
            <a:avLst/>
          </a:prstGeom>
          <a:noFill/>
          <a:ln w="9525">
            <a:solidFill>
              <a:srgbClr val="2C2D34"/>
            </a:solidFill>
            <a:prstDash val="solid"/>
          </a:ln>
        </p:spPr>
      </p:sp>
      <p:sp>
        <p:nvSpPr>
          <p:cNvPr id="10" name="Text 8"/>
          <p:cNvSpPr/>
          <p:nvPr/>
        </p:nvSpPr>
        <p:spPr>
          <a:xfrm>
            <a:off x="841248" y="3136392"/>
            <a:ext cx="640080" cy="530352"/>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01</a:t>
            </a:r>
            <a:endParaRPr lang="en-US" sz="1250" dirty="0"/>
          </a:p>
        </p:txBody>
      </p:sp>
      <p:sp>
        <p:nvSpPr>
          <p:cNvPr id="11" name="Text 9"/>
          <p:cNvSpPr/>
          <p:nvPr/>
        </p:nvSpPr>
        <p:spPr>
          <a:xfrm>
            <a:off x="1554480" y="3118104"/>
            <a:ext cx="9795967" cy="566928"/>
          </a:xfrm>
          <a:prstGeom prst="rect">
            <a:avLst/>
          </a:prstGeom>
          <a:noFill/>
          <a:ln/>
        </p:spPr>
        <p:txBody>
          <a:bodyPr wrap="square" lIns="0" tIns="0" rIns="0" bIns="0" rtlCol="0" anchor="t"/>
          <a:lstStyle/>
          <a:p>
            <a:pPr indent="0" marL="0">
              <a:lnSpc>
                <a:spcPct val="112000"/>
              </a:lnSpc>
              <a:buNone/>
            </a:pPr>
            <a:pPr indent="0" marL="0">
              <a:lnSpc>
                <a:spcPct val="112000"/>
              </a:lnSpc>
              <a:buNone/>
            </a:pPr>
            <a:r>
              <a:rPr lang="en-US" sz="1550" b="1" dirty="0">
                <a:solidFill>
                  <a:srgbClr val="F4F4F2"/>
                </a:solidFill>
                <a:latin typeface="Geist" pitchFamily="34" charset="0"/>
                <a:ea typeface="Geist" pitchFamily="34" charset="-122"/>
                <a:cs typeface="Geist" pitchFamily="34" charset="-120"/>
              </a:rPr>
              <a:t>Request for quotation</a:t>
            </a:r>
            <a:r>
              <a:rPr lang="en-US" sz="1550" dirty="0" b="0">
                <a:solidFill>
                  <a:srgbClr val="9B9EA6"/>
                </a:solidFill>
                <a:latin typeface="Geist" pitchFamily="34" charset="0"/>
                <a:ea typeface="Geist" pitchFamily="34" charset="-122"/>
                <a:cs typeface="Geist" pitchFamily="34" charset="-120"/>
              </a:rPr>
              <a:t xml:space="preserve"> — you ask several suppliers, they answer with prices that expire.</a:t>
            </a:r>
            <a:endParaRPr lang="en-US" sz="1550" dirty="0"/>
          </a:p>
        </p:txBody>
      </p:sp>
      <p:sp>
        <p:nvSpPr>
          <p:cNvPr id="12" name="Shape 10"/>
          <p:cNvSpPr/>
          <p:nvPr/>
        </p:nvSpPr>
        <p:spPr>
          <a:xfrm>
            <a:off x="841248" y="3639312"/>
            <a:ext cx="10509199" cy="0"/>
          </a:xfrm>
          <a:prstGeom prst="line">
            <a:avLst/>
          </a:prstGeom>
          <a:noFill/>
          <a:ln w="9525">
            <a:solidFill>
              <a:srgbClr val="2C2D34"/>
            </a:solidFill>
            <a:prstDash val="solid"/>
          </a:ln>
        </p:spPr>
      </p:sp>
      <p:sp>
        <p:nvSpPr>
          <p:cNvPr id="13" name="Text 11"/>
          <p:cNvSpPr/>
          <p:nvPr/>
        </p:nvSpPr>
        <p:spPr>
          <a:xfrm>
            <a:off x="841248" y="3758184"/>
            <a:ext cx="640080" cy="530352"/>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02</a:t>
            </a:r>
            <a:endParaRPr lang="en-US" sz="1250" dirty="0"/>
          </a:p>
        </p:txBody>
      </p:sp>
      <p:sp>
        <p:nvSpPr>
          <p:cNvPr id="14" name="Text 12"/>
          <p:cNvSpPr/>
          <p:nvPr/>
        </p:nvSpPr>
        <p:spPr>
          <a:xfrm>
            <a:off x="1554480" y="3739896"/>
            <a:ext cx="9795967" cy="566928"/>
          </a:xfrm>
          <a:prstGeom prst="rect">
            <a:avLst/>
          </a:prstGeom>
          <a:noFill/>
          <a:ln/>
        </p:spPr>
        <p:txBody>
          <a:bodyPr wrap="square" lIns="0" tIns="0" rIns="0" bIns="0" rtlCol="0" anchor="t"/>
          <a:lstStyle/>
          <a:p>
            <a:pPr indent="0" marL="0">
              <a:lnSpc>
                <a:spcPct val="112000"/>
              </a:lnSpc>
              <a:buNone/>
            </a:pPr>
            <a:pPr indent="0" marL="0">
              <a:lnSpc>
                <a:spcPct val="112000"/>
              </a:lnSpc>
              <a:buNone/>
            </a:pPr>
            <a:r>
              <a:rPr lang="en-US" sz="1550" b="1" dirty="0">
                <a:solidFill>
                  <a:srgbClr val="F4F4F2"/>
                </a:solidFill>
                <a:latin typeface="Geist" pitchFamily="34" charset="0"/>
                <a:ea typeface="Geist" pitchFamily="34" charset="-122"/>
                <a:cs typeface="Geist" pitchFamily="34" charset="-120"/>
              </a:rPr>
              <a:t>Purchase order</a:t>
            </a:r>
            <a:r>
              <a:rPr lang="en-US" sz="1550" dirty="0" b="0">
                <a:solidFill>
                  <a:srgbClr val="9B9EA6"/>
                </a:solidFill>
                <a:latin typeface="Geist" pitchFamily="34" charset="0"/>
                <a:ea typeface="Geist" pitchFamily="34" charset="-122"/>
                <a:cs typeface="Geist" pitchFamily="34" charset="-120"/>
              </a:rPr>
              <a:t xml:space="preserve"> — you award one; everything later is measured against it.</a:t>
            </a:r>
            <a:endParaRPr lang="en-US" sz="1550" dirty="0"/>
          </a:p>
        </p:txBody>
      </p:sp>
      <p:sp>
        <p:nvSpPr>
          <p:cNvPr id="15" name="Shape 13"/>
          <p:cNvSpPr/>
          <p:nvPr/>
        </p:nvSpPr>
        <p:spPr>
          <a:xfrm>
            <a:off x="841248" y="4261104"/>
            <a:ext cx="10509199" cy="0"/>
          </a:xfrm>
          <a:prstGeom prst="line">
            <a:avLst/>
          </a:prstGeom>
          <a:noFill/>
          <a:ln w="9525">
            <a:solidFill>
              <a:srgbClr val="2C2D34"/>
            </a:solidFill>
            <a:prstDash val="solid"/>
          </a:ln>
        </p:spPr>
      </p:sp>
      <p:sp>
        <p:nvSpPr>
          <p:cNvPr id="16" name="Text 14"/>
          <p:cNvSpPr/>
          <p:nvPr/>
        </p:nvSpPr>
        <p:spPr>
          <a:xfrm>
            <a:off x="841248" y="4379976"/>
            <a:ext cx="640080" cy="530352"/>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03</a:t>
            </a:r>
            <a:endParaRPr lang="en-US" sz="1250" dirty="0"/>
          </a:p>
        </p:txBody>
      </p:sp>
      <p:sp>
        <p:nvSpPr>
          <p:cNvPr id="17" name="Text 15"/>
          <p:cNvSpPr/>
          <p:nvPr/>
        </p:nvSpPr>
        <p:spPr>
          <a:xfrm>
            <a:off x="1554480" y="4361688"/>
            <a:ext cx="9795967" cy="566928"/>
          </a:xfrm>
          <a:prstGeom prst="rect">
            <a:avLst/>
          </a:prstGeom>
          <a:noFill/>
          <a:ln/>
        </p:spPr>
        <p:txBody>
          <a:bodyPr wrap="square" lIns="0" tIns="0" rIns="0" bIns="0" rtlCol="0" anchor="t"/>
          <a:lstStyle/>
          <a:p>
            <a:pPr indent="0" marL="0">
              <a:lnSpc>
                <a:spcPct val="112000"/>
              </a:lnSpc>
              <a:buNone/>
            </a:pPr>
            <a:pPr indent="0" marL="0">
              <a:lnSpc>
                <a:spcPct val="112000"/>
              </a:lnSpc>
              <a:buNone/>
            </a:pPr>
            <a:r>
              <a:rPr lang="en-US" sz="1550" b="1" dirty="0">
                <a:solidFill>
                  <a:srgbClr val="F4F4F2"/>
                </a:solidFill>
                <a:latin typeface="Geist" pitchFamily="34" charset="0"/>
                <a:ea typeface="Geist" pitchFamily="34" charset="-122"/>
                <a:cs typeface="Geist" pitchFamily="34" charset="-120"/>
              </a:rPr>
              <a:t>Delivery note, goods receipt</a:t>
            </a:r>
            <a:r>
              <a:rPr lang="en-US" sz="1550" dirty="0" b="0">
                <a:solidFill>
                  <a:srgbClr val="9B9EA6"/>
                </a:solidFill>
                <a:latin typeface="Geist" pitchFamily="34" charset="0"/>
                <a:ea typeface="Geist" pitchFamily="34" charset="-122"/>
                <a:cs typeface="Geist" pitchFamily="34" charset="-120"/>
              </a:rPr>
              <a:t xml:space="preserve"> — what arrived, and what you admit arrived.</a:t>
            </a:r>
            <a:endParaRPr lang="en-US" sz="1550" dirty="0"/>
          </a:p>
        </p:txBody>
      </p:sp>
      <p:sp>
        <p:nvSpPr>
          <p:cNvPr id="18" name="Shape 16"/>
          <p:cNvSpPr/>
          <p:nvPr/>
        </p:nvSpPr>
        <p:spPr>
          <a:xfrm>
            <a:off x="841248" y="4882896"/>
            <a:ext cx="10509199" cy="0"/>
          </a:xfrm>
          <a:prstGeom prst="line">
            <a:avLst/>
          </a:prstGeom>
          <a:noFill/>
          <a:ln w="9525">
            <a:solidFill>
              <a:srgbClr val="2C2D34"/>
            </a:solidFill>
            <a:prstDash val="solid"/>
          </a:ln>
        </p:spPr>
      </p:sp>
      <p:sp>
        <p:nvSpPr>
          <p:cNvPr id="19" name="Text 17"/>
          <p:cNvSpPr/>
          <p:nvPr/>
        </p:nvSpPr>
        <p:spPr>
          <a:xfrm>
            <a:off x="841248" y="5001768"/>
            <a:ext cx="640080" cy="530352"/>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04</a:t>
            </a:r>
            <a:endParaRPr lang="en-US" sz="1250" dirty="0"/>
          </a:p>
        </p:txBody>
      </p:sp>
      <p:sp>
        <p:nvSpPr>
          <p:cNvPr id="20" name="Text 18"/>
          <p:cNvSpPr/>
          <p:nvPr/>
        </p:nvSpPr>
        <p:spPr>
          <a:xfrm>
            <a:off x="1554480" y="4983480"/>
            <a:ext cx="9795967" cy="566928"/>
          </a:xfrm>
          <a:prstGeom prst="rect">
            <a:avLst/>
          </a:prstGeom>
          <a:noFill/>
          <a:ln/>
        </p:spPr>
        <p:txBody>
          <a:bodyPr wrap="square" lIns="0" tIns="0" rIns="0" bIns="0" rtlCol="0" anchor="t"/>
          <a:lstStyle/>
          <a:p>
            <a:pPr indent="0" marL="0">
              <a:lnSpc>
                <a:spcPct val="112000"/>
              </a:lnSpc>
              <a:buNone/>
            </a:pPr>
            <a:pPr indent="0" marL="0">
              <a:lnSpc>
                <a:spcPct val="112000"/>
              </a:lnSpc>
              <a:buNone/>
            </a:pPr>
            <a:r>
              <a:rPr lang="en-US" sz="1550" b="1" dirty="0">
                <a:solidFill>
                  <a:srgbClr val="F4F4F2"/>
                </a:solidFill>
                <a:latin typeface="Geist" pitchFamily="34" charset="0"/>
                <a:ea typeface="Geist" pitchFamily="34" charset="-122"/>
                <a:cs typeface="Geist" pitchFamily="34" charset="-120"/>
              </a:rPr>
              <a:t>Invoice, payment</a:t>
            </a:r>
            <a:r>
              <a:rPr lang="en-US" sz="1550" dirty="0" b="0">
                <a:solidFill>
                  <a:srgbClr val="9B9EA6"/>
                </a:solidFill>
                <a:latin typeface="Geist" pitchFamily="34" charset="0"/>
                <a:ea typeface="Geist" pitchFamily="34" charset="-122"/>
                <a:cs typeface="Geist" pitchFamily="34" charset="-120"/>
              </a:rPr>
              <a:t xml:space="preserve"> — the supplier's claim, matched three ways before a riyal moves.</a:t>
            </a:r>
            <a:endParaRPr lang="en-US" sz="1550" dirty="0"/>
          </a:p>
        </p:txBody>
      </p:sp>
      <p:sp>
        <p:nvSpPr>
          <p:cNvPr id="21" name="Shape 19"/>
          <p:cNvSpPr/>
          <p:nvPr/>
        </p:nvSpPr>
        <p:spPr>
          <a:xfrm>
            <a:off x="841248" y="5504688"/>
            <a:ext cx="10509199" cy="0"/>
          </a:xfrm>
          <a:prstGeom prst="line">
            <a:avLst/>
          </a:prstGeom>
          <a:noFill/>
          <a:ln w="9525">
            <a:solidFill>
              <a:srgbClr val="2C2D34"/>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6095848" cy="41148"/>
          </a:xfrm>
          <a:prstGeom prst="rect">
            <a:avLst/>
          </a:prstGeom>
          <a:solidFill>
            <a:srgbClr val="E8B84B"/>
          </a:solidFill>
          <a:ln/>
        </p:spPr>
      </p:sp>
      <p:sp>
        <p:nvSpPr>
          <p:cNvPr id="3" name="Text 1"/>
          <p:cNvSpPr/>
          <p:nvPr/>
        </p:nvSpPr>
        <p:spPr>
          <a:xfrm>
            <a:off x="841248" y="274320"/>
            <a:ext cx="5486400" cy="310896"/>
          </a:xfrm>
          <a:prstGeom prst="rect">
            <a:avLst/>
          </a:prstGeom>
          <a:noFill/>
          <a:ln/>
        </p:spPr>
        <p:txBody>
          <a:bodyPr wrap="square" lIns="0" tIns="0" rIns="0" bIns="0" rtlCol="0" anchor="ctr"/>
          <a:lstStyle/>
          <a:p>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F4F4F2"/>
                </a:solidFill>
                <a:latin typeface="Geist Mono" pitchFamily="34" charset="0"/>
                <a:ea typeface="Geist Mono" pitchFamily="34" charset="-122"/>
                <a:cs typeface="Geist Mono" pitchFamily="34" charset="-120"/>
              </a:rPr>
              <a:t>MS</a:t>
            </a:r>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6A6D75"/>
                </a:solidFill>
                <a:latin typeface="Geist Mono" pitchFamily="34" charset="0"/>
                <a:ea typeface="Geist Mono" pitchFamily="34" charset="-122"/>
                <a:cs typeface="Geist Mono" pitchFamily="34" charset="-120"/>
              </a:rPr>
              <a:t>  DU MENTORING</a:t>
            </a:r>
            <a:endParaRPr lang="en-US" sz="1100" dirty="0"/>
          </a:p>
        </p:txBody>
      </p:sp>
      <p:sp>
        <p:nvSpPr>
          <p:cNvPr id="4" name="Text 2"/>
          <p:cNvSpPr/>
          <p:nvPr/>
        </p:nvSpPr>
        <p:spPr>
          <a:xfrm>
            <a:off x="5864047" y="274320"/>
            <a:ext cx="5486400" cy="310896"/>
          </a:xfrm>
          <a:prstGeom prst="rect">
            <a:avLst/>
          </a:prstGeom>
          <a:noFill/>
          <a:ln/>
        </p:spPr>
        <p:txBody>
          <a:bodyPr wrap="square" lIns="0" tIns="0" rIns="0" bIns="0" rtlCol="0" anchor="ctr"/>
          <a:lstStyle/>
          <a:p>
            <a:pPr algn="r" indent="0" marL="0">
              <a:buNone/>
            </a:pPr>
            <a:r>
              <a:rPr lang="en-US" sz="1000" spc="150" kern="0" dirty="0" b="0">
                <a:solidFill>
                  <a:srgbClr val="6A6D75"/>
                </a:solidFill>
                <a:latin typeface="Geist Mono" pitchFamily="34" charset="0"/>
                <a:ea typeface="Geist Mono" pitchFamily="34" charset="-122"/>
                <a:cs typeface="Geist Mono" pitchFamily="34" charset="-120"/>
              </a:rPr>
              <a:t>BONUS / PRACTICE LAB · AUTOMATION LAB</a:t>
            </a:r>
            <a:endParaRPr lang="en-US" sz="1000" dirty="0"/>
          </a:p>
        </p:txBody>
      </p:sp>
      <p:sp>
        <p:nvSpPr>
          <p:cNvPr id="5" name="Text 3"/>
          <p:cNvSpPr/>
          <p:nvPr/>
        </p:nvSpPr>
        <p:spPr>
          <a:xfrm>
            <a:off x="841248" y="6400800"/>
            <a:ext cx="7315200" cy="274320"/>
          </a:xfrm>
          <a:prstGeom prst="rect">
            <a:avLst/>
          </a:prstGeom>
          <a:noFill/>
          <a:ln/>
        </p:spPr>
        <p:txBody>
          <a:bodyPr wrap="square" lIns="0" tIns="0" rIns="0" bIns="0" rtlCol="0" anchor="ctr"/>
          <a:lstStyle/>
          <a:p>
            <a:pPr indent="0" marL="0">
              <a:buNone/>
            </a:pPr>
            <a:r>
              <a:rPr lang="en-US" sz="950" spc="100" kern="0" dirty="0" b="0">
                <a:solidFill>
                  <a:srgbClr val="6A6D75"/>
                </a:solidFill>
                <a:latin typeface="Geist Mono" pitchFamily="34" charset="0"/>
                <a:ea typeface="Geist Mono" pitchFamily="34" charset="-122"/>
                <a:cs typeface="Geist Mono" pitchFamily="34" charset="-120"/>
              </a:rPr>
              <a:t>v2026.1 · BONUS · THE AUTOMATION LAB</a:t>
            </a:r>
            <a:endParaRPr lang="en-US" sz="950" dirty="0"/>
          </a:p>
        </p:txBody>
      </p:sp>
      <p:sp>
        <p:nvSpPr>
          <p:cNvPr id="6" name="Text 4"/>
          <p:cNvSpPr/>
          <p:nvPr/>
        </p:nvSpPr>
        <p:spPr>
          <a:xfrm>
            <a:off x="8607247" y="6400800"/>
            <a:ext cx="2743200" cy="274320"/>
          </a:xfrm>
          <a:prstGeom prst="rect">
            <a:avLst/>
          </a:prstGeom>
          <a:noFill/>
          <a:ln/>
        </p:spPr>
        <p:txBody>
          <a:bodyPr wrap="square" lIns="0" tIns="0" rIns="0" bIns="0" rtlCol="0" anchor="ctr"/>
          <a:lstStyle/>
          <a:p>
            <a:pPr algn="r" indent="0" marL="0">
              <a:buNone/>
            </a:pPr>
            <a:pPr algn="r" indent="0" marL="0">
              <a:buNone/>
            </a:pPr>
            <a:r>
              <a:rPr lang="en-US" sz="1000" spc="100" kern="0" dirty="0" b="0">
                <a:solidFill>
                  <a:srgbClr val="F4F4F2"/>
                </a:solidFill>
                <a:latin typeface="Geist Mono" pitchFamily="34" charset="0"/>
                <a:ea typeface="Geist Mono" pitchFamily="34" charset="-122"/>
                <a:cs typeface="Geist Mono" pitchFamily="34" charset="-120"/>
              </a:rPr>
              <a:t>09</a:t>
            </a:r>
            <a:r>
              <a:rPr lang="en-US" sz="1000" spc="100" kern="0" dirty="0" b="0">
                <a:solidFill>
                  <a:srgbClr val="6A6D75"/>
                </a:solidFill>
                <a:latin typeface="Geist Mono" pitchFamily="34" charset="0"/>
                <a:ea typeface="Geist Mono" pitchFamily="34" charset="-122"/>
                <a:cs typeface="Geist Mono" pitchFamily="34" charset="-120"/>
              </a:rPr>
              <a:t xml:space="preserve"> / 18</a:t>
            </a:r>
            <a:endParaRPr lang="en-US" sz="1000" dirty="0"/>
          </a:p>
        </p:txBody>
      </p:sp>
      <p:sp>
        <p:nvSpPr>
          <p:cNvPr id="7" name="Text 5"/>
          <p:cNvSpPr/>
          <p:nvPr/>
        </p:nvSpPr>
        <p:spPr>
          <a:xfrm>
            <a:off x="841248" y="1371600"/>
            <a:ext cx="10509199" cy="310896"/>
          </a:xfrm>
          <a:prstGeom prst="rect">
            <a:avLst/>
          </a:prstGeom>
          <a:noFill/>
          <a:ln/>
        </p:spPr>
        <p:txBody>
          <a:bodyPr wrap="square" lIns="0" tIns="0" rIns="0" bIns="0" rtlCol="0" anchor="ctr"/>
          <a:lstStyle/>
          <a:p>
            <a:pPr indent="0" marL="0">
              <a:buNone/>
            </a:pPr>
            <a:pPr indent="0" marL="0">
              <a:buNone/>
            </a:pPr>
            <a:pPr indent="0" marL="0">
              <a:buNone/>
            </a:pPr>
            <a:r>
              <a:rPr lang="en-US" sz="1250" spc="200" kern="0" dirty="0" b="0">
                <a:solidFill>
                  <a:srgbClr val="9B9EA6"/>
                </a:solidFill>
                <a:latin typeface="Geist Mono" pitchFamily="34" charset="0"/>
                <a:ea typeface="Geist Mono" pitchFamily="34" charset="-122"/>
                <a:cs typeface="Geist Mono" pitchFamily="34" charset="-120"/>
              </a:rPr>
              <a:t>— 05</a:t>
            </a:r>
            <a:r>
              <a:rPr lang="en-US" sz="1250" spc="200" kern="0" dirty="0" b="0">
                <a:solidFill>
                  <a:srgbClr val="6A6D75"/>
                </a:solidFill>
                <a:latin typeface="Geist Mono" pitchFamily="34" charset="0"/>
                <a:ea typeface="Geist Mono" pitchFamily="34" charset="-122"/>
                <a:cs typeface="Geist Mono" pitchFamily="34" charset="-120"/>
              </a:rPr>
              <a:t xml:space="preserve">   /   </a:t>
            </a:r>
            <a:r>
              <a:rPr lang="en-US" sz="1250" spc="200" kern="0" dirty="0" b="0">
                <a:solidFill>
                  <a:srgbClr val="9B9EA6"/>
                </a:solidFill>
                <a:latin typeface="Geist Mono" pitchFamily="34" charset="0"/>
                <a:ea typeface="Geist Mono" pitchFamily="34" charset="-122"/>
                <a:cs typeface="Geist Mono" pitchFamily="34" charset="-120"/>
              </a:rPr>
              <a:t>THE FOUR SCENARIOS</a:t>
            </a:r>
            <a:endParaRPr lang="en-US" sz="1250" dirty="0"/>
          </a:p>
        </p:txBody>
      </p:sp>
      <p:sp>
        <p:nvSpPr>
          <p:cNvPr id="8" name="Text 6"/>
          <p:cNvSpPr/>
          <p:nvPr/>
        </p:nvSpPr>
        <p:spPr>
          <a:xfrm>
            <a:off x="841248" y="1828800"/>
            <a:ext cx="10509199" cy="1371600"/>
          </a:xfrm>
          <a:prstGeom prst="rect">
            <a:avLst/>
          </a:prstGeom>
          <a:noFill/>
          <a:ln/>
        </p:spPr>
        <p:txBody>
          <a:bodyPr wrap="square" lIns="0" tIns="0" rIns="0" bIns="0" rtlCol="0" anchor="t"/>
          <a:lstStyle/>
          <a:p>
            <a:pPr indent="0" marL="0">
              <a:lnSpc>
                <a:spcPct val="102000"/>
              </a:lnSpc>
              <a:buNone/>
            </a:pPr>
            <a:pPr indent="0" marL="0">
              <a:lnSpc>
                <a:spcPct val="102000"/>
              </a:lnSpc>
              <a:buNone/>
            </a:pPr>
            <a:r>
              <a:rPr lang="en-US" sz="3200" b="1" dirty="0">
                <a:solidFill>
                  <a:srgbClr val="F4F4F2"/>
                </a:solidFill>
                <a:latin typeface="Geist" pitchFamily="34" charset="0"/>
                <a:ea typeface="Geist" pitchFamily="34" charset="-122"/>
                <a:cs typeface="Geist" pitchFamily="34" charset="-120"/>
              </a:rPr>
              <a:t>Pick the one that worries you.</a:t>
            </a:r>
            <a:endParaRPr lang="en-US" sz="3200" dirty="0"/>
          </a:p>
        </p:txBody>
      </p:sp>
      <p:sp>
        <p:nvSpPr>
          <p:cNvPr id="9" name="Shape 7"/>
          <p:cNvSpPr/>
          <p:nvPr/>
        </p:nvSpPr>
        <p:spPr>
          <a:xfrm>
            <a:off x="841248" y="3017520"/>
            <a:ext cx="10509199" cy="0"/>
          </a:xfrm>
          <a:prstGeom prst="line">
            <a:avLst/>
          </a:prstGeom>
          <a:noFill/>
          <a:ln w="9525">
            <a:solidFill>
              <a:srgbClr val="2C2D34"/>
            </a:solidFill>
            <a:prstDash val="solid"/>
          </a:ln>
        </p:spPr>
      </p:sp>
      <p:sp>
        <p:nvSpPr>
          <p:cNvPr id="10" name="Text 8"/>
          <p:cNvSpPr/>
          <p:nvPr/>
        </p:nvSpPr>
        <p:spPr>
          <a:xfrm>
            <a:off x="841248" y="3136392"/>
            <a:ext cx="640080" cy="530352"/>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01</a:t>
            </a:r>
            <a:endParaRPr lang="en-US" sz="1250" dirty="0"/>
          </a:p>
        </p:txBody>
      </p:sp>
      <p:sp>
        <p:nvSpPr>
          <p:cNvPr id="11" name="Text 9"/>
          <p:cNvSpPr/>
          <p:nvPr/>
        </p:nvSpPr>
        <p:spPr>
          <a:xfrm>
            <a:off x="1554480" y="3118104"/>
            <a:ext cx="9795967" cy="566928"/>
          </a:xfrm>
          <a:prstGeom prst="rect">
            <a:avLst/>
          </a:prstGeom>
          <a:noFill/>
          <a:ln/>
        </p:spPr>
        <p:txBody>
          <a:bodyPr wrap="square" lIns="0" tIns="0" rIns="0" bIns="0" rtlCol="0" anchor="t"/>
          <a:lstStyle/>
          <a:p>
            <a:pPr indent="0" marL="0">
              <a:lnSpc>
                <a:spcPct val="112000"/>
              </a:lnSpc>
              <a:buNone/>
            </a:pPr>
            <a:pPr indent="0" marL="0">
              <a:lnSpc>
                <a:spcPct val="112000"/>
              </a:lnSpc>
              <a:buNone/>
            </a:pPr>
            <a:r>
              <a:rPr lang="en-US" sz="1550" b="1" dirty="0">
                <a:solidFill>
                  <a:srgbClr val="F4F4F2"/>
                </a:solidFill>
                <a:latin typeface="Geist" pitchFamily="34" charset="0"/>
                <a:ea typeface="Geist" pitchFamily="34" charset="-122"/>
                <a:cs typeface="Geist" pitchFamily="34" charset="-120"/>
              </a:rPr>
              <a:t>Invoice processing</a:t>
            </a:r>
            <a:r>
              <a:rPr lang="en-US" sz="1550" dirty="0" b="0">
                <a:solidFill>
                  <a:srgbClr val="9B9EA6"/>
                </a:solidFill>
                <a:latin typeface="Geist" pitchFamily="34" charset="0"/>
                <a:ea typeface="Geist" pitchFamily="34" charset="-122"/>
                <a:cs typeface="Geist" pitchFamily="34" charset="-120"/>
              </a:rPr>
              <a:t xml:space="preserve"> — 12 invoices. Read, match against order and receipt, decide.</a:t>
            </a:r>
            <a:endParaRPr lang="en-US" sz="1550" dirty="0"/>
          </a:p>
        </p:txBody>
      </p:sp>
      <p:sp>
        <p:nvSpPr>
          <p:cNvPr id="12" name="Shape 10"/>
          <p:cNvSpPr/>
          <p:nvPr/>
        </p:nvSpPr>
        <p:spPr>
          <a:xfrm>
            <a:off x="841248" y="3639312"/>
            <a:ext cx="10509199" cy="0"/>
          </a:xfrm>
          <a:prstGeom prst="line">
            <a:avLst/>
          </a:prstGeom>
          <a:noFill/>
          <a:ln w="9525">
            <a:solidFill>
              <a:srgbClr val="2C2D34"/>
            </a:solidFill>
            <a:prstDash val="solid"/>
          </a:ln>
        </p:spPr>
      </p:sp>
      <p:sp>
        <p:nvSpPr>
          <p:cNvPr id="13" name="Text 11"/>
          <p:cNvSpPr/>
          <p:nvPr/>
        </p:nvSpPr>
        <p:spPr>
          <a:xfrm>
            <a:off x="841248" y="3758184"/>
            <a:ext cx="640080" cy="530352"/>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02</a:t>
            </a:r>
            <a:endParaRPr lang="en-US" sz="1250" dirty="0"/>
          </a:p>
        </p:txBody>
      </p:sp>
      <p:sp>
        <p:nvSpPr>
          <p:cNvPr id="14" name="Text 12"/>
          <p:cNvSpPr/>
          <p:nvPr/>
        </p:nvSpPr>
        <p:spPr>
          <a:xfrm>
            <a:off x="1554480" y="3739896"/>
            <a:ext cx="9795967" cy="566928"/>
          </a:xfrm>
          <a:prstGeom prst="rect">
            <a:avLst/>
          </a:prstGeom>
          <a:noFill/>
          <a:ln/>
        </p:spPr>
        <p:txBody>
          <a:bodyPr wrap="square" lIns="0" tIns="0" rIns="0" bIns="0" rtlCol="0" anchor="t"/>
          <a:lstStyle/>
          <a:p>
            <a:pPr indent="0" marL="0">
              <a:lnSpc>
                <a:spcPct val="112000"/>
              </a:lnSpc>
              <a:buNone/>
            </a:pPr>
            <a:pPr indent="0" marL="0">
              <a:lnSpc>
                <a:spcPct val="112000"/>
              </a:lnSpc>
              <a:buNone/>
            </a:pPr>
            <a:r>
              <a:rPr lang="en-US" sz="1550" b="1" dirty="0">
                <a:solidFill>
                  <a:srgbClr val="F4F4F2"/>
                </a:solidFill>
                <a:latin typeface="Geist" pitchFamily="34" charset="0"/>
                <a:ea typeface="Geist" pitchFamily="34" charset="-122"/>
                <a:cs typeface="Geist" pitchFamily="34" charset="-120"/>
              </a:rPr>
              <a:t>Supplier onboarding</a:t>
            </a:r>
            <a:r>
              <a:rPr lang="en-US" sz="1550" dirty="0" b="0">
                <a:solidFill>
                  <a:srgbClr val="9B9EA6"/>
                </a:solidFill>
                <a:latin typeface="Geist" pitchFamily="34" charset="0"/>
                <a:ea typeface="Geist" pitchFamily="34" charset="-122"/>
                <a:cs typeface="Geist" pitchFamily="34" charset="-120"/>
              </a:rPr>
              <a:t xml:space="preserve"> — 10 applications. Check the licence and tax card, then decide.</a:t>
            </a:r>
            <a:endParaRPr lang="en-US" sz="1550" dirty="0"/>
          </a:p>
        </p:txBody>
      </p:sp>
      <p:sp>
        <p:nvSpPr>
          <p:cNvPr id="15" name="Shape 13"/>
          <p:cNvSpPr/>
          <p:nvPr/>
        </p:nvSpPr>
        <p:spPr>
          <a:xfrm>
            <a:off x="841248" y="4261104"/>
            <a:ext cx="10509199" cy="0"/>
          </a:xfrm>
          <a:prstGeom prst="line">
            <a:avLst/>
          </a:prstGeom>
          <a:noFill/>
          <a:ln w="9525">
            <a:solidFill>
              <a:srgbClr val="2C2D34"/>
            </a:solidFill>
            <a:prstDash val="solid"/>
          </a:ln>
        </p:spPr>
      </p:sp>
      <p:sp>
        <p:nvSpPr>
          <p:cNvPr id="16" name="Text 14"/>
          <p:cNvSpPr/>
          <p:nvPr/>
        </p:nvSpPr>
        <p:spPr>
          <a:xfrm>
            <a:off x="841248" y="4379976"/>
            <a:ext cx="640080" cy="530352"/>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03</a:t>
            </a:r>
            <a:endParaRPr lang="en-US" sz="1250" dirty="0"/>
          </a:p>
        </p:txBody>
      </p:sp>
      <p:sp>
        <p:nvSpPr>
          <p:cNvPr id="17" name="Text 15"/>
          <p:cNvSpPr/>
          <p:nvPr/>
        </p:nvSpPr>
        <p:spPr>
          <a:xfrm>
            <a:off x="1554480" y="4361688"/>
            <a:ext cx="9795967" cy="566928"/>
          </a:xfrm>
          <a:prstGeom prst="rect">
            <a:avLst/>
          </a:prstGeom>
          <a:noFill/>
          <a:ln/>
        </p:spPr>
        <p:txBody>
          <a:bodyPr wrap="square" lIns="0" tIns="0" rIns="0" bIns="0" rtlCol="0" anchor="t"/>
          <a:lstStyle/>
          <a:p>
            <a:pPr indent="0" marL="0">
              <a:lnSpc>
                <a:spcPct val="112000"/>
              </a:lnSpc>
              <a:buNone/>
            </a:pPr>
            <a:pPr indent="0" marL="0">
              <a:lnSpc>
                <a:spcPct val="112000"/>
              </a:lnSpc>
              <a:buNone/>
            </a:pPr>
            <a:r>
              <a:rPr lang="en-US" sz="1550" b="1" dirty="0">
                <a:solidFill>
                  <a:srgbClr val="F4F4F2"/>
                </a:solidFill>
                <a:latin typeface="Geist" pitchFamily="34" charset="0"/>
                <a:ea typeface="Geist" pitchFamily="34" charset="-122"/>
                <a:cs typeface="Geist" pitchFamily="34" charset="-120"/>
              </a:rPr>
              <a:t>Goods receipt</a:t>
            </a:r>
            <a:r>
              <a:rPr lang="en-US" sz="1550" dirty="0" b="0">
                <a:solidFill>
                  <a:srgbClr val="9B9EA6"/>
                </a:solidFill>
                <a:latin typeface="Geist" pitchFamily="34" charset="0"/>
                <a:ea typeface="Geist" pitchFamily="34" charset="-122"/>
                <a:cs typeface="Geist" pitchFamily="34" charset="-120"/>
              </a:rPr>
              <a:t xml:space="preserve"> — 8 deliveries. Post what arrived; refuse what should not be.</a:t>
            </a:r>
            <a:endParaRPr lang="en-US" sz="1550" dirty="0"/>
          </a:p>
        </p:txBody>
      </p:sp>
      <p:sp>
        <p:nvSpPr>
          <p:cNvPr id="18" name="Shape 16"/>
          <p:cNvSpPr/>
          <p:nvPr/>
        </p:nvSpPr>
        <p:spPr>
          <a:xfrm>
            <a:off x="841248" y="4882896"/>
            <a:ext cx="10509199" cy="0"/>
          </a:xfrm>
          <a:prstGeom prst="line">
            <a:avLst/>
          </a:prstGeom>
          <a:noFill/>
          <a:ln w="9525">
            <a:solidFill>
              <a:srgbClr val="2C2D34"/>
            </a:solidFill>
            <a:prstDash val="solid"/>
          </a:ln>
        </p:spPr>
      </p:sp>
      <p:sp>
        <p:nvSpPr>
          <p:cNvPr id="19" name="Text 17"/>
          <p:cNvSpPr/>
          <p:nvPr/>
        </p:nvSpPr>
        <p:spPr>
          <a:xfrm>
            <a:off x="841248" y="5001768"/>
            <a:ext cx="640080" cy="530352"/>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04</a:t>
            </a:r>
            <a:endParaRPr lang="en-US" sz="1250" dirty="0"/>
          </a:p>
        </p:txBody>
      </p:sp>
      <p:sp>
        <p:nvSpPr>
          <p:cNvPr id="20" name="Text 18"/>
          <p:cNvSpPr/>
          <p:nvPr/>
        </p:nvSpPr>
        <p:spPr>
          <a:xfrm>
            <a:off x="1554480" y="4983480"/>
            <a:ext cx="9795967" cy="566928"/>
          </a:xfrm>
          <a:prstGeom prst="rect">
            <a:avLst/>
          </a:prstGeom>
          <a:noFill/>
          <a:ln/>
        </p:spPr>
        <p:txBody>
          <a:bodyPr wrap="square" lIns="0" tIns="0" rIns="0" bIns="0" rtlCol="0" anchor="t"/>
          <a:lstStyle/>
          <a:p>
            <a:pPr indent="0" marL="0">
              <a:lnSpc>
                <a:spcPct val="112000"/>
              </a:lnSpc>
              <a:buNone/>
            </a:pPr>
            <a:pPr indent="0" marL="0">
              <a:lnSpc>
                <a:spcPct val="112000"/>
              </a:lnSpc>
              <a:buNone/>
            </a:pPr>
            <a:r>
              <a:rPr lang="en-US" sz="1550" b="1" dirty="0">
                <a:solidFill>
                  <a:srgbClr val="F4F4F2"/>
                </a:solidFill>
                <a:latin typeface="Geist" pitchFamily="34" charset="0"/>
                <a:ea typeface="Geist" pitchFamily="34" charset="-122"/>
                <a:cs typeface="Geist" pitchFamily="34" charset="-120"/>
              </a:rPr>
              <a:t>Award the quotation</a:t>
            </a:r>
            <a:r>
              <a:rPr lang="en-US" sz="1550" dirty="0" b="0">
                <a:solidFill>
                  <a:srgbClr val="9B9EA6"/>
                </a:solidFill>
                <a:latin typeface="Geist" pitchFamily="34" charset="0"/>
                <a:ea typeface="Geist" pitchFamily="34" charset="-122"/>
                <a:cs typeface="Geist" pitchFamily="34" charset="-120"/>
              </a:rPr>
              <a:t xml:space="preserve"> — 6 requests. Compare, award the right one, raise the order.</a:t>
            </a:r>
            <a:endParaRPr lang="en-US" sz="1550" dirty="0"/>
          </a:p>
        </p:txBody>
      </p:sp>
      <p:sp>
        <p:nvSpPr>
          <p:cNvPr id="21" name="Shape 19"/>
          <p:cNvSpPr/>
          <p:nvPr/>
        </p:nvSpPr>
        <p:spPr>
          <a:xfrm>
            <a:off x="841248" y="5504688"/>
            <a:ext cx="10509199" cy="0"/>
          </a:xfrm>
          <a:prstGeom prst="line">
            <a:avLst/>
          </a:prstGeom>
          <a:noFill/>
          <a:ln w="9525">
            <a:solidFill>
              <a:srgbClr val="2C2D34"/>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8127797" cy="41148"/>
          </a:xfrm>
          <a:prstGeom prst="rect">
            <a:avLst/>
          </a:prstGeom>
          <a:solidFill>
            <a:srgbClr val="E8B84B"/>
          </a:solidFill>
          <a:ln/>
        </p:spPr>
      </p:sp>
      <p:sp>
        <p:nvSpPr>
          <p:cNvPr id="3" name="Text 1"/>
          <p:cNvSpPr/>
          <p:nvPr/>
        </p:nvSpPr>
        <p:spPr>
          <a:xfrm>
            <a:off x="841248" y="274320"/>
            <a:ext cx="5486400" cy="310896"/>
          </a:xfrm>
          <a:prstGeom prst="rect">
            <a:avLst/>
          </a:prstGeom>
          <a:noFill/>
          <a:ln/>
        </p:spPr>
        <p:txBody>
          <a:bodyPr wrap="square" lIns="0" tIns="0" rIns="0" bIns="0" rtlCol="0" anchor="ctr"/>
          <a:lstStyle/>
          <a:p>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F4F4F2"/>
                </a:solidFill>
                <a:latin typeface="Geist Mono" pitchFamily="34" charset="0"/>
                <a:ea typeface="Geist Mono" pitchFamily="34" charset="-122"/>
                <a:cs typeface="Geist Mono" pitchFamily="34" charset="-120"/>
              </a:rPr>
              <a:t>MS</a:t>
            </a:r>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6A6D75"/>
                </a:solidFill>
                <a:latin typeface="Geist Mono" pitchFamily="34" charset="0"/>
                <a:ea typeface="Geist Mono" pitchFamily="34" charset="-122"/>
                <a:cs typeface="Geist Mono" pitchFamily="34" charset="-120"/>
              </a:rPr>
              <a:t>  DU MENTORING</a:t>
            </a:r>
            <a:endParaRPr lang="en-US" sz="1100" dirty="0"/>
          </a:p>
        </p:txBody>
      </p:sp>
      <p:sp>
        <p:nvSpPr>
          <p:cNvPr id="4" name="Text 2"/>
          <p:cNvSpPr/>
          <p:nvPr/>
        </p:nvSpPr>
        <p:spPr>
          <a:xfrm>
            <a:off x="5864047" y="274320"/>
            <a:ext cx="5486400" cy="310896"/>
          </a:xfrm>
          <a:prstGeom prst="rect">
            <a:avLst/>
          </a:prstGeom>
          <a:noFill/>
          <a:ln/>
        </p:spPr>
        <p:txBody>
          <a:bodyPr wrap="square" lIns="0" tIns="0" rIns="0" bIns="0" rtlCol="0" anchor="ctr"/>
          <a:lstStyle/>
          <a:p>
            <a:pPr algn="r" indent="0" marL="0">
              <a:buNone/>
            </a:pPr>
            <a:r>
              <a:rPr lang="en-US" sz="1000" spc="150" kern="0" dirty="0" b="0">
                <a:solidFill>
                  <a:srgbClr val="6A6D75"/>
                </a:solidFill>
                <a:latin typeface="Geist Mono" pitchFamily="34" charset="0"/>
                <a:ea typeface="Geist Mono" pitchFamily="34" charset="-122"/>
                <a:cs typeface="Geist Mono" pitchFamily="34" charset="-120"/>
              </a:rPr>
              <a:t>BONUS / PRACTICE LAB · AUTOMATION LAB</a:t>
            </a:r>
            <a:endParaRPr lang="en-US" sz="1000" dirty="0"/>
          </a:p>
        </p:txBody>
      </p:sp>
      <p:sp>
        <p:nvSpPr>
          <p:cNvPr id="5" name="Text 3"/>
          <p:cNvSpPr/>
          <p:nvPr/>
        </p:nvSpPr>
        <p:spPr>
          <a:xfrm>
            <a:off x="841248" y="6400800"/>
            <a:ext cx="7315200" cy="274320"/>
          </a:xfrm>
          <a:prstGeom prst="rect">
            <a:avLst/>
          </a:prstGeom>
          <a:noFill/>
          <a:ln/>
        </p:spPr>
        <p:txBody>
          <a:bodyPr wrap="square" lIns="0" tIns="0" rIns="0" bIns="0" rtlCol="0" anchor="ctr"/>
          <a:lstStyle/>
          <a:p>
            <a:pPr indent="0" marL="0">
              <a:buNone/>
            </a:pPr>
            <a:r>
              <a:rPr lang="en-US" sz="950" spc="100" kern="0" dirty="0" b="0">
                <a:solidFill>
                  <a:srgbClr val="6A6D75"/>
                </a:solidFill>
                <a:latin typeface="Geist Mono" pitchFamily="34" charset="0"/>
                <a:ea typeface="Geist Mono" pitchFamily="34" charset="-122"/>
                <a:cs typeface="Geist Mono" pitchFamily="34" charset="-120"/>
              </a:rPr>
              <a:t>v2026.1 · BONUS · THE AUTOMATION LAB</a:t>
            </a:r>
            <a:endParaRPr lang="en-US" sz="950" dirty="0"/>
          </a:p>
        </p:txBody>
      </p:sp>
      <p:sp>
        <p:nvSpPr>
          <p:cNvPr id="6" name="Text 4"/>
          <p:cNvSpPr/>
          <p:nvPr/>
        </p:nvSpPr>
        <p:spPr>
          <a:xfrm>
            <a:off x="8607247" y="6400800"/>
            <a:ext cx="2743200" cy="274320"/>
          </a:xfrm>
          <a:prstGeom prst="rect">
            <a:avLst/>
          </a:prstGeom>
          <a:noFill/>
          <a:ln/>
        </p:spPr>
        <p:txBody>
          <a:bodyPr wrap="square" lIns="0" tIns="0" rIns="0" bIns="0" rtlCol="0" anchor="ctr"/>
          <a:lstStyle/>
          <a:p>
            <a:pPr algn="r" indent="0" marL="0">
              <a:buNone/>
            </a:pPr>
            <a:pPr algn="r" indent="0" marL="0">
              <a:buNone/>
            </a:pPr>
            <a:r>
              <a:rPr lang="en-US" sz="1000" spc="100" kern="0" dirty="0" b="0">
                <a:solidFill>
                  <a:srgbClr val="F4F4F2"/>
                </a:solidFill>
                <a:latin typeface="Geist Mono" pitchFamily="34" charset="0"/>
                <a:ea typeface="Geist Mono" pitchFamily="34" charset="-122"/>
                <a:cs typeface="Geist Mono" pitchFamily="34" charset="-120"/>
              </a:rPr>
              <a:t>12</a:t>
            </a:r>
            <a:r>
              <a:rPr lang="en-US" sz="1000" spc="100" kern="0" dirty="0" b="0">
                <a:solidFill>
                  <a:srgbClr val="6A6D75"/>
                </a:solidFill>
                <a:latin typeface="Geist Mono" pitchFamily="34" charset="0"/>
                <a:ea typeface="Geist Mono" pitchFamily="34" charset="-122"/>
                <a:cs typeface="Geist Mono" pitchFamily="34" charset="-120"/>
              </a:rPr>
              <a:t xml:space="preserve"> / 18</a:t>
            </a:r>
            <a:endParaRPr lang="en-US" sz="1000" dirty="0"/>
          </a:p>
        </p:txBody>
      </p:sp>
      <p:sp>
        <p:nvSpPr>
          <p:cNvPr id="7" name="Text 5"/>
          <p:cNvSpPr/>
          <p:nvPr/>
        </p:nvSpPr>
        <p:spPr>
          <a:xfrm>
            <a:off x="841248" y="1371600"/>
            <a:ext cx="10509199" cy="310896"/>
          </a:xfrm>
          <a:prstGeom prst="rect">
            <a:avLst/>
          </a:prstGeom>
          <a:noFill/>
          <a:ln/>
        </p:spPr>
        <p:txBody>
          <a:bodyPr wrap="square" lIns="0" tIns="0" rIns="0" bIns="0" rtlCol="0" anchor="ctr"/>
          <a:lstStyle/>
          <a:p>
            <a:pPr indent="0" marL="0">
              <a:buNone/>
            </a:pPr>
            <a:pPr indent="0" marL="0">
              <a:buNone/>
            </a:pPr>
            <a:pPr indent="0" marL="0">
              <a:buNone/>
            </a:pPr>
            <a:r>
              <a:rPr lang="en-US" sz="1250" spc="200" kern="0" dirty="0" b="0">
                <a:solidFill>
                  <a:srgbClr val="9B9EA6"/>
                </a:solidFill>
                <a:latin typeface="Geist Mono" pitchFamily="34" charset="0"/>
                <a:ea typeface="Geist Mono" pitchFamily="34" charset="-122"/>
                <a:cs typeface="Geist Mono" pitchFamily="34" charset="-120"/>
              </a:rPr>
              <a:t>— 06</a:t>
            </a:r>
            <a:r>
              <a:rPr lang="en-US" sz="1250" spc="200" kern="0" dirty="0" b="0">
                <a:solidFill>
                  <a:srgbClr val="6A6D75"/>
                </a:solidFill>
                <a:latin typeface="Geist Mono" pitchFamily="34" charset="0"/>
                <a:ea typeface="Geist Mono" pitchFamily="34" charset="-122"/>
                <a:cs typeface="Geist Mono" pitchFamily="34" charset="-120"/>
              </a:rPr>
              <a:t xml:space="preserve">   /   </a:t>
            </a:r>
            <a:r>
              <a:rPr lang="en-US" sz="1250" spc="200" kern="0" dirty="0" b="0">
                <a:solidFill>
                  <a:srgbClr val="9B9EA6"/>
                </a:solidFill>
                <a:latin typeface="Geist Mono" pitchFamily="34" charset="0"/>
                <a:ea typeface="Geist Mono" pitchFamily="34" charset="-122"/>
                <a:cs typeface="Geist Mono" pitchFamily="34" charset="-120"/>
              </a:rPr>
              <a:t>JUDGMENT</a:t>
            </a:r>
            <a:endParaRPr lang="en-US" sz="1250" dirty="0"/>
          </a:p>
        </p:txBody>
      </p:sp>
      <p:sp>
        <p:nvSpPr>
          <p:cNvPr id="8" name="Text 6"/>
          <p:cNvSpPr/>
          <p:nvPr/>
        </p:nvSpPr>
        <p:spPr>
          <a:xfrm>
            <a:off x="841248" y="1828800"/>
            <a:ext cx="10509199" cy="1371600"/>
          </a:xfrm>
          <a:prstGeom prst="rect">
            <a:avLst/>
          </a:prstGeom>
          <a:noFill/>
          <a:ln/>
        </p:spPr>
        <p:txBody>
          <a:bodyPr wrap="square" lIns="0" tIns="0" rIns="0" bIns="0" rtlCol="0" anchor="t"/>
          <a:lstStyle/>
          <a:p>
            <a:pPr indent="0" marL="0">
              <a:lnSpc>
                <a:spcPct val="102000"/>
              </a:lnSpc>
              <a:buNone/>
            </a:pPr>
            <a:pPr indent="0" marL="0">
              <a:lnSpc>
                <a:spcPct val="102000"/>
              </a:lnSpc>
              <a:buNone/>
            </a:pPr>
            <a:r>
              <a:rPr lang="en-US" sz="2900" b="1" dirty="0">
                <a:solidFill>
                  <a:srgbClr val="F4F4F2"/>
                </a:solidFill>
                <a:latin typeface="Geist" pitchFamily="34" charset="0"/>
                <a:ea typeface="Geist" pitchFamily="34" charset="-122"/>
                <a:cs typeface="Geist" pitchFamily="34" charset="-120"/>
              </a:rPr>
              <a:t>What the score measures — and what it doesn't.</a:t>
            </a:r>
            <a:endParaRPr lang="en-US" sz="2900" dirty="0"/>
          </a:p>
        </p:txBody>
      </p:sp>
      <p:sp>
        <p:nvSpPr>
          <p:cNvPr id="9" name="Shape 7"/>
          <p:cNvSpPr/>
          <p:nvPr/>
        </p:nvSpPr>
        <p:spPr>
          <a:xfrm>
            <a:off x="841248" y="2971800"/>
            <a:ext cx="10509199" cy="0"/>
          </a:xfrm>
          <a:prstGeom prst="line">
            <a:avLst/>
          </a:prstGeom>
          <a:noFill/>
          <a:ln w="9525">
            <a:solidFill>
              <a:srgbClr val="2C2D34"/>
            </a:solidFill>
            <a:prstDash val="solid"/>
          </a:ln>
        </p:spPr>
      </p:sp>
      <p:sp>
        <p:nvSpPr>
          <p:cNvPr id="10" name="Text 8"/>
          <p:cNvSpPr/>
          <p:nvPr/>
        </p:nvSpPr>
        <p:spPr>
          <a:xfrm>
            <a:off x="841248" y="3090672"/>
            <a:ext cx="640080" cy="566928"/>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a:t>
            </a:r>
            <a:endParaRPr lang="en-US" sz="1250" dirty="0"/>
          </a:p>
        </p:txBody>
      </p:sp>
      <p:sp>
        <p:nvSpPr>
          <p:cNvPr id="11" name="Text 9"/>
          <p:cNvSpPr/>
          <p:nvPr/>
        </p:nvSpPr>
        <p:spPr>
          <a:xfrm>
            <a:off x="1554480" y="3072384"/>
            <a:ext cx="9795967" cy="603504"/>
          </a:xfrm>
          <a:prstGeom prst="rect">
            <a:avLst/>
          </a:prstGeom>
          <a:noFill/>
          <a:ln/>
        </p:spPr>
        <p:txBody>
          <a:bodyPr wrap="square" lIns="0" tIns="0" rIns="0" bIns="0" rtlCol="0" anchor="t"/>
          <a:lstStyle/>
          <a:p>
            <a:pPr indent="0" marL="0">
              <a:lnSpc>
                <a:spcPct val="112000"/>
              </a:lnSpc>
              <a:buNone/>
            </a:pPr>
            <a:pPr indent="0" marL="0">
              <a:lnSpc>
                <a:spcPct val="112000"/>
              </a:lnSpc>
              <a:buNone/>
            </a:pPr>
            <a:r>
              <a:rPr lang="en-US" sz="1550" b="0" dirty="0">
                <a:solidFill>
                  <a:srgbClr val="9B9EA6"/>
                </a:solidFill>
                <a:latin typeface="Geist" pitchFamily="34" charset="0"/>
                <a:ea typeface="Geist" pitchFamily="34" charset="-122"/>
                <a:cs typeface="Geist" pitchFamily="34" charset="-120"/>
              </a:rPr>
              <a:t>Whether your bot read the page correctly and then did the right thing about it.</a:t>
            </a:r>
            <a:endParaRPr lang="en-US" sz="1550" dirty="0"/>
          </a:p>
        </p:txBody>
      </p:sp>
      <p:sp>
        <p:nvSpPr>
          <p:cNvPr id="12" name="Shape 10"/>
          <p:cNvSpPr/>
          <p:nvPr/>
        </p:nvSpPr>
        <p:spPr>
          <a:xfrm>
            <a:off x="841248" y="3630168"/>
            <a:ext cx="10509199" cy="0"/>
          </a:xfrm>
          <a:prstGeom prst="line">
            <a:avLst/>
          </a:prstGeom>
          <a:noFill/>
          <a:ln w="9525">
            <a:solidFill>
              <a:srgbClr val="2C2D34"/>
            </a:solidFill>
            <a:prstDash val="solid"/>
          </a:ln>
        </p:spPr>
      </p:sp>
      <p:sp>
        <p:nvSpPr>
          <p:cNvPr id="13" name="Text 11"/>
          <p:cNvSpPr/>
          <p:nvPr/>
        </p:nvSpPr>
        <p:spPr>
          <a:xfrm>
            <a:off x="841248" y="3749040"/>
            <a:ext cx="640080" cy="566928"/>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a:t>
            </a:r>
            <a:endParaRPr lang="en-US" sz="1250" dirty="0"/>
          </a:p>
        </p:txBody>
      </p:sp>
      <p:sp>
        <p:nvSpPr>
          <p:cNvPr id="14" name="Text 12"/>
          <p:cNvSpPr/>
          <p:nvPr/>
        </p:nvSpPr>
        <p:spPr>
          <a:xfrm>
            <a:off x="1554480" y="3730752"/>
            <a:ext cx="9795967" cy="603504"/>
          </a:xfrm>
          <a:prstGeom prst="rect">
            <a:avLst/>
          </a:prstGeom>
          <a:noFill/>
          <a:ln/>
        </p:spPr>
        <p:txBody>
          <a:bodyPr wrap="square" lIns="0" tIns="0" rIns="0" bIns="0" rtlCol="0" anchor="t"/>
          <a:lstStyle/>
          <a:p>
            <a:pPr indent="0" marL="0">
              <a:lnSpc>
                <a:spcPct val="112000"/>
              </a:lnSpc>
              <a:buNone/>
            </a:pPr>
            <a:pPr indent="0" marL="0">
              <a:lnSpc>
                <a:spcPct val="112000"/>
              </a:lnSpc>
              <a:buNone/>
            </a:pPr>
            <a:r>
              <a:rPr lang="en-US" sz="1550" b="0" dirty="0">
                <a:solidFill>
                  <a:srgbClr val="9B9EA6"/>
                </a:solidFill>
                <a:latin typeface="Geist" pitchFamily="34" charset="0"/>
                <a:ea typeface="Geist" pitchFamily="34" charset="-122"/>
                <a:cs typeface="Geist" pitchFamily="34" charset="-120"/>
              </a:rPr>
              <a:t>How clever the code is. Share it freely — the lab scores the work, not the author.</a:t>
            </a:r>
            <a:endParaRPr lang="en-US" sz="1550" dirty="0"/>
          </a:p>
        </p:txBody>
      </p:sp>
      <p:sp>
        <p:nvSpPr>
          <p:cNvPr id="15" name="Shape 13"/>
          <p:cNvSpPr/>
          <p:nvPr/>
        </p:nvSpPr>
        <p:spPr>
          <a:xfrm>
            <a:off x="841248" y="4288536"/>
            <a:ext cx="10509199" cy="0"/>
          </a:xfrm>
          <a:prstGeom prst="line">
            <a:avLst/>
          </a:prstGeom>
          <a:noFill/>
          <a:ln w="9525">
            <a:solidFill>
              <a:srgbClr val="2C2D34"/>
            </a:solidFill>
            <a:prstDash val="solid"/>
          </a:ln>
        </p:spPr>
      </p:sp>
      <p:sp>
        <p:nvSpPr>
          <p:cNvPr id="16" name="Text 14"/>
          <p:cNvSpPr/>
          <p:nvPr/>
        </p:nvSpPr>
        <p:spPr>
          <a:xfrm>
            <a:off x="841248" y="4407408"/>
            <a:ext cx="640080" cy="566928"/>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a:t>
            </a:r>
            <a:endParaRPr lang="en-US" sz="1250" dirty="0"/>
          </a:p>
        </p:txBody>
      </p:sp>
      <p:sp>
        <p:nvSpPr>
          <p:cNvPr id="17" name="Text 15"/>
          <p:cNvSpPr/>
          <p:nvPr/>
        </p:nvSpPr>
        <p:spPr>
          <a:xfrm>
            <a:off x="1554480" y="4389120"/>
            <a:ext cx="9795967" cy="603504"/>
          </a:xfrm>
          <a:prstGeom prst="rect">
            <a:avLst/>
          </a:prstGeom>
          <a:noFill/>
          <a:ln/>
        </p:spPr>
        <p:txBody>
          <a:bodyPr wrap="square" lIns="0" tIns="0" rIns="0" bIns="0" rtlCol="0" anchor="t"/>
          <a:lstStyle/>
          <a:p>
            <a:pPr indent="0" marL="0">
              <a:lnSpc>
                <a:spcPct val="112000"/>
              </a:lnSpc>
              <a:buNone/>
            </a:pPr>
            <a:pPr indent="0" marL="0">
              <a:lnSpc>
                <a:spcPct val="112000"/>
              </a:lnSpc>
              <a:buNone/>
            </a:pPr>
            <a:r>
              <a:rPr lang="en-US" sz="1550" b="0" dirty="0">
                <a:solidFill>
                  <a:srgbClr val="9B9EA6"/>
                </a:solidFill>
                <a:latin typeface="Geist" pitchFamily="34" charset="0"/>
                <a:ea typeface="Geist" pitchFamily="34" charset="-122"/>
                <a:cs typeface="Geist" pitchFamily="34" charset="-120"/>
              </a:rPr>
              <a:t>How fast you type. Time is five points in a hundred — the smallest of the five, on purpose.</a:t>
            </a:r>
            <a:endParaRPr lang="en-US" sz="1550" dirty="0"/>
          </a:p>
        </p:txBody>
      </p:sp>
      <p:sp>
        <p:nvSpPr>
          <p:cNvPr id="18" name="Shape 16"/>
          <p:cNvSpPr/>
          <p:nvPr/>
        </p:nvSpPr>
        <p:spPr>
          <a:xfrm>
            <a:off x="841248" y="4946904"/>
            <a:ext cx="10509199" cy="0"/>
          </a:xfrm>
          <a:prstGeom prst="line">
            <a:avLst/>
          </a:prstGeom>
          <a:noFill/>
          <a:ln w="9525">
            <a:solidFill>
              <a:srgbClr val="2C2D34"/>
            </a:solidFill>
            <a:prstDash val="solid"/>
          </a:ln>
        </p:spPr>
      </p:sp>
      <p:sp>
        <p:nvSpPr>
          <p:cNvPr id="19" name="Shape 17"/>
          <p:cNvSpPr/>
          <p:nvPr/>
        </p:nvSpPr>
        <p:spPr>
          <a:xfrm>
            <a:off x="841248" y="5788152"/>
            <a:ext cx="27432" cy="420624"/>
          </a:xfrm>
          <a:prstGeom prst="rect">
            <a:avLst/>
          </a:prstGeom>
          <a:solidFill>
            <a:srgbClr val="E8B84B"/>
          </a:solidFill>
          <a:ln/>
        </p:spPr>
      </p:sp>
      <p:sp>
        <p:nvSpPr>
          <p:cNvPr id="20" name="Text 18"/>
          <p:cNvSpPr/>
          <p:nvPr/>
        </p:nvSpPr>
        <p:spPr>
          <a:xfrm>
            <a:off x="1042416" y="5705856"/>
            <a:ext cx="10040112" cy="566928"/>
          </a:xfrm>
          <a:prstGeom prst="rect">
            <a:avLst/>
          </a:prstGeom>
          <a:noFill/>
          <a:ln/>
        </p:spPr>
        <p:txBody>
          <a:bodyPr wrap="square" lIns="0" tIns="0" rIns="0" bIns="0" rtlCol="0" anchor="ctr"/>
          <a:lstStyle/>
          <a:p>
            <a:pPr indent="0" marL="0">
              <a:lnSpc>
                <a:spcPct val="130000"/>
              </a:lnSpc>
              <a:buNone/>
            </a:pPr>
            <a:r>
              <a:rPr lang="en-US" sz="1200" dirty="0" b="0">
                <a:solidFill>
                  <a:srgbClr val="9B9EA6"/>
                </a:solidFill>
                <a:latin typeface="Geist Mono" pitchFamily="34" charset="0"/>
                <a:ea typeface="Geist Mono" pitchFamily="34" charset="-122"/>
                <a:cs typeface="Geist Mono" pitchFamily="34" charset="-120"/>
              </a:rPr>
              <a:t>Copy any code you like. You still have to read the page.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8805113" cy="41148"/>
          </a:xfrm>
          <a:prstGeom prst="rect">
            <a:avLst/>
          </a:prstGeom>
          <a:solidFill>
            <a:srgbClr val="E8B84B"/>
          </a:solidFill>
          <a:ln/>
        </p:spPr>
      </p:sp>
      <p:sp>
        <p:nvSpPr>
          <p:cNvPr id="3" name="Text 1"/>
          <p:cNvSpPr/>
          <p:nvPr/>
        </p:nvSpPr>
        <p:spPr>
          <a:xfrm>
            <a:off x="841248" y="274320"/>
            <a:ext cx="5486400" cy="310896"/>
          </a:xfrm>
          <a:prstGeom prst="rect">
            <a:avLst/>
          </a:prstGeom>
          <a:noFill/>
          <a:ln/>
        </p:spPr>
        <p:txBody>
          <a:bodyPr wrap="square" lIns="0" tIns="0" rIns="0" bIns="0" rtlCol="0" anchor="ctr"/>
          <a:lstStyle/>
          <a:p>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F4F4F2"/>
                </a:solidFill>
                <a:latin typeface="Geist Mono" pitchFamily="34" charset="0"/>
                <a:ea typeface="Geist Mono" pitchFamily="34" charset="-122"/>
                <a:cs typeface="Geist Mono" pitchFamily="34" charset="-120"/>
              </a:rPr>
              <a:t>MS</a:t>
            </a:r>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6A6D75"/>
                </a:solidFill>
                <a:latin typeface="Geist Mono" pitchFamily="34" charset="0"/>
                <a:ea typeface="Geist Mono" pitchFamily="34" charset="-122"/>
                <a:cs typeface="Geist Mono" pitchFamily="34" charset="-120"/>
              </a:rPr>
              <a:t>  DU MENTORING</a:t>
            </a:r>
            <a:endParaRPr lang="en-US" sz="1100" dirty="0"/>
          </a:p>
        </p:txBody>
      </p:sp>
      <p:sp>
        <p:nvSpPr>
          <p:cNvPr id="4" name="Text 2"/>
          <p:cNvSpPr/>
          <p:nvPr/>
        </p:nvSpPr>
        <p:spPr>
          <a:xfrm>
            <a:off x="5864047" y="274320"/>
            <a:ext cx="5486400" cy="310896"/>
          </a:xfrm>
          <a:prstGeom prst="rect">
            <a:avLst/>
          </a:prstGeom>
          <a:noFill/>
          <a:ln/>
        </p:spPr>
        <p:txBody>
          <a:bodyPr wrap="square" lIns="0" tIns="0" rIns="0" bIns="0" rtlCol="0" anchor="ctr"/>
          <a:lstStyle/>
          <a:p>
            <a:pPr algn="r" indent="0" marL="0">
              <a:buNone/>
            </a:pPr>
            <a:r>
              <a:rPr lang="en-US" sz="1000" spc="150" kern="0" dirty="0" b="0">
                <a:solidFill>
                  <a:srgbClr val="6A6D75"/>
                </a:solidFill>
                <a:latin typeface="Geist Mono" pitchFamily="34" charset="0"/>
                <a:ea typeface="Geist Mono" pitchFamily="34" charset="-122"/>
                <a:cs typeface="Geist Mono" pitchFamily="34" charset="-120"/>
              </a:rPr>
              <a:t>BONUS / PRACTICE LAB · AUTOMATION LAB</a:t>
            </a:r>
            <a:endParaRPr lang="en-US" sz="1000" dirty="0"/>
          </a:p>
        </p:txBody>
      </p:sp>
      <p:sp>
        <p:nvSpPr>
          <p:cNvPr id="5" name="Text 3"/>
          <p:cNvSpPr/>
          <p:nvPr/>
        </p:nvSpPr>
        <p:spPr>
          <a:xfrm>
            <a:off x="841248" y="6400800"/>
            <a:ext cx="7315200" cy="274320"/>
          </a:xfrm>
          <a:prstGeom prst="rect">
            <a:avLst/>
          </a:prstGeom>
          <a:noFill/>
          <a:ln/>
        </p:spPr>
        <p:txBody>
          <a:bodyPr wrap="square" lIns="0" tIns="0" rIns="0" bIns="0" rtlCol="0" anchor="ctr"/>
          <a:lstStyle/>
          <a:p>
            <a:pPr indent="0" marL="0">
              <a:buNone/>
            </a:pPr>
            <a:r>
              <a:rPr lang="en-US" sz="950" spc="100" kern="0" dirty="0" b="0">
                <a:solidFill>
                  <a:srgbClr val="6A6D75"/>
                </a:solidFill>
                <a:latin typeface="Geist Mono" pitchFamily="34" charset="0"/>
                <a:ea typeface="Geist Mono" pitchFamily="34" charset="-122"/>
                <a:cs typeface="Geist Mono" pitchFamily="34" charset="-120"/>
              </a:rPr>
              <a:t>v2026.1 · BONUS · THE AUTOMATION LAB</a:t>
            </a:r>
            <a:endParaRPr lang="en-US" sz="950" dirty="0"/>
          </a:p>
        </p:txBody>
      </p:sp>
      <p:sp>
        <p:nvSpPr>
          <p:cNvPr id="6" name="Text 4"/>
          <p:cNvSpPr/>
          <p:nvPr/>
        </p:nvSpPr>
        <p:spPr>
          <a:xfrm>
            <a:off x="8607247" y="6400800"/>
            <a:ext cx="2743200" cy="274320"/>
          </a:xfrm>
          <a:prstGeom prst="rect">
            <a:avLst/>
          </a:prstGeom>
          <a:noFill/>
          <a:ln/>
        </p:spPr>
        <p:txBody>
          <a:bodyPr wrap="square" lIns="0" tIns="0" rIns="0" bIns="0" rtlCol="0" anchor="ctr"/>
          <a:lstStyle/>
          <a:p>
            <a:pPr algn="r" indent="0" marL="0">
              <a:buNone/>
            </a:pPr>
            <a:pPr algn="r" indent="0" marL="0">
              <a:buNone/>
            </a:pPr>
            <a:r>
              <a:rPr lang="en-US" sz="1000" spc="100" kern="0" dirty="0" b="0">
                <a:solidFill>
                  <a:srgbClr val="F4F4F2"/>
                </a:solidFill>
                <a:latin typeface="Geist Mono" pitchFamily="34" charset="0"/>
                <a:ea typeface="Geist Mono" pitchFamily="34" charset="-122"/>
                <a:cs typeface="Geist Mono" pitchFamily="34" charset="-120"/>
              </a:rPr>
              <a:t>13</a:t>
            </a:r>
            <a:r>
              <a:rPr lang="en-US" sz="1000" spc="100" kern="0" dirty="0" b="0">
                <a:solidFill>
                  <a:srgbClr val="6A6D75"/>
                </a:solidFill>
                <a:latin typeface="Geist Mono" pitchFamily="34" charset="0"/>
                <a:ea typeface="Geist Mono" pitchFamily="34" charset="-122"/>
                <a:cs typeface="Geist Mono" pitchFamily="34" charset="-120"/>
              </a:rPr>
              <a:t xml:space="preserve"> / 18</a:t>
            </a:r>
            <a:endParaRPr lang="en-US" sz="1000" dirty="0"/>
          </a:p>
        </p:txBody>
      </p:sp>
      <p:sp>
        <p:nvSpPr>
          <p:cNvPr id="7" name="Shape 5"/>
          <p:cNvSpPr/>
          <p:nvPr/>
        </p:nvSpPr>
        <p:spPr>
          <a:xfrm>
            <a:off x="841248" y="1444752"/>
            <a:ext cx="146304" cy="146304"/>
          </a:xfrm>
          <a:prstGeom prst="ellipse">
            <a:avLst/>
          </a:prstGeom>
          <a:solidFill>
            <a:srgbClr val="4ADE80"/>
          </a:solidFill>
          <a:ln/>
        </p:spPr>
      </p:sp>
      <p:sp>
        <p:nvSpPr>
          <p:cNvPr id="8" name="Text 6"/>
          <p:cNvSpPr/>
          <p:nvPr/>
        </p:nvSpPr>
        <p:spPr>
          <a:xfrm>
            <a:off x="1097280" y="1371600"/>
            <a:ext cx="10509199" cy="310896"/>
          </a:xfrm>
          <a:prstGeom prst="rect">
            <a:avLst/>
          </a:prstGeom>
          <a:noFill/>
          <a:ln/>
        </p:spPr>
        <p:txBody>
          <a:bodyPr wrap="square" lIns="0" tIns="0" rIns="0" bIns="0" rtlCol="0" anchor="ctr"/>
          <a:lstStyle/>
          <a:p>
            <a:pPr indent="0" marL="0">
              <a:buNone/>
            </a:pPr>
            <a:r>
              <a:rPr lang="en-US" sz="1200" spc="200" kern="0" dirty="0" b="0">
                <a:solidFill>
                  <a:srgbClr val="E8B84B"/>
                </a:solidFill>
                <a:latin typeface="Geist Mono" pitchFamily="34" charset="0"/>
                <a:ea typeface="Geist Mono" pitchFamily="34" charset="-122"/>
                <a:cs typeface="Geist Mono" pitchFamily="34" charset="-120"/>
              </a:rPr>
              <a:t>LIVE · TOGETHER</a:t>
            </a:r>
            <a:endParaRPr lang="en-US" sz="1200" dirty="0"/>
          </a:p>
        </p:txBody>
      </p:sp>
      <p:sp>
        <p:nvSpPr>
          <p:cNvPr id="9" name="Text 7"/>
          <p:cNvSpPr/>
          <p:nvPr/>
        </p:nvSpPr>
        <p:spPr>
          <a:xfrm>
            <a:off x="841248" y="1828800"/>
            <a:ext cx="10509199" cy="822960"/>
          </a:xfrm>
          <a:prstGeom prst="rect">
            <a:avLst/>
          </a:prstGeom>
          <a:noFill/>
          <a:ln/>
        </p:spPr>
        <p:txBody>
          <a:bodyPr wrap="square" lIns="0" tIns="0" rIns="0" bIns="0" rtlCol="0" anchor="t"/>
          <a:lstStyle/>
          <a:p>
            <a:pPr indent="0" marL="0">
              <a:buNone/>
            </a:pPr>
            <a:pPr indent="0" marL="0">
              <a:buNone/>
            </a:pPr>
            <a:r>
              <a:rPr lang="en-US" sz="4000" b="1" dirty="0">
                <a:solidFill>
                  <a:srgbClr val="F4F4F2"/>
                </a:solidFill>
                <a:latin typeface="Geist" pitchFamily="34" charset="0"/>
                <a:ea typeface="Geist" pitchFamily="34" charset="-122"/>
                <a:cs typeface="Geist" pitchFamily="34" charset="-120"/>
              </a:rPr>
              <a:t>What we'll do right now.</a:t>
            </a:r>
            <a:endParaRPr lang="en-US" sz="4000" dirty="0"/>
          </a:p>
        </p:txBody>
      </p:sp>
      <p:sp>
        <p:nvSpPr>
          <p:cNvPr id="10" name="Shape 8"/>
          <p:cNvSpPr/>
          <p:nvPr/>
        </p:nvSpPr>
        <p:spPr>
          <a:xfrm>
            <a:off x="841248" y="2880360"/>
            <a:ext cx="10509199" cy="0"/>
          </a:xfrm>
          <a:prstGeom prst="line">
            <a:avLst/>
          </a:prstGeom>
          <a:noFill/>
          <a:ln w="9525">
            <a:solidFill>
              <a:srgbClr val="2C2D34"/>
            </a:solidFill>
            <a:prstDash val="solid"/>
          </a:ln>
        </p:spPr>
      </p:sp>
      <p:sp>
        <p:nvSpPr>
          <p:cNvPr id="11" name="Text 9"/>
          <p:cNvSpPr/>
          <p:nvPr/>
        </p:nvSpPr>
        <p:spPr>
          <a:xfrm>
            <a:off x="841248" y="2999232"/>
            <a:ext cx="640080" cy="548640"/>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①</a:t>
            </a:r>
            <a:endParaRPr lang="en-US" sz="1250" dirty="0"/>
          </a:p>
        </p:txBody>
      </p:sp>
      <p:sp>
        <p:nvSpPr>
          <p:cNvPr id="12" name="Text 10"/>
          <p:cNvSpPr/>
          <p:nvPr/>
        </p:nvSpPr>
        <p:spPr>
          <a:xfrm>
            <a:off x="1554480" y="2980944"/>
            <a:ext cx="9795967" cy="585216"/>
          </a:xfrm>
          <a:prstGeom prst="rect">
            <a:avLst/>
          </a:prstGeom>
          <a:noFill/>
          <a:ln/>
        </p:spPr>
        <p:txBody>
          <a:bodyPr wrap="square" lIns="0" tIns="0" rIns="0" bIns="0" rtlCol="0" anchor="t"/>
          <a:lstStyle/>
          <a:p>
            <a:pPr indent="0" marL="0">
              <a:lnSpc>
                <a:spcPct val="112000"/>
              </a:lnSpc>
              <a:buNone/>
            </a:pPr>
            <a:pPr indent="0" marL="0">
              <a:lnSpc>
                <a:spcPct val="112000"/>
              </a:lnSpc>
              <a:buNone/>
            </a:pPr>
            <a:r>
              <a:rPr lang="en-US" sz="1550" dirty="0" b="0">
                <a:solidFill>
                  <a:srgbClr val="9B9EA6"/>
                </a:solidFill>
                <a:latin typeface="Geist" pitchFamily="34" charset="0"/>
                <a:ea typeface="Geist" pitchFamily="34" charset="-122"/>
                <a:cs typeface="Geist" pitchFamily="34" charset="-120"/>
              </a:rPr>
              <a:t>Sign up. Your workspace opens immediately — there is nothing to provision.</a:t>
            </a:r>
            <a:endParaRPr lang="en-US" sz="1550" dirty="0"/>
          </a:p>
        </p:txBody>
      </p:sp>
      <p:sp>
        <p:nvSpPr>
          <p:cNvPr id="13" name="Shape 11"/>
          <p:cNvSpPr/>
          <p:nvPr/>
        </p:nvSpPr>
        <p:spPr>
          <a:xfrm>
            <a:off x="841248" y="3520440"/>
            <a:ext cx="10509199" cy="0"/>
          </a:xfrm>
          <a:prstGeom prst="line">
            <a:avLst/>
          </a:prstGeom>
          <a:noFill/>
          <a:ln w="9525">
            <a:solidFill>
              <a:srgbClr val="2C2D34"/>
            </a:solidFill>
            <a:prstDash val="solid"/>
          </a:ln>
        </p:spPr>
      </p:sp>
      <p:sp>
        <p:nvSpPr>
          <p:cNvPr id="14" name="Text 12"/>
          <p:cNvSpPr/>
          <p:nvPr/>
        </p:nvSpPr>
        <p:spPr>
          <a:xfrm>
            <a:off x="841248" y="3639312"/>
            <a:ext cx="640080" cy="548640"/>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②</a:t>
            </a:r>
            <a:endParaRPr lang="en-US" sz="1250" dirty="0"/>
          </a:p>
        </p:txBody>
      </p:sp>
      <p:sp>
        <p:nvSpPr>
          <p:cNvPr id="15" name="Text 13"/>
          <p:cNvSpPr/>
          <p:nvPr/>
        </p:nvSpPr>
        <p:spPr>
          <a:xfrm>
            <a:off x="1554480" y="3621024"/>
            <a:ext cx="9795967" cy="585216"/>
          </a:xfrm>
          <a:prstGeom prst="rect">
            <a:avLst/>
          </a:prstGeom>
          <a:noFill/>
          <a:ln/>
        </p:spPr>
        <p:txBody>
          <a:bodyPr wrap="square" lIns="0" tIns="0" rIns="0" bIns="0" rtlCol="0" anchor="t"/>
          <a:lstStyle/>
          <a:p>
            <a:pPr indent="0" marL="0">
              <a:lnSpc>
                <a:spcPct val="112000"/>
              </a:lnSpc>
              <a:buNone/>
            </a:pPr>
            <a:pPr indent="0" marL="0">
              <a:lnSpc>
                <a:spcPct val="112000"/>
              </a:lnSpc>
              <a:buNone/>
            </a:pPr>
            <a:pPr indent="0" marL="0">
              <a:lnSpc>
                <a:spcPct val="112000"/>
              </a:lnSpc>
              <a:buNone/>
            </a:pPr>
            <a:r>
              <a:rPr lang="en-US" sz="1550" dirty="0" b="0">
                <a:solidFill>
                  <a:srgbClr val="9B9EA6"/>
                </a:solidFill>
                <a:latin typeface="Geist" pitchFamily="34" charset="0"/>
                <a:ea typeface="Geist" pitchFamily="34" charset="-122"/>
                <a:cs typeface="Geist" pitchFamily="34" charset="-120"/>
              </a:rPr>
              <a:t>Open a practice run on goods receipt — one delivery, with the match result showing.</a:t>
            </a:r>
            <a:endParaRPr lang="en-US" sz="1550" dirty="0"/>
          </a:p>
        </p:txBody>
      </p:sp>
      <p:sp>
        <p:nvSpPr>
          <p:cNvPr id="16" name="Shape 14"/>
          <p:cNvSpPr/>
          <p:nvPr/>
        </p:nvSpPr>
        <p:spPr>
          <a:xfrm>
            <a:off x="841248" y="4160520"/>
            <a:ext cx="10509199" cy="0"/>
          </a:xfrm>
          <a:prstGeom prst="line">
            <a:avLst/>
          </a:prstGeom>
          <a:noFill/>
          <a:ln w="9525">
            <a:solidFill>
              <a:srgbClr val="2C2D34"/>
            </a:solidFill>
            <a:prstDash val="solid"/>
          </a:ln>
        </p:spPr>
      </p:sp>
      <p:sp>
        <p:nvSpPr>
          <p:cNvPr id="17" name="Text 15"/>
          <p:cNvSpPr/>
          <p:nvPr/>
        </p:nvSpPr>
        <p:spPr>
          <a:xfrm>
            <a:off x="841248" y="4279392"/>
            <a:ext cx="640080" cy="548640"/>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③</a:t>
            </a:r>
            <a:endParaRPr lang="en-US" sz="1250" dirty="0"/>
          </a:p>
        </p:txBody>
      </p:sp>
      <p:sp>
        <p:nvSpPr>
          <p:cNvPr id="18" name="Text 16"/>
          <p:cNvSpPr/>
          <p:nvPr/>
        </p:nvSpPr>
        <p:spPr>
          <a:xfrm>
            <a:off x="1554480" y="4261104"/>
            <a:ext cx="9795967" cy="585216"/>
          </a:xfrm>
          <a:prstGeom prst="rect">
            <a:avLst/>
          </a:prstGeom>
          <a:noFill/>
          <a:ln/>
        </p:spPr>
        <p:txBody>
          <a:bodyPr wrap="square" lIns="0" tIns="0" rIns="0" bIns="0" rtlCol="0" anchor="t"/>
          <a:lstStyle/>
          <a:p>
            <a:pPr indent="0" marL="0">
              <a:lnSpc>
                <a:spcPct val="112000"/>
              </a:lnSpc>
              <a:buNone/>
            </a:pPr>
            <a:pPr indent="0" marL="0">
              <a:lnSpc>
                <a:spcPct val="112000"/>
              </a:lnSpc>
              <a:buNone/>
            </a:pPr>
            <a:r>
              <a:rPr lang="en-US" sz="1550" dirty="0" b="0">
                <a:solidFill>
                  <a:srgbClr val="9B9EA6"/>
                </a:solidFill>
                <a:latin typeface="Geist" pitchFamily="34" charset="0"/>
                <a:ea typeface="Geist" pitchFamily="34" charset="-122"/>
                <a:cs typeface="Geist" pitchFamily="34" charset="-120"/>
              </a:rPr>
              <a:t>Mint an API token and post the same receipt again with a single HTTP call.</a:t>
            </a:r>
            <a:endParaRPr lang="en-US" sz="1550" dirty="0"/>
          </a:p>
        </p:txBody>
      </p:sp>
      <p:sp>
        <p:nvSpPr>
          <p:cNvPr id="19" name="Shape 17"/>
          <p:cNvSpPr/>
          <p:nvPr/>
        </p:nvSpPr>
        <p:spPr>
          <a:xfrm>
            <a:off x="841248" y="4800600"/>
            <a:ext cx="10509199" cy="0"/>
          </a:xfrm>
          <a:prstGeom prst="line">
            <a:avLst/>
          </a:prstGeom>
          <a:noFill/>
          <a:ln w="9525">
            <a:solidFill>
              <a:srgbClr val="2C2D34"/>
            </a:solidFill>
            <a:prstDash val="solid"/>
          </a:ln>
        </p:spPr>
      </p:sp>
      <p:sp>
        <p:nvSpPr>
          <p:cNvPr id="20" name="Text 18"/>
          <p:cNvSpPr/>
          <p:nvPr/>
        </p:nvSpPr>
        <p:spPr>
          <a:xfrm>
            <a:off x="841248" y="4919472"/>
            <a:ext cx="640080" cy="548640"/>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④</a:t>
            </a:r>
            <a:endParaRPr lang="en-US" sz="1250" dirty="0"/>
          </a:p>
        </p:txBody>
      </p:sp>
      <p:sp>
        <p:nvSpPr>
          <p:cNvPr id="21" name="Text 19"/>
          <p:cNvSpPr/>
          <p:nvPr/>
        </p:nvSpPr>
        <p:spPr>
          <a:xfrm>
            <a:off x="1554480" y="4901184"/>
            <a:ext cx="9795967" cy="585216"/>
          </a:xfrm>
          <a:prstGeom prst="rect">
            <a:avLst/>
          </a:prstGeom>
          <a:noFill/>
          <a:ln/>
        </p:spPr>
        <p:txBody>
          <a:bodyPr wrap="square" lIns="0" tIns="0" rIns="0" bIns="0" rtlCol="0" anchor="t"/>
          <a:lstStyle/>
          <a:p>
            <a:pPr indent="0" marL="0">
              <a:lnSpc>
                <a:spcPct val="112000"/>
              </a:lnSpc>
              <a:buNone/>
            </a:pPr>
            <a:pPr indent="0" marL="0">
              <a:lnSpc>
                <a:spcPct val="112000"/>
              </a:lnSpc>
              <a:buNone/>
            </a:pPr>
            <a:r>
              <a:rPr lang="en-US" sz="1550" dirty="0" b="0">
                <a:solidFill>
                  <a:srgbClr val="9B9EA6"/>
                </a:solidFill>
                <a:latin typeface="Geist" pitchFamily="34" charset="0"/>
                <a:ea typeface="Geist" pitchFamily="34" charset="-122"/>
                <a:cs typeface="Geist" pitchFamily="34" charset="-120"/>
              </a:rPr>
              <a:t>Refuse an over-delivery on purpose, and watch the lab agree with you.</a:t>
            </a:r>
            <a:endParaRPr lang="en-US" sz="1550" dirty="0"/>
          </a:p>
        </p:txBody>
      </p:sp>
      <p:sp>
        <p:nvSpPr>
          <p:cNvPr id="22" name="Shape 20"/>
          <p:cNvSpPr/>
          <p:nvPr/>
        </p:nvSpPr>
        <p:spPr>
          <a:xfrm>
            <a:off x="841248" y="5440680"/>
            <a:ext cx="10509199" cy="0"/>
          </a:xfrm>
          <a:prstGeom prst="line">
            <a:avLst/>
          </a:prstGeom>
          <a:noFill/>
          <a:ln w="9525">
            <a:solidFill>
              <a:srgbClr val="2C2D34"/>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482429" cy="41148"/>
          </a:xfrm>
          <a:prstGeom prst="rect">
            <a:avLst/>
          </a:prstGeom>
          <a:solidFill>
            <a:srgbClr val="E8B84B"/>
          </a:solidFill>
          <a:ln/>
        </p:spPr>
      </p:sp>
      <p:sp>
        <p:nvSpPr>
          <p:cNvPr id="3" name="Text 1"/>
          <p:cNvSpPr/>
          <p:nvPr/>
        </p:nvSpPr>
        <p:spPr>
          <a:xfrm>
            <a:off x="841248" y="274320"/>
            <a:ext cx="5486400" cy="310896"/>
          </a:xfrm>
          <a:prstGeom prst="rect">
            <a:avLst/>
          </a:prstGeom>
          <a:noFill/>
          <a:ln/>
        </p:spPr>
        <p:txBody>
          <a:bodyPr wrap="square" lIns="0" tIns="0" rIns="0" bIns="0" rtlCol="0" anchor="ctr"/>
          <a:lstStyle/>
          <a:p>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F4F4F2"/>
                </a:solidFill>
                <a:latin typeface="Geist Mono" pitchFamily="34" charset="0"/>
                <a:ea typeface="Geist Mono" pitchFamily="34" charset="-122"/>
                <a:cs typeface="Geist Mono" pitchFamily="34" charset="-120"/>
              </a:rPr>
              <a:t>MS</a:t>
            </a:r>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6A6D75"/>
                </a:solidFill>
                <a:latin typeface="Geist Mono" pitchFamily="34" charset="0"/>
                <a:ea typeface="Geist Mono" pitchFamily="34" charset="-122"/>
                <a:cs typeface="Geist Mono" pitchFamily="34" charset="-120"/>
              </a:rPr>
              <a:t>  DU MENTORING</a:t>
            </a:r>
            <a:endParaRPr lang="en-US" sz="1100" dirty="0"/>
          </a:p>
        </p:txBody>
      </p:sp>
      <p:sp>
        <p:nvSpPr>
          <p:cNvPr id="4" name="Text 2"/>
          <p:cNvSpPr/>
          <p:nvPr/>
        </p:nvSpPr>
        <p:spPr>
          <a:xfrm>
            <a:off x="5864047" y="274320"/>
            <a:ext cx="5486400" cy="310896"/>
          </a:xfrm>
          <a:prstGeom prst="rect">
            <a:avLst/>
          </a:prstGeom>
          <a:noFill/>
          <a:ln/>
        </p:spPr>
        <p:txBody>
          <a:bodyPr wrap="square" lIns="0" tIns="0" rIns="0" bIns="0" rtlCol="0" anchor="ctr"/>
          <a:lstStyle/>
          <a:p>
            <a:pPr algn="r" indent="0" marL="0">
              <a:buNone/>
            </a:pPr>
            <a:r>
              <a:rPr lang="en-US" sz="1000" spc="150" kern="0" dirty="0" b="0">
                <a:solidFill>
                  <a:srgbClr val="6A6D75"/>
                </a:solidFill>
                <a:latin typeface="Geist Mono" pitchFamily="34" charset="0"/>
                <a:ea typeface="Geist Mono" pitchFamily="34" charset="-122"/>
                <a:cs typeface="Geist Mono" pitchFamily="34" charset="-120"/>
              </a:rPr>
              <a:t>BONUS / PRACTICE LAB · AUTOMATION LAB</a:t>
            </a:r>
            <a:endParaRPr lang="en-US" sz="1000" dirty="0"/>
          </a:p>
        </p:txBody>
      </p:sp>
      <p:sp>
        <p:nvSpPr>
          <p:cNvPr id="5" name="Text 3"/>
          <p:cNvSpPr/>
          <p:nvPr/>
        </p:nvSpPr>
        <p:spPr>
          <a:xfrm>
            <a:off x="841248" y="6400800"/>
            <a:ext cx="7315200" cy="274320"/>
          </a:xfrm>
          <a:prstGeom prst="rect">
            <a:avLst/>
          </a:prstGeom>
          <a:noFill/>
          <a:ln/>
        </p:spPr>
        <p:txBody>
          <a:bodyPr wrap="square" lIns="0" tIns="0" rIns="0" bIns="0" rtlCol="0" anchor="ctr"/>
          <a:lstStyle/>
          <a:p>
            <a:pPr indent="0" marL="0">
              <a:buNone/>
            </a:pPr>
            <a:r>
              <a:rPr lang="en-US" sz="950" spc="100" kern="0" dirty="0" b="0">
                <a:solidFill>
                  <a:srgbClr val="6A6D75"/>
                </a:solidFill>
                <a:latin typeface="Geist Mono" pitchFamily="34" charset="0"/>
                <a:ea typeface="Geist Mono" pitchFamily="34" charset="-122"/>
                <a:cs typeface="Geist Mono" pitchFamily="34" charset="-120"/>
              </a:rPr>
              <a:t>v2026.1 · BONUS · THE AUTOMATION LAB</a:t>
            </a:r>
            <a:endParaRPr lang="en-US" sz="950" dirty="0"/>
          </a:p>
        </p:txBody>
      </p:sp>
      <p:sp>
        <p:nvSpPr>
          <p:cNvPr id="6" name="Text 4"/>
          <p:cNvSpPr/>
          <p:nvPr/>
        </p:nvSpPr>
        <p:spPr>
          <a:xfrm>
            <a:off x="8607247" y="6400800"/>
            <a:ext cx="2743200" cy="274320"/>
          </a:xfrm>
          <a:prstGeom prst="rect">
            <a:avLst/>
          </a:prstGeom>
          <a:noFill/>
          <a:ln/>
        </p:spPr>
        <p:txBody>
          <a:bodyPr wrap="square" lIns="0" tIns="0" rIns="0" bIns="0" rtlCol="0" anchor="ctr"/>
          <a:lstStyle/>
          <a:p>
            <a:pPr algn="r" indent="0" marL="0">
              <a:buNone/>
            </a:pPr>
            <a:pPr algn="r" indent="0" marL="0">
              <a:buNone/>
            </a:pPr>
            <a:r>
              <a:rPr lang="en-US" sz="1000" spc="100" kern="0" dirty="0" b="0">
                <a:solidFill>
                  <a:srgbClr val="F4F4F2"/>
                </a:solidFill>
                <a:latin typeface="Geist Mono" pitchFamily="34" charset="0"/>
                <a:ea typeface="Geist Mono" pitchFamily="34" charset="-122"/>
                <a:cs typeface="Geist Mono" pitchFamily="34" charset="-120"/>
              </a:rPr>
              <a:t>14</a:t>
            </a:r>
            <a:r>
              <a:rPr lang="en-US" sz="1000" spc="100" kern="0" dirty="0" b="0">
                <a:solidFill>
                  <a:srgbClr val="6A6D75"/>
                </a:solidFill>
                <a:latin typeface="Geist Mono" pitchFamily="34" charset="0"/>
                <a:ea typeface="Geist Mono" pitchFamily="34" charset="-122"/>
                <a:cs typeface="Geist Mono" pitchFamily="34" charset="-120"/>
              </a:rPr>
              <a:t xml:space="preserve"> / 18</a:t>
            </a:r>
            <a:endParaRPr lang="en-US" sz="1000" dirty="0"/>
          </a:p>
        </p:txBody>
      </p:sp>
      <p:sp>
        <p:nvSpPr>
          <p:cNvPr id="7" name="Text 5"/>
          <p:cNvSpPr/>
          <p:nvPr/>
        </p:nvSpPr>
        <p:spPr>
          <a:xfrm>
            <a:off x="841248" y="1371600"/>
            <a:ext cx="10509199" cy="310896"/>
          </a:xfrm>
          <a:prstGeom prst="rect">
            <a:avLst/>
          </a:prstGeom>
          <a:noFill/>
          <a:ln/>
        </p:spPr>
        <p:txBody>
          <a:bodyPr wrap="square" lIns="0" tIns="0" rIns="0" bIns="0" rtlCol="0" anchor="ctr"/>
          <a:lstStyle/>
          <a:p>
            <a:pPr indent="0" marL="0">
              <a:buNone/>
            </a:pPr>
            <a:pPr indent="0" marL="0">
              <a:buNone/>
            </a:pPr>
            <a:pPr indent="0" marL="0">
              <a:buNone/>
            </a:pPr>
            <a:r>
              <a:rPr lang="en-US" sz="1250" spc="200" kern="0" dirty="0" b="0">
                <a:solidFill>
                  <a:srgbClr val="9B9EA6"/>
                </a:solidFill>
                <a:latin typeface="Geist Mono" pitchFamily="34" charset="0"/>
                <a:ea typeface="Geist Mono" pitchFamily="34" charset="-122"/>
                <a:cs typeface="Geist Mono" pitchFamily="34" charset="-120"/>
              </a:rPr>
              <a:t>— 07</a:t>
            </a:r>
            <a:r>
              <a:rPr lang="en-US" sz="1250" spc="200" kern="0" dirty="0" b="0">
                <a:solidFill>
                  <a:srgbClr val="6A6D75"/>
                </a:solidFill>
                <a:latin typeface="Geist Mono" pitchFamily="34" charset="0"/>
                <a:ea typeface="Geist Mono" pitchFamily="34" charset="-122"/>
                <a:cs typeface="Geist Mono" pitchFamily="34" charset="-120"/>
              </a:rPr>
              <a:t xml:space="preserve">   /   </a:t>
            </a:r>
            <a:r>
              <a:rPr lang="en-US" sz="1250" spc="200" kern="0" dirty="0" b="0">
                <a:solidFill>
                  <a:srgbClr val="9B9EA6"/>
                </a:solidFill>
                <a:latin typeface="Geist Mono" pitchFamily="34" charset="0"/>
                <a:ea typeface="Geist Mono" pitchFamily="34" charset="-122"/>
                <a:cs typeface="Geist Mono" pitchFamily="34" charset="-120"/>
              </a:rPr>
              <a:t>YOUR TASK</a:t>
            </a:r>
            <a:endParaRPr lang="en-US" sz="1250" dirty="0"/>
          </a:p>
        </p:txBody>
      </p:sp>
      <p:sp>
        <p:nvSpPr>
          <p:cNvPr id="8" name="Text 6"/>
          <p:cNvSpPr/>
          <p:nvPr/>
        </p:nvSpPr>
        <p:spPr>
          <a:xfrm>
            <a:off x="841248" y="1828800"/>
            <a:ext cx="10509199" cy="1371600"/>
          </a:xfrm>
          <a:prstGeom prst="rect">
            <a:avLst/>
          </a:prstGeom>
          <a:noFill/>
          <a:ln/>
        </p:spPr>
        <p:txBody>
          <a:bodyPr wrap="square" lIns="0" tIns="0" rIns="0" bIns="0" rtlCol="0" anchor="t"/>
          <a:lstStyle/>
          <a:p>
            <a:pPr indent="0" marL="0">
              <a:lnSpc>
                <a:spcPct val="102000"/>
              </a:lnSpc>
              <a:buNone/>
            </a:pPr>
            <a:r>
              <a:rPr lang="en-US" sz="3200" b="1" dirty="0">
                <a:solidFill>
                  <a:srgbClr val="F4F4F2"/>
                </a:solidFill>
                <a:latin typeface="Geist" pitchFamily="34" charset="0"/>
                <a:ea typeface="Geist" pitchFamily="34" charset="-122"/>
                <a:cs typeface="Geist" pitchFamily="34" charset="-120"/>
              </a:rPr>
              <a:t>Earn a certificate.</a:t>
            </a:r>
            <a:endParaRPr lang="en-US" sz="3200" dirty="0"/>
          </a:p>
        </p:txBody>
      </p:sp>
      <p:sp>
        <p:nvSpPr>
          <p:cNvPr id="9" name="Shape 7"/>
          <p:cNvSpPr/>
          <p:nvPr/>
        </p:nvSpPr>
        <p:spPr>
          <a:xfrm>
            <a:off x="841248" y="2743200"/>
            <a:ext cx="5163160" cy="3017520"/>
          </a:xfrm>
          <a:prstGeom prst="roundRect">
            <a:avLst>
              <a:gd name="adj" fmla="val 1515"/>
            </a:avLst>
          </a:prstGeom>
          <a:solidFill>
            <a:srgbClr val="16171D"/>
          </a:solidFill>
          <a:ln w="9525">
            <a:solidFill>
              <a:srgbClr val="2C2D34"/>
            </a:solidFill>
            <a:prstDash val="solid"/>
          </a:ln>
        </p:spPr>
      </p:sp>
      <p:sp>
        <p:nvSpPr>
          <p:cNvPr id="10" name="Text 8"/>
          <p:cNvSpPr/>
          <p:nvPr/>
        </p:nvSpPr>
        <p:spPr>
          <a:xfrm>
            <a:off x="1152144" y="2999232"/>
            <a:ext cx="4614520" cy="274320"/>
          </a:xfrm>
          <a:prstGeom prst="rect">
            <a:avLst/>
          </a:prstGeom>
          <a:noFill/>
          <a:ln/>
        </p:spPr>
        <p:txBody>
          <a:bodyPr wrap="square" lIns="0" tIns="0" rIns="0" bIns="0" rtlCol="0" anchor="ctr"/>
          <a:lstStyle/>
          <a:p>
            <a:pPr indent="0" marL="0">
              <a:buNone/>
            </a:pPr>
            <a:r>
              <a:rPr lang="en-US" sz="1100" spc="200" kern="0" dirty="0" b="0">
                <a:solidFill>
                  <a:srgbClr val="E8B84B"/>
                </a:solidFill>
                <a:latin typeface="Geist Mono" pitchFamily="34" charset="0"/>
                <a:ea typeface="Geist Mono" pitchFamily="34" charset="-122"/>
                <a:cs typeface="Geist Mono" pitchFamily="34" charset="-120"/>
              </a:rPr>
              <a:t>DO</a:t>
            </a:r>
            <a:endParaRPr lang="en-US" sz="1100" dirty="0"/>
          </a:p>
        </p:txBody>
      </p:sp>
      <p:sp>
        <p:nvSpPr>
          <p:cNvPr id="11" name="Text 9"/>
          <p:cNvSpPr/>
          <p:nvPr/>
        </p:nvSpPr>
        <p:spPr>
          <a:xfrm>
            <a:off x="1152144" y="3346704"/>
            <a:ext cx="4596232" cy="219456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350" dirty="0" b="0">
                <a:solidFill>
                  <a:srgbClr val="9B9EA6"/>
                </a:solidFill>
                <a:latin typeface="Geist" pitchFamily="34" charset="0"/>
                <a:ea typeface="Geist" pitchFamily="34" charset="-122"/>
                <a:cs typeface="Geist" pitchFamily="34" charset="-120"/>
              </a:rPr>
              <a:t>Practise invoice processing until the match result holds no surprises.</a:t>
            </a:r>
            <a:endParaRPr lang="en-US" sz="1350" dirty="0"/>
          </a:p>
          <a:p>
            <a:pPr marL="342900" indent="-342900">
              <a:spcAft>
                <a:spcPts val="900"/>
              </a:spcAft>
              <a:buSzPct val="100000"/>
              <a:buFont typeface="+mj-lt"/>
              <a:buAutoNum type="arabicPeriod" startAt="1"/>
            </a:pPr>
            <a:r>
              <a:rPr lang="en-US" sz="1350" dirty="0" b="0">
                <a:solidFill>
                  <a:srgbClr val="9B9EA6"/>
                </a:solidFill>
                <a:latin typeface="Geist" pitchFamily="34" charset="0"/>
                <a:ea typeface="Geist" pitchFamily="34" charset="-122"/>
                <a:cs typeface="Geist" pitchFamily="34" charset="-120"/>
              </a:rPr>
              <a:t>Move to level 3 and practise again — the reading is the hard part.</a:t>
            </a:r>
            <a:endParaRPr lang="en-US" sz="1350" dirty="0"/>
          </a:p>
          <a:p>
            <a:pPr marL="342900" indent="-342900">
              <a:spcAft>
                <a:spcPts val="900"/>
              </a:spcAft>
              <a:buSzPct val="100000"/>
              <a:buFont typeface="+mj-lt"/>
              <a:buAutoNum type="arabicPeriod" startAt="1"/>
            </a:pPr>
            <a:r>
              <a:rPr lang="en-US" sz="1350" dirty="0" b="0">
                <a:solidFill>
                  <a:srgbClr val="9B9EA6"/>
                </a:solidFill>
                <a:latin typeface="Geist" pitchFamily="34" charset="0"/>
                <a:ea typeface="Geist" pitchFamily="34" charset="-122"/>
                <a:cs typeface="Geist" pitchFamily="34" charset="-120"/>
              </a:rPr>
              <a:t>Take one scored run. Finish it, whatever the number says.</a:t>
            </a:r>
            <a:endParaRPr lang="en-US" sz="1350" dirty="0"/>
          </a:p>
          <a:p>
            <a:pPr marL="342900" indent="-342900">
              <a:buSzPct val="100000"/>
              <a:buFont typeface="+mj-lt"/>
              <a:buAutoNum type="arabicPeriod" startAt="1"/>
            </a:pPr>
            <a:r>
              <a:rPr lang="en-US" sz="1350" dirty="0" b="0">
                <a:solidFill>
                  <a:srgbClr val="9B9EA6"/>
                </a:solidFill>
                <a:latin typeface="Geist" pitchFamily="34" charset="0"/>
                <a:ea typeface="Geist" pitchFamily="34" charset="-122"/>
                <a:cs typeface="Geist" pitchFamily="34" charset="-120"/>
              </a:rPr>
              <a:t>Read the breakdown and write down which parameter cost you most.</a:t>
            </a:r>
            <a:endParaRPr lang="en-US" sz="1350" dirty="0"/>
          </a:p>
        </p:txBody>
      </p:sp>
      <p:sp>
        <p:nvSpPr>
          <p:cNvPr id="12" name="Shape 10"/>
          <p:cNvSpPr/>
          <p:nvPr/>
        </p:nvSpPr>
        <p:spPr>
          <a:xfrm>
            <a:off x="6187288" y="2743200"/>
            <a:ext cx="5163160" cy="3017520"/>
          </a:xfrm>
          <a:prstGeom prst="roundRect">
            <a:avLst>
              <a:gd name="adj" fmla="val 1515"/>
            </a:avLst>
          </a:prstGeom>
          <a:solidFill>
            <a:srgbClr val="1C1D24"/>
          </a:solidFill>
          <a:ln w="9525">
            <a:solidFill>
              <a:srgbClr val="2C2D34"/>
            </a:solidFill>
            <a:prstDash val="solid"/>
          </a:ln>
        </p:spPr>
      </p:sp>
      <p:sp>
        <p:nvSpPr>
          <p:cNvPr id="13" name="Text 11"/>
          <p:cNvSpPr/>
          <p:nvPr/>
        </p:nvSpPr>
        <p:spPr>
          <a:xfrm>
            <a:off x="6498184" y="2999232"/>
            <a:ext cx="4614520" cy="274320"/>
          </a:xfrm>
          <a:prstGeom prst="rect">
            <a:avLst/>
          </a:prstGeom>
          <a:noFill/>
          <a:ln/>
        </p:spPr>
        <p:txBody>
          <a:bodyPr wrap="square" lIns="0" tIns="0" rIns="0" bIns="0" rtlCol="0" anchor="ctr"/>
          <a:lstStyle/>
          <a:p>
            <a:pPr indent="0" marL="0">
              <a:buNone/>
            </a:pPr>
            <a:r>
              <a:rPr lang="en-US" sz="1100" spc="150" kern="0" dirty="0" b="0">
                <a:solidFill>
                  <a:srgbClr val="E8B84B"/>
                </a:solidFill>
                <a:latin typeface="Geist Mono" pitchFamily="34" charset="0"/>
                <a:ea typeface="Geist Mono" pitchFamily="34" charset="-122"/>
                <a:cs typeface="Geist Mono" pitchFamily="34" charset="-120"/>
              </a:rPr>
              <a:t>DELIVER — BEFORE THE NEXT SESSION</a:t>
            </a:r>
            <a:endParaRPr lang="en-US" sz="1100" dirty="0"/>
          </a:p>
        </p:txBody>
      </p:sp>
      <p:sp>
        <p:nvSpPr>
          <p:cNvPr id="14" name="Text 12"/>
          <p:cNvSpPr/>
          <p:nvPr/>
        </p:nvSpPr>
        <p:spPr>
          <a:xfrm>
            <a:off x="6498184" y="3346704"/>
            <a:ext cx="4596232" cy="2194560"/>
          </a:xfrm>
          <a:prstGeom prst="rect">
            <a:avLst/>
          </a:prstGeom>
          <a:noFill/>
          <a:ln/>
        </p:spPr>
        <p:txBody>
          <a:bodyPr wrap="square" lIns="0" tIns="0" rIns="0" bIns="0" rtlCol="0" anchor="t"/>
          <a:lstStyle/>
          <a:p>
            <a:pPr marL="342900" indent="-342900">
              <a:spcAft>
                <a:spcPts val="900"/>
              </a:spcAft>
              <a:buSzPct val="100000"/>
              <a:buChar char="›"/>
            </a:pPr>
            <a:r>
              <a:rPr lang="en-US" sz="1350" dirty="0" b="0">
                <a:solidFill>
                  <a:srgbClr val="9B9EA6"/>
                </a:solidFill>
                <a:latin typeface="Geist" pitchFamily="34" charset="0"/>
                <a:ea typeface="Geist" pitchFamily="34" charset="-122"/>
                <a:cs typeface="Geist" pitchFamily="34" charset="-120"/>
              </a:rPr>
              <a:t>Your certificate code, or your score if you did not pass.</a:t>
            </a:r>
            <a:endParaRPr lang="en-US" sz="1350" dirty="0"/>
          </a:p>
          <a:p>
            <a:pPr marL="342900" indent="-342900">
              <a:spcAft>
                <a:spcPts val="900"/>
              </a:spcAft>
              <a:buSzPct val="100000"/>
              <a:buChar char="›"/>
            </a:pPr>
            <a:r>
              <a:rPr lang="en-US" sz="1350" dirty="0" b="0">
                <a:solidFill>
                  <a:srgbClr val="9B9EA6"/>
                </a:solidFill>
                <a:latin typeface="Geist" pitchFamily="34" charset="0"/>
                <a:ea typeface="Geist" pitchFamily="34" charset="-122"/>
                <a:cs typeface="Geist" pitchFamily="34" charset="-120"/>
              </a:rPr>
              <a:t>The parameter that cost you most, and what you would change.</a:t>
            </a:r>
            <a:endParaRPr lang="en-US" sz="1350" dirty="0"/>
          </a:p>
          <a:p>
            <a:pPr marL="342900" indent="-342900">
              <a:buSzPct val="100000"/>
              <a:buChar char="›"/>
            </a:pPr>
            <a:r>
              <a:rPr lang="en-US" sz="1350" dirty="0" b="0">
                <a:solidFill>
                  <a:srgbClr val="9B9EA6"/>
                </a:solidFill>
                <a:latin typeface="Geist" pitchFamily="34" charset="0"/>
                <a:ea typeface="Geist" pitchFamily="34" charset="-122"/>
                <a:cs typeface="Geist" pitchFamily="34" charset="-120"/>
              </a:rPr>
              <a:t>One sentence: which of the four scenarios is closest to your day job, and why.</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0159746" cy="41148"/>
          </a:xfrm>
          <a:prstGeom prst="rect">
            <a:avLst/>
          </a:prstGeom>
          <a:solidFill>
            <a:srgbClr val="E8B84B"/>
          </a:solidFill>
          <a:ln/>
        </p:spPr>
      </p:sp>
      <p:sp>
        <p:nvSpPr>
          <p:cNvPr id="3" name="Text 1"/>
          <p:cNvSpPr/>
          <p:nvPr/>
        </p:nvSpPr>
        <p:spPr>
          <a:xfrm>
            <a:off x="841248" y="274320"/>
            <a:ext cx="5486400" cy="310896"/>
          </a:xfrm>
          <a:prstGeom prst="rect">
            <a:avLst/>
          </a:prstGeom>
          <a:noFill/>
          <a:ln/>
        </p:spPr>
        <p:txBody>
          <a:bodyPr wrap="square" lIns="0" tIns="0" rIns="0" bIns="0" rtlCol="0" anchor="ctr"/>
          <a:lstStyle/>
          <a:p>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F4F4F2"/>
                </a:solidFill>
                <a:latin typeface="Geist Mono" pitchFamily="34" charset="0"/>
                <a:ea typeface="Geist Mono" pitchFamily="34" charset="-122"/>
                <a:cs typeface="Geist Mono" pitchFamily="34" charset="-120"/>
              </a:rPr>
              <a:t>MS</a:t>
            </a:r>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6A6D75"/>
                </a:solidFill>
                <a:latin typeface="Geist Mono" pitchFamily="34" charset="0"/>
                <a:ea typeface="Geist Mono" pitchFamily="34" charset="-122"/>
                <a:cs typeface="Geist Mono" pitchFamily="34" charset="-120"/>
              </a:rPr>
              <a:t>  DU MENTORING</a:t>
            </a:r>
            <a:endParaRPr lang="en-US" sz="1100" dirty="0"/>
          </a:p>
        </p:txBody>
      </p:sp>
      <p:sp>
        <p:nvSpPr>
          <p:cNvPr id="4" name="Text 2"/>
          <p:cNvSpPr/>
          <p:nvPr/>
        </p:nvSpPr>
        <p:spPr>
          <a:xfrm>
            <a:off x="5864047" y="274320"/>
            <a:ext cx="5486400" cy="310896"/>
          </a:xfrm>
          <a:prstGeom prst="rect">
            <a:avLst/>
          </a:prstGeom>
          <a:noFill/>
          <a:ln/>
        </p:spPr>
        <p:txBody>
          <a:bodyPr wrap="square" lIns="0" tIns="0" rIns="0" bIns="0" rtlCol="0" anchor="ctr"/>
          <a:lstStyle/>
          <a:p>
            <a:pPr algn="r" indent="0" marL="0">
              <a:buNone/>
            </a:pPr>
            <a:r>
              <a:rPr lang="en-US" sz="1000" spc="150" kern="0" dirty="0" b="0">
                <a:solidFill>
                  <a:srgbClr val="6A6D75"/>
                </a:solidFill>
                <a:latin typeface="Geist Mono" pitchFamily="34" charset="0"/>
                <a:ea typeface="Geist Mono" pitchFamily="34" charset="-122"/>
                <a:cs typeface="Geist Mono" pitchFamily="34" charset="-120"/>
              </a:rPr>
              <a:t>BONUS / PRACTICE LAB · AUTOMATION LAB</a:t>
            </a:r>
            <a:endParaRPr lang="en-US" sz="1000" dirty="0"/>
          </a:p>
        </p:txBody>
      </p:sp>
      <p:sp>
        <p:nvSpPr>
          <p:cNvPr id="5" name="Text 3"/>
          <p:cNvSpPr/>
          <p:nvPr/>
        </p:nvSpPr>
        <p:spPr>
          <a:xfrm>
            <a:off x="841248" y="6400800"/>
            <a:ext cx="7315200" cy="274320"/>
          </a:xfrm>
          <a:prstGeom prst="rect">
            <a:avLst/>
          </a:prstGeom>
          <a:noFill/>
          <a:ln/>
        </p:spPr>
        <p:txBody>
          <a:bodyPr wrap="square" lIns="0" tIns="0" rIns="0" bIns="0" rtlCol="0" anchor="ctr"/>
          <a:lstStyle/>
          <a:p>
            <a:pPr indent="0" marL="0">
              <a:buNone/>
            </a:pPr>
            <a:r>
              <a:rPr lang="en-US" sz="950" spc="100" kern="0" dirty="0" b="0">
                <a:solidFill>
                  <a:srgbClr val="6A6D75"/>
                </a:solidFill>
                <a:latin typeface="Geist Mono" pitchFamily="34" charset="0"/>
                <a:ea typeface="Geist Mono" pitchFamily="34" charset="-122"/>
                <a:cs typeface="Geist Mono" pitchFamily="34" charset="-120"/>
              </a:rPr>
              <a:t>v2026.1 · BONUS · THE AUTOMATION LAB</a:t>
            </a:r>
            <a:endParaRPr lang="en-US" sz="950" dirty="0"/>
          </a:p>
        </p:txBody>
      </p:sp>
      <p:sp>
        <p:nvSpPr>
          <p:cNvPr id="6" name="Text 4"/>
          <p:cNvSpPr/>
          <p:nvPr/>
        </p:nvSpPr>
        <p:spPr>
          <a:xfrm>
            <a:off x="8607247" y="6400800"/>
            <a:ext cx="2743200" cy="274320"/>
          </a:xfrm>
          <a:prstGeom prst="rect">
            <a:avLst/>
          </a:prstGeom>
          <a:noFill/>
          <a:ln/>
        </p:spPr>
        <p:txBody>
          <a:bodyPr wrap="square" lIns="0" tIns="0" rIns="0" bIns="0" rtlCol="0" anchor="ctr"/>
          <a:lstStyle/>
          <a:p>
            <a:pPr algn="r" indent="0" marL="0">
              <a:buNone/>
            </a:pPr>
            <a:pPr algn="r" indent="0" marL="0">
              <a:buNone/>
            </a:pPr>
            <a:r>
              <a:rPr lang="en-US" sz="1000" spc="100" kern="0" dirty="0" b="0">
                <a:solidFill>
                  <a:srgbClr val="F4F4F2"/>
                </a:solidFill>
                <a:latin typeface="Geist Mono" pitchFamily="34" charset="0"/>
                <a:ea typeface="Geist Mono" pitchFamily="34" charset="-122"/>
                <a:cs typeface="Geist Mono" pitchFamily="34" charset="-120"/>
              </a:rPr>
              <a:t>15</a:t>
            </a:r>
            <a:r>
              <a:rPr lang="en-US" sz="1000" spc="100" kern="0" dirty="0" b="0">
                <a:solidFill>
                  <a:srgbClr val="6A6D75"/>
                </a:solidFill>
                <a:latin typeface="Geist Mono" pitchFamily="34" charset="0"/>
                <a:ea typeface="Geist Mono" pitchFamily="34" charset="-122"/>
                <a:cs typeface="Geist Mono" pitchFamily="34" charset="-120"/>
              </a:rPr>
              <a:t xml:space="preserve"> / 18</a:t>
            </a:r>
            <a:endParaRPr lang="en-US" sz="1000" dirty="0"/>
          </a:p>
        </p:txBody>
      </p:sp>
      <p:sp>
        <p:nvSpPr>
          <p:cNvPr id="7" name="Text 5"/>
          <p:cNvSpPr/>
          <p:nvPr/>
        </p:nvSpPr>
        <p:spPr>
          <a:xfrm>
            <a:off x="841248" y="1371600"/>
            <a:ext cx="10509199" cy="310896"/>
          </a:xfrm>
          <a:prstGeom prst="rect">
            <a:avLst/>
          </a:prstGeom>
          <a:noFill/>
          <a:ln/>
        </p:spPr>
        <p:txBody>
          <a:bodyPr wrap="square" lIns="0" tIns="0" rIns="0" bIns="0" rtlCol="0" anchor="ctr"/>
          <a:lstStyle/>
          <a:p>
            <a:pPr indent="0" marL="0">
              <a:buNone/>
            </a:pPr>
            <a:pPr indent="0" marL="0">
              <a:buNone/>
            </a:pPr>
            <a:pPr indent="0" marL="0">
              <a:buNone/>
            </a:pPr>
            <a:r>
              <a:rPr lang="en-US" sz="1250" spc="200" kern="0" dirty="0" b="0">
                <a:solidFill>
                  <a:srgbClr val="9B9EA6"/>
                </a:solidFill>
                <a:latin typeface="Geist Mono" pitchFamily="34" charset="0"/>
                <a:ea typeface="Geist Mono" pitchFamily="34" charset="-122"/>
                <a:cs typeface="Geist Mono" pitchFamily="34" charset="-120"/>
              </a:rPr>
              <a:t>— 07.1</a:t>
            </a:r>
            <a:r>
              <a:rPr lang="en-US" sz="1250" spc="200" kern="0" dirty="0" b="0">
                <a:solidFill>
                  <a:srgbClr val="6A6D75"/>
                </a:solidFill>
                <a:latin typeface="Geist Mono" pitchFamily="34" charset="0"/>
                <a:ea typeface="Geist Mono" pitchFamily="34" charset="-122"/>
                <a:cs typeface="Geist Mono" pitchFamily="34" charset="-120"/>
              </a:rPr>
              <a:t xml:space="preserve">   /   </a:t>
            </a:r>
            <a:r>
              <a:rPr lang="en-US" sz="1250" spc="200" kern="0" dirty="0" b="0">
                <a:solidFill>
                  <a:srgbClr val="9B9EA6"/>
                </a:solidFill>
                <a:latin typeface="Geist Mono" pitchFamily="34" charset="0"/>
                <a:ea typeface="Geist Mono" pitchFamily="34" charset="-122"/>
                <a:cs typeface="Geist Mono" pitchFamily="34" charset="-120"/>
              </a:rPr>
              <a:t>INTERVIEW SEED</a:t>
            </a:r>
            <a:endParaRPr lang="en-US" sz="1250" dirty="0"/>
          </a:p>
        </p:txBody>
      </p:sp>
      <p:sp>
        <p:nvSpPr>
          <p:cNvPr id="8" name="Text 6"/>
          <p:cNvSpPr/>
          <p:nvPr/>
        </p:nvSpPr>
        <p:spPr>
          <a:xfrm>
            <a:off x="841248" y="1828800"/>
            <a:ext cx="10509199" cy="1371600"/>
          </a:xfrm>
          <a:prstGeom prst="rect">
            <a:avLst/>
          </a:prstGeom>
          <a:noFill/>
          <a:ln/>
        </p:spPr>
        <p:txBody>
          <a:bodyPr wrap="square" lIns="0" tIns="0" rIns="0" bIns="0" rtlCol="0" anchor="t"/>
          <a:lstStyle/>
          <a:p>
            <a:pPr indent="0" marL="0">
              <a:lnSpc>
                <a:spcPct val="102000"/>
              </a:lnSpc>
              <a:buNone/>
            </a:pPr>
            <a:pPr indent="0" marL="0">
              <a:lnSpc>
                <a:spcPct val="102000"/>
              </a:lnSpc>
              <a:buNone/>
            </a:pPr>
            <a:r>
              <a:rPr lang="en-US" sz="2700" b="1" dirty="0">
                <a:solidFill>
                  <a:srgbClr val="F4F4F2"/>
                </a:solidFill>
                <a:latin typeface="Geist" pitchFamily="34" charset="0"/>
                <a:ea typeface="Geist" pitchFamily="34" charset="-122"/>
                <a:cs typeface="Geist" pitchFamily="34" charset="-120"/>
              </a:rPr>
              <a:t>If they ask: “Have you automated anything end to end?”</a:t>
            </a:r>
            <a:endParaRPr lang="en-US" sz="2700" dirty="0"/>
          </a:p>
        </p:txBody>
      </p:sp>
      <p:sp>
        <p:nvSpPr>
          <p:cNvPr id="9" name="Shape 7"/>
          <p:cNvSpPr/>
          <p:nvPr/>
        </p:nvSpPr>
        <p:spPr>
          <a:xfrm>
            <a:off x="841248" y="3017520"/>
            <a:ext cx="10509199" cy="0"/>
          </a:xfrm>
          <a:prstGeom prst="line">
            <a:avLst/>
          </a:prstGeom>
          <a:noFill/>
          <a:ln w="9525">
            <a:solidFill>
              <a:srgbClr val="2C2D34"/>
            </a:solidFill>
            <a:prstDash val="solid"/>
          </a:ln>
        </p:spPr>
      </p:sp>
      <p:sp>
        <p:nvSpPr>
          <p:cNvPr id="10" name="Text 8"/>
          <p:cNvSpPr/>
          <p:nvPr/>
        </p:nvSpPr>
        <p:spPr>
          <a:xfrm>
            <a:off x="841248" y="3136392"/>
            <a:ext cx="640080" cy="512064"/>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1</a:t>
            </a:r>
            <a:endParaRPr lang="en-US" sz="1250" dirty="0"/>
          </a:p>
        </p:txBody>
      </p:sp>
      <p:sp>
        <p:nvSpPr>
          <p:cNvPr id="11" name="Text 9"/>
          <p:cNvSpPr/>
          <p:nvPr/>
        </p:nvSpPr>
        <p:spPr>
          <a:xfrm>
            <a:off x="1554480" y="3118104"/>
            <a:ext cx="9795967" cy="548640"/>
          </a:xfrm>
          <a:prstGeom prst="rect">
            <a:avLst/>
          </a:prstGeom>
          <a:noFill/>
          <a:ln/>
        </p:spPr>
        <p:txBody>
          <a:bodyPr wrap="square" lIns="0" tIns="0" rIns="0" bIns="0" rtlCol="0" anchor="t"/>
          <a:lstStyle/>
          <a:p>
            <a:pPr indent="0" marL="0">
              <a:lnSpc>
                <a:spcPct val="112000"/>
              </a:lnSpc>
              <a:buNone/>
            </a:pPr>
            <a:r>
              <a:rPr lang="en-US" sz="1550" dirty="0" b="1">
                <a:solidFill>
                  <a:srgbClr val="F4F4F2"/>
                </a:solidFill>
                <a:latin typeface="Geist" pitchFamily="34" charset="0"/>
                <a:ea typeface="Geist" pitchFamily="34" charset="-122"/>
                <a:cs typeface="Geist" pitchFamily="34" charset="-120"/>
              </a:rPr>
              <a:t>Name the process</a:t>
            </a:r>
            <a:r>
              <a:rPr lang="en-US" sz="1550" dirty="0" b="0">
                <a:solidFill>
                  <a:srgbClr val="9B9EA6"/>
                </a:solidFill>
                <a:latin typeface="Geist" pitchFamily="34" charset="0"/>
                <a:ea typeface="Geist" pitchFamily="34" charset="-122"/>
                <a:cs typeface="Geist" pitchFamily="34" charset="-120"/>
              </a:rPr>
              <a:t xml:space="preserve"> — not the tool. Three-way match, supplier onboarding, goods receipt.</a:t>
            </a:r>
            <a:endParaRPr lang="en-US" sz="1550" dirty="0"/>
          </a:p>
        </p:txBody>
      </p:sp>
      <p:sp>
        <p:nvSpPr>
          <p:cNvPr id="12" name="Shape 10"/>
          <p:cNvSpPr/>
          <p:nvPr/>
        </p:nvSpPr>
        <p:spPr>
          <a:xfrm>
            <a:off x="841248" y="3621024"/>
            <a:ext cx="10509199" cy="0"/>
          </a:xfrm>
          <a:prstGeom prst="line">
            <a:avLst/>
          </a:prstGeom>
          <a:noFill/>
          <a:ln w="9525">
            <a:solidFill>
              <a:srgbClr val="2C2D34"/>
            </a:solidFill>
            <a:prstDash val="solid"/>
          </a:ln>
        </p:spPr>
      </p:sp>
      <p:sp>
        <p:nvSpPr>
          <p:cNvPr id="13" name="Text 11"/>
          <p:cNvSpPr/>
          <p:nvPr/>
        </p:nvSpPr>
        <p:spPr>
          <a:xfrm>
            <a:off x="841248" y="3739896"/>
            <a:ext cx="640080" cy="512064"/>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2</a:t>
            </a:r>
            <a:endParaRPr lang="en-US" sz="1250" dirty="0"/>
          </a:p>
        </p:txBody>
      </p:sp>
      <p:sp>
        <p:nvSpPr>
          <p:cNvPr id="14" name="Text 12"/>
          <p:cNvSpPr/>
          <p:nvPr/>
        </p:nvSpPr>
        <p:spPr>
          <a:xfrm>
            <a:off x="1554480" y="3721608"/>
            <a:ext cx="9795967" cy="548640"/>
          </a:xfrm>
          <a:prstGeom prst="rect">
            <a:avLst/>
          </a:prstGeom>
          <a:noFill/>
          <a:ln/>
        </p:spPr>
        <p:txBody>
          <a:bodyPr wrap="square" lIns="0" tIns="0" rIns="0" bIns="0" rtlCol="0" anchor="t"/>
          <a:lstStyle/>
          <a:p>
            <a:pPr indent="0" marL="0">
              <a:lnSpc>
                <a:spcPct val="112000"/>
              </a:lnSpc>
              <a:buNone/>
            </a:pPr>
            <a:r>
              <a:rPr lang="en-US" sz="1550" dirty="0" b="1">
                <a:solidFill>
                  <a:srgbClr val="F4F4F2"/>
                </a:solidFill>
                <a:latin typeface="Geist" pitchFamily="34" charset="0"/>
                <a:ea typeface="Geist" pitchFamily="34" charset="-122"/>
                <a:cs typeface="Geist" pitchFamily="34" charset="-120"/>
              </a:rPr>
              <a:t>Name the hard part</a:t>
            </a:r>
            <a:r>
              <a:rPr lang="en-US" sz="1550" dirty="0" b="0">
                <a:solidFill>
                  <a:srgbClr val="9B9EA6"/>
                </a:solidFill>
                <a:latin typeface="Geist" pitchFamily="34" charset="0"/>
                <a:ea typeface="Geist" pitchFamily="34" charset="-122"/>
                <a:cs typeface="Geist" pitchFamily="34" charset="-120"/>
              </a:rPr>
              <a:t xml:space="preserve"> — reading a creased photograph, not clicking a button.</a:t>
            </a:r>
            <a:endParaRPr lang="en-US" sz="1550" dirty="0"/>
          </a:p>
        </p:txBody>
      </p:sp>
      <p:sp>
        <p:nvSpPr>
          <p:cNvPr id="15" name="Shape 13"/>
          <p:cNvSpPr/>
          <p:nvPr/>
        </p:nvSpPr>
        <p:spPr>
          <a:xfrm>
            <a:off x="841248" y="4224528"/>
            <a:ext cx="10509199" cy="0"/>
          </a:xfrm>
          <a:prstGeom prst="line">
            <a:avLst/>
          </a:prstGeom>
          <a:noFill/>
          <a:ln w="9525">
            <a:solidFill>
              <a:srgbClr val="2C2D34"/>
            </a:solidFill>
            <a:prstDash val="solid"/>
          </a:ln>
        </p:spPr>
      </p:sp>
      <p:sp>
        <p:nvSpPr>
          <p:cNvPr id="16" name="Text 14"/>
          <p:cNvSpPr/>
          <p:nvPr/>
        </p:nvSpPr>
        <p:spPr>
          <a:xfrm>
            <a:off x="841248" y="4343400"/>
            <a:ext cx="640080" cy="512064"/>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3</a:t>
            </a:r>
            <a:endParaRPr lang="en-US" sz="1250" dirty="0"/>
          </a:p>
        </p:txBody>
      </p:sp>
      <p:sp>
        <p:nvSpPr>
          <p:cNvPr id="17" name="Text 15"/>
          <p:cNvSpPr/>
          <p:nvPr/>
        </p:nvSpPr>
        <p:spPr>
          <a:xfrm>
            <a:off x="1554480" y="4325112"/>
            <a:ext cx="9795967" cy="548640"/>
          </a:xfrm>
          <a:prstGeom prst="rect">
            <a:avLst/>
          </a:prstGeom>
          <a:noFill/>
          <a:ln/>
        </p:spPr>
        <p:txBody>
          <a:bodyPr wrap="square" lIns="0" tIns="0" rIns="0" bIns="0" rtlCol="0" anchor="t"/>
          <a:lstStyle/>
          <a:p>
            <a:pPr indent="0" marL="0">
              <a:lnSpc>
                <a:spcPct val="112000"/>
              </a:lnSpc>
              <a:buNone/>
            </a:pPr>
            <a:r>
              <a:rPr lang="en-US" sz="1550" dirty="0" b="1">
                <a:solidFill>
                  <a:srgbClr val="F4F4F2"/>
                </a:solidFill>
                <a:latin typeface="Geist" pitchFamily="34" charset="0"/>
                <a:ea typeface="Geist" pitchFamily="34" charset="-122"/>
                <a:cs typeface="Geist" pitchFamily="34" charset="-120"/>
              </a:rPr>
              <a:t>Name the number</a:t>
            </a:r>
            <a:r>
              <a:rPr lang="en-US" sz="1550" dirty="0" b="0">
                <a:solidFill>
                  <a:srgbClr val="9B9EA6"/>
                </a:solidFill>
                <a:latin typeface="Geist" pitchFamily="34" charset="0"/>
                <a:ea typeface="Geist" pitchFamily="34" charset="-122"/>
                <a:cs typeface="Geist" pitchFamily="34" charset="-120"/>
              </a:rPr>
              <a:t xml:space="preserve"> — a score, on a published rubric, that somebody else can verify.</a:t>
            </a:r>
            <a:endParaRPr lang="en-US" sz="1550" dirty="0"/>
          </a:p>
        </p:txBody>
      </p:sp>
      <p:sp>
        <p:nvSpPr>
          <p:cNvPr id="18" name="Shape 16"/>
          <p:cNvSpPr/>
          <p:nvPr/>
        </p:nvSpPr>
        <p:spPr>
          <a:xfrm>
            <a:off x="841248" y="4828032"/>
            <a:ext cx="10509199" cy="0"/>
          </a:xfrm>
          <a:prstGeom prst="line">
            <a:avLst/>
          </a:prstGeom>
          <a:noFill/>
          <a:ln w="9525">
            <a:solidFill>
              <a:srgbClr val="2C2D34"/>
            </a:solidFill>
            <a:prstDash val="solid"/>
          </a:ln>
        </p:spPr>
      </p:sp>
      <p:sp>
        <p:nvSpPr>
          <p:cNvPr id="19" name="Text 17"/>
          <p:cNvSpPr/>
          <p:nvPr/>
        </p:nvSpPr>
        <p:spPr>
          <a:xfrm>
            <a:off x="841248" y="4946904"/>
            <a:ext cx="640080" cy="512064"/>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4</a:t>
            </a:r>
            <a:endParaRPr lang="en-US" sz="1250" dirty="0"/>
          </a:p>
        </p:txBody>
      </p:sp>
      <p:sp>
        <p:nvSpPr>
          <p:cNvPr id="20" name="Text 18"/>
          <p:cNvSpPr/>
          <p:nvPr/>
        </p:nvSpPr>
        <p:spPr>
          <a:xfrm>
            <a:off x="1554480" y="4928616"/>
            <a:ext cx="9795967" cy="548640"/>
          </a:xfrm>
          <a:prstGeom prst="rect">
            <a:avLst/>
          </a:prstGeom>
          <a:noFill/>
          <a:ln/>
        </p:spPr>
        <p:txBody>
          <a:bodyPr wrap="square" lIns="0" tIns="0" rIns="0" bIns="0" rtlCol="0" anchor="t"/>
          <a:lstStyle/>
          <a:p>
            <a:pPr indent="0" marL="0">
              <a:lnSpc>
                <a:spcPct val="112000"/>
              </a:lnSpc>
              <a:buNone/>
            </a:pPr>
            <a:r>
              <a:rPr lang="en-US" sz="1550" dirty="0" b="1">
                <a:solidFill>
                  <a:srgbClr val="F4F4F2"/>
                </a:solidFill>
                <a:latin typeface="Geist" pitchFamily="34" charset="0"/>
                <a:ea typeface="Geist" pitchFamily="34" charset="-122"/>
                <a:cs typeface="Geist" pitchFamily="34" charset="-120"/>
              </a:rPr>
              <a:t>Name what you would do next</a:t>
            </a:r>
            <a:r>
              <a:rPr lang="en-US" sz="1550" dirty="0" b="0">
                <a:solidFill>
                  <a:srgbClr val="9B9EA6"/>
                </a:solidFill>
                <a:latin typeface="Geist" pitchFamily="34" charset="0"/>
                <a:ea typeface="Geist" pitchFamily="34" charset="-122"/>
                <a:cs typeface="Geist" pitchFamily="34" charset="-120"/>
              </a:rPr>
              <a:t xml:space="preserve"> — the parameter you lost. That is the interview.</a:t>
            </a:r>
            <a:endParaRPr lang="en-US" sz="1550" dirty="0"/>
          </a:p>
        </p:txBody>
      </p:sp>
      <p:sp>
        <p:nvSpPr>
          <p:cNvPr id="21" name="Shape 19"/>
          <p:cNvSpPr/>
          <p:nvPr/>
        </p:nvSpPr>
        <p:spPr>
          <a:xfrm>
            <a:off x="841248" y="5431536"/>
            <a:ext cx="10509199" cy="0"/>
          </a:xfrm>
          <a:prstGeom prst="line">
            <a:avLst/>
          </a:prstGeom>
          <a:noFill/>
          <a:ln w="9525">
            <a:solidFill>
              <a:srgbClr val="2C2D34"/>
            </a:solidFill>
            <a:prstDash val="solid"/>
          </a:ln>
        </p:spPr>
      </p:sp>
      <p:sp>
        <p:nvSpPr>
          <p:cNvPr id="22" name="Text 20"/>
          <p:cNvSpPr/>
          <p:nvPr/>
        </p:nvSpPr>
        <p:spPr>
          <a:xfrm>
            <a:off x="841248" y="5715000"/>
            <a:ext cx="10509199" cy="365760"/>
          </a:xfrm>
          <a:prstGeom prst="rect">
            <a:avLst/>
          </a:prstGeom>
          <a:noFill/>
          <a:ln/>
        </p:spPr>
        <p:txBody>
          <a:bodyPr wrap="square" lIns="0" tIns="0" rIns="0" bIns="0" rtlCol="0" anchor="ctr"/>
          <a:lstStyle/>
          <a:p>
            <a:pPr indent="0" marL="0">
              <a:buNone/>
            </a:pPr>
            <a:pPr indent="0" marL="0">
              <a:buNone/>
            </a:pPr>
            <a:r>
              <a:rPr lang="en-US" sz="800" spc="120" kern="0" dirty="0" b="0">
                <a:solidFill>
                  <a:srgbClr val="E8B84B"/>
                </a:solidFill>
                <a:latin typeface="Geist Mono" pitchFamily="34" charset="0"/>
                <a:ea typeface="Geist Mono" pitchFamily="34" charset="-122"/>
                <a:cs typeface="Geist Mono" pitchFamily="34" charset="-120"/>
              </a:rPr>
              <a:t xml:space="preserve">●  </a:t>
            </a:r>
            <a:r>
              <a:rPr lang="en-US" sz="1100" spc="120" kern="0" dirty="0" b="0">
                <a:solidFill>
                  <a:srgbClr val="6A6D75"/>
                </a:solidFill>
                <a:latin typeface="Geist Mono" pitchFamily="34" charset="0"/>
                <a:ea typeface="Geist Mono" pitchFamily="34" charset="-122"/>
                <a:cs typeface="Geist Mono" pitchFamily="34" charset="-120"/>
              </a:rPr>
              <a:t>A CODE THEY CAN CHECK BEATS A SENTENCE THEY CANNOT</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0837062" cy="41148"/>
          </a:xfrm>
          <a:prstGeom prst="rect">
            <a:avLst/>
          </a:prstGeom>
          <a:solidFill>
            <a:srgbClr val="E8B84B"/>
          </a:solidFill>
          <a:ln/>
        </p:spPr>
      </p:sp>
      <p:sp>
        <p:nvSpPr>
          <p:cNvPr id="3" name="Text 1"/>
          <p:cNvSpPr/>
          <p:nvPr/>
        </p:nvSpPr>
        <p:spPr>
          <a:xfrm>
            <a:off x="841248" y="274320"/>
            <a:ext cx="5486400" cy="310896"/>
          </a:xfrm>
          <a:prstGeom prst="rect">
            <a:avLst/>
          </a:prstGeom>
          <a:noFill/>
          <a:ln/>
        </p:spPr>
        <p:txBody>
          <a:bodyPr wrap="square" lIns="0" tIns="0" rIns="0" bIns="0" rtlCol="0" anchor="ctr"/>
          <a:lstStyle/>
          <a:p>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F4F4F2"/>
                </a:solidFill>
                <a:latin typeface="Geist Mono" pitchFamily="34" charset="0"/>
                <a:ea typeface="Geist Mono" pitchFamily="34" charset="-122"/>
                <a:cs typeface="Geist Mono" pitchFamily="34" charset="-120"/>
              </a:rPr>
              <a:t>MS</a:t>
            </a:r>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6A6D75"/>
                </a:solidFill>
                <a:latin typeface="Geist Mono" pitchFamily="34" charset="0"/>
                <a:ea typeface="Geist Mono" pitchFamily="34" charset="-122"/>
                <a:cs typeface="Geist Mono" pitchFamily="34" charset="-120"/>
              </a:rPr>
              <a:t>  DU MENTORING</a:t>
            </a:r>
            <a:endParaRPr lang="en-US" sz="1100" dirty="0"/>
          </a:p>
        </p:txBody>
      </p:sp>
      <p:sp>
        <p:nvSpPr>
          <p:cNvPr id="4" name="Text 2"/>
          <p:cNvSpPr/>
          <p:nvPr/>
        </p:nvSpPr>
        <p:spPr>
          <a:xfrm>
            <a:off x="5864047" y="274320"/>
            <a:ext cx="5486400" cy="310896"/>
          </a:xfrm>
          <a:prstGeom prst="rect">
            <a:avLst/>
          </a:prstGeom>
          <a:noFill/>
          <a:ln/>
        </p:spPr>
        <p:txBody>
          <a:bodyPr wrap="square" lIns="0" tIns="0" rIns="0" bIns="0" rtlCol="0" anchor="ctr"/>
          <a:lstStyle/>
          <a:p>
            <a:pPr algn="r" indent="0" marL="0">
              <a:buNone/>
            </a:pPr>
            <a:r>
              <a:rPr lang="en-US" sz="1000" spc="150" kern="0" dirty="0" b="0">
                <a:solidFill>
                  <a:srgbClr val="6A6D75"/>
                </a:solidFill>
                <a:latin typeface="Geist Mono" pitchFamily="34" charset="0"/>
                <a:ea typeface="Geist Mono" pitchFamily="34" charset="-122"/>
                <a:cs typeface="Geist Mono" pitchFamily="34" charset="-120"/>
              </a:rPr>
              <a:t>BONUS / PRACTICE LAB · AUTOMATION LAB</a:t>
            </a:r>
            <a:endParaRPr lang="en-US" sz="1000" dirty="0"/>
          </a:p>
        </p:txBody>
      </p:sp>
      <p:sp>
        <p:nvSpPr>
          <p:cNvPr id="5" name="Text 3"/>
          <p:cNvSpPr/>
          <p:nvPr/>
        </p:nvSpPr>
        <p:spPr>
          <a:xfrm>
            <a:off x="841248" y="6400800"/>
            <a:ext cx="7315200" cy="274320"/>
          </a:xfrm>
          <a:prstGeom prst="rect">
            <a:avLst/>
          </a:prstGeom>
          <a:noFill/>
          <a:ln/>
        </p:spPr>
        <p:txBody>
          <a:bodyPr wrap="square" lIns="0" tIns="0" rIns="0" bIns="0" rtlCol="0" anchor="ctr"/>
          <a:lstStyle/>
          <a:p>
            <a:pPr indent="0" marL="0">
              <a:buNone/>
            </a:pPr>
            <a:r>
              <a:rPr lang="en-US" sz="950" spc="100" kern="0" dirty="0" b="0">
                <a:solidFill>
                  <a:srgbClr val="6A6D75"/>
                </a:solidFill>
                <a:latin typeface="Geist Mono" pitchFamily="34" charset="0"/>
                <a:ea typeface="Geist Mono" pitchFamily="34" charset="-122"/>
                <a:cs typeface="Geist Mono" pitchFamily="34" charset="-120"/>
              </a:rPr>
              <a:t>v2026.1 · BONUS · THE AUTOMATION LAB</a:t>
            </a:r>
            <a:endParaRPr lang="en-US" sz="950" dirty="0"/>
          </a:p>
        </p:txBody>
      </p:sp>
      <p:sp>
        <p:nvSpPr>
          <p:cNvPr id="6" name="Text 4"/>
          <p:cNvSpPr/>
          <p:nvPr/>
        </p:nvSpPr>
        <p:spPr>
          <a:xfrm>
            <a:off x="8607247" y="6400800"/>
            <a:ext cx="2743200" cy="274320"/>
          </a:xfrm>
          <a:prstGeom prst="rect">
            <a:avLst/>
          </a:prstGeom>
          <a:noFill/>
          <a:ln/>
        </p:spPr>
        <p:txBody>
          <a:bodyPr wrap="square" lIns="0" tIns="0" rIns="0" bIns="0" rtlCol="0" anchor="ctr"/>
          <a:lstStyle/>
          <a:p>
            <a:pPr algn="r" indent="0" marL="0">
              <a:buNone/>
            </a:pPr>
            <a:pPr algn="r" indent="0" marL="0">
              <a:buNone/>
            </a:pPr>
            <a:r>
              <a:rPr lang="en-US" sz="1000" spc="100" kern="0" dirty="0" b="0">
                <a:solidFill>
                  <a:srgbClr val="F4F4F2"/>
                </a:solidFill>
                <a:latin typeface="Geist Mono" pitchFamily="34" charset="0"/>
                <a:ea typeface="Geist Mono" pitchFamily="34" charset="-122"/>
                <a:cs typeface="Geist Mono" pitchFamily="34" charset="-120"/>
              </a:rPr>
              <a:t>16</a:t>
            </a:r>
            <a:r>
              <a:rPr lang="en-US" sz="1000" spc="100" kern="0" dirty="0" b="0">
                <a:solidFill>
                  <a:srgbClr val="6A6D75"/>
                </a:solidFill>
                <a:latin typeface="Geist Mono" pitchFamily="34" charset="0"/>
                <a:ea typeface="Geist Mono" pitchFamily="34" charset="-122"/>
                <a:cs typeface="Geist Mono" pitchFamily="34" charset="-120"/>
              </a:rPr>
              <a:t xml:space="preserve"> / 18</a:t>
            </a:r>
            <a:endParaRPr lang="en-US" sz="1000" dirty="0"/>
          </a:p>
        </p:txBody>
      </p:sp>
      <p:sp>
        <p:nvSpPr>
          <p:cNvPr id="7" name="Text 5"/>
          <p:cNvSpPr/>
          <p:nvPr/>
        </p:nvSpPr>
        <p:spPr>
          <a:xfrm>
            <a:off x="841248" y="1371600"/>
            <a:ext cx="10509199" cy="310896"/>
          </a:xfrm>
          <a:prstGeom prst="rect">
            <a:avLst/>
          </a:prstGeom>
          <a:noFill/>
          <a:ln/>
        </p:spPr>
        <p:txBody>
          <a:bodyPr wrap="square" lIns="0" tIns="0" rIns="0" bIns="0" rtlCol="0" anchor="ctr"/>
          <a:lstStyle/>
          <a:p>
            <a:pPr indent="0" marL="0">
              <a:buNone/>
            </a:pPr>
            <a:pPr indent="0" marL="0">
              <a:buNone/>
            </a:pPr>
            <a:pPr indent="0" marL="0">
              <a:buNone/>
            </a:pPr>
            <a:r>
              <a:rPr lang="en-US" sz="1250" spc="200" kern="0" dirty="0" b="0">
                <a:solidFill>
                  <a:srgbClr val="9B9EA6"/>
                </a:solidFill>
                <a:latin typeface="Geist Mono" pitchFamily="34" charset="0"/>
                <a:ea typeface="Geist Mono" pitchFamily="34" charset="-122"/>
                <a:cs typeface="Geist Mono" pitchFamily="34" charset="-120"/>
              </a:rPr>
              <a:t>— 08</a:t>
            </a:r>
            <a:r>
              <a:rPr lang="en-US" sz="1250" spc="200" kern="0" dirty="0" b="0">
                <a:solidFill>
                  <a:srgbClr val="6A6D75"/>
                </a:solidFill>
                <a:latin typeface="Geist Mono" pitchFamily="34" charset="0"/>
                <a:ea typeface="Geist Mono" pitchFamily="34" charset="-122"/>
                <a:cs typeface="Geist Mono" pitchFamily="34" charset="-120"/>
              </a:rPr>
              <a:t xml:space="preserve">   /   </a:t>
            </a:r>
            <a:r>
              <a:rPr lang="en-US" sz="1250" spc="200" kern="0" dirty="0" b="0">
                <a:solidFill>
                  <a:srgbClr val="9B9EA6"/>
                </a:solidFill>
                <a:latin typeface="Geist Mono" pitchFamily="34" charset="0"/>
                <a:ea typeface="Geist Mono" pitchFamily="34" charset="-122"/>
                <a:cs typeface="Geist Mono" pitchFamily="34" charset="-120"/>
              </a:rPr>
              <a:t>RECAP</a:t>
            </a:r>
            <a:endParaRPr lang="en-US" sz="1250" dirty="0"/>
          </a:p>
        </p:txBody>
      </p:sp>
      <p:sp>
        <p:nvSpPr>
          <p:cNvPr id="8" name="Text 6"/>
          <p:cNvSpPr/>
          <p:nvPr/>
        </p:nvSpPr>
        <p:spPr>
          <a:xfrm>
            <a:off x="841248" y="1874520"/>
            <a:ext cx="10509199" cy="1371600"/>
          </a:xfrm>
          <a:prstGeom prst="rect">
            <a:avLst/>
          </a:prstGeom>
          <a:noFill/>
          <a:ln/>
        </p:spPr>
        <p:txBody>
          <a:bodyPr wrap="square" lIns="0" tIns="0" rIns="0" bIns="0" rtlCol="0" anchor="t"/>
          <a:lstStyle/>
          <a:p>
            <a:pPr indent="0" marL="0">
              <a:lnSpc>
                <a:spcPct val="102000"/>
              </a:lnSpc>
              <a:buNone/>
            </a:pPr>
            <a:pPr indent="0" marL="0">
              <a:lnSpc>
                <a:spcPct val="102000"/>
              </a:lnSpc>
              <a:buNone/>
            </a:pPr>
            <a:r>
              <a:rPr lang="en-US" sz="2900" b="1" dirty="0">
                <a:solidFill>
                  <a:srgbClr val="F4F4F2"/>
                </a:solidFill>
                <a:latin typeface="Geist" pitchFamily="34" charset="0"/>
                <a:ea typeface="Geist" pitchFamily="34" charset="-122"/>
                <a:cs typeface="Geist" pitchFamily="34" charset="-120"/>
              </a:rPr>
              <a:t>A real system, a fixed rubric, a number you can defend.</a:t>
            </a:r>
            <a:endParaRPr lang="en-US" sz="2900" dirty="0"/>
          </a:p>
        </p:txBody>
      </p:sp>
      <p:sp>
        <p:nvSpPr>
          <p:cNvPr id="9" name="Shape 7"/>
          <p:cNvSpPr/>
          <p:nvPr/>
        </p:nvSpPr>
        <p:spPr>
          <a:xfrm>
            <a:off x="841248" y="3063240"/>
            <a:ext cx="10509199" cy="0"/>
          </a:xfrm>
          <a:prstGeom prst="line">
            <a:avLst/>
          </a:prstGeom>
          <a:noFill/>
          <a:ln w="9525">
            <a:solidFill>
              <a:srgbClr val="2C2D34"/>
            </a:solidFill>
            <a:prstDash val="solid"/>
          </a:ln>
        </p:spPr>
      </p:sp>
      <p:sp>
        <p:nvSpPr>
          <p:cNvPr id="10" name="Text 8"/>
          <p:cNvSpPr/>
          <p:nvPr/>
        </p:nvSpPr>
        <p:spPr>
          <a:xfrm>
            <a:off x="841248" y="3182112"/>
            <a:ext cx="640080" cy="512064"/>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a:t>
            </a:r>
            <a:endParaRPr lang="en-US" sz="1250" dirty="0"/>
          </a:p>
        </p:txBody>
      </p:sp>
      <p:sp>
        <p:nvSpPr>
          <p:cNvPr id="11" name="Text 9"/>
          <p:cNvSpPr/>
          <p:nvPr/>
        </p:nvSpPr>
        <p:spPr>
          <a:xfrm>
            <a:off x="1554480" y="3163824"/>
            <a:ext cx="9795967" cy="548640"/>
          </a:xfrm>
          <a:prstGeom prst="rect">
            <a:avLst/>
          </a:prstGeom>
          <a:noFill/>
          <a:ln/>
        </p:spPr>
        <p:txBody>
          <a:bodyPr wrap="square" lIns="0" tIns="0" rIns="0" bIns="0" rtlCol="0" anchor="t"/>
          <a:lstStyle/>
          <a:p>
            <a:pPr indent="0" marL="0">
              <a:lnSpc>
                <a:spcPct val="112000"/>
              </a:lnSpc>
              <a:buNone/>
            </a:pPr>
            <a:r>
              <a:rPr lang="en-US" sz="1550" dirty="0" b="0">
                <a:solidFill>
                  <a:srgbClr val="9B9EA6"/>
                </a:solidFill>
                <a:latin typeface="Geist" pitchFamily="34" charset="0"/>
                <a:ea typeface="Geist" pitchFamily="34" charset="-122"/>
                <a:cs typeface="Geist" pitchFamily="34" charset="-120"/>
              </a:rPr>
              <a:t>Why clean tutorial data is the worst possible preparation.</a:t>
            </a:r>
            <a:endParaRPr lang="en-US" sz="1550" dirty="0"/>
          </a:p>
        </p:txBody>
      </p:sp>
      <p:sp>
        <p:nvSpPr>
          <p:cNvPr id="12" name="Shape 10"/>
          <p:cNvSpPr/>
          <p:nvPr/>
        </p:nvSpPr>
        <p:spPr>
          <a:xfrm>
            <a:off x="841248" y="3666744"/>
            <a:ext cx="10509199" cy="0"/>
          </a:xfrm>
          <a:prstGeom prst="line">
            <a:avLst/>
          </a:prstGeom>
          <a:noFill/>
          <a:ln w="9525">
            <a:solidFill>
              <a:srgbClr val="2C2D34"/>
            </a:solidFill>
            <a:prstDash val="solid"/>
          </a:ln>
        </p:spPr>
      </p:sp>
      <p:sp>
        <p:nvSpPr>
          <p:cNvPr id="13" name="Text 11"/>
          <p:cNvSpPr/>
          <p:nvPr/>
        </p:nvSpPr>
        <p:spPr>
          <a:xfrm>
            <a:off x="841248" y="3785616"/>
            <a:ext cx="640080" cy="512064"/>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a:t>
            </a:r>
            <a:endParaRPr lang="en-US" sz="1250" dirty="0"/>
          </a:p>
        </p:txBody>
      </p:sp>
      <p:sp>
        <p:nvSpPr>
          <p:cNvPr id="14" name="Text 12"/>
          <p:cNvSpPr/>
          <p:nvPr/>
        </p:nvSpPr>
        <p:spPr>
          <a:xfrm>
            <a:off x="1554480" y="3767328"/>
            <a:ext cx="9795967" cy="548640"/>
          </a:xfrm>
          <a:prstGeom prst="rect">
            <a:avLst/>
          </a:prstGeom>
          <a:noFill/>
          <a:ln/>
        </p:spPr>
        <p:txBody>
          <a:bodyPr wrap="square" lIns="0" tIns="0" rIns="0" bIns="0" rtlCol="0" anchor="t"/>
          <a:lstStyle/>
          <a:p>
            <a:pPr indent="0" marL="0">
              <a:lnSpc>
                <a:spcPct val="112000"/>
              </a:lnSpc>
              <a:buNone/>
            </a:pPr>
            <a:r>
              <a:rPr lang="en-US" sz="1550" dirty="0" b="0">
                <a:solidFill>
                  <a:srgbClr val="9B9EA6"/>
                </a:solidFill>
                <a:latin typeface="Geist" pitchFamily="34" charset="0"/>
                <a:ea typeface="Geist" pitchFamily="34" charset="-122"/>
                <a:cs typeface="Geist" pitchFamily="34" charset="-120"/>
              </a:rPr>
              <a:t>Five levels of the same page, and where your reader breaks.</a:t>
            </a:r>
            <a:endParaRPr lang="en-US" sz="1550" dirty="0"/>
          </a:p>
        </p:txBody>
      </p:sp>
      <p:sp>
        <p:nvSpPr>
          <p:cNvPr id="15" name="Shape 13"/>
          <p:cNvSpPr/>
          <p:nvPr/>
        </p:nvSpPr>
        <p:spPr>
          <a:xfrm>
            <a:off x="841248" y="4270248"/>
            <a:ext cx="10509199" cy="0"/>
          </a:xfrm>
          <a:prstGeom prst="line">
            <a:avLst/>
          </a:prstGeom>
          <a:noFill/>
          <a:ln w="9525">
            <a:solidFill>
              <a:srgbClr val="2C2D34"/>
            </a:solidFill>
            <a:prstDash val="solid"/>
          </a:ln>
        </p:spPr>
      </p:sp>
      <p:sp>
        <p:nvSpPr>
          <p:cNvPr id="16" name="Text 14"/>
          <p:cNvSpPr/>
          <p:nvPr/>
        </p:nvSpPr>
        <p:spPr>
          <a:xfrm>
            <a:off x="841248" y="4389120"/>
            <a:ext cx="640080" cy="512064"/>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a:t>
            </a:r>
            <a:endParaRPr lang="en-US" sz="1250" dirty="0"/>
          </a:p>
        </p:txBody>
      </p:sp>
      <p:sp>
        <p:nvSpPr>
          <p:cNvPr id="17" name="Text 15"/>
          <p:cNvSpPr/>
          <p:nvPr/>
        </p:nvSpPr>
        <p:spPr>
          <a:xfrm>
            <a:off x="1554480" y="4370832"/>
            <a:ext cx="9795967" cy="548640"/>
          </a:xfrm>
          <a:prstGeom prst="rect">
            <a:avLst/>
          </a:prstGeom>
          <a:noFill/>
          <a:ln/>
        </p:spPr>
        <p:txBody>
          <a:bodyPr wrap="square" lIns="0" tIns="0" rIns="0" bIns="0" rtlCol="0" anchor="t"/>
          <a:lstStyle/>
          <a:p>
            <a:pPr indent="0" marL="0">
              <a:lnSpc>
                <a:spcPct val="112000"/>
              </a:lnSpc>
              <a:buNone/>
            </a:pPr>
            <a:r>
              <a:rPr lang="en-US" sz="1550" dirty="0" b="0">
                <a:solidFill>
                  <a:srgbClr val="9B9EA6"/>
                </a:solidFill>
                <a:latin typeface="Geist" pitchFamily="34" charset="0"/>
                <a:ea typeface="Geist" pitchFamily="34" charset="-122"/>
                <a:cs typeface="Geist" pitchFamily="34" charset="-120"/>
              </a:rPr>
              <a:t>A scored run, a breakdown, and a certificate with a public code.</a:t>
            </a:r>
            <a:endParaRPr lang="en-US" sz="1550" dirty="0"/>
          </a:p>
        </p:txBody>
      </p:sp>
      <p:sp>
        <p:nvSpPr>
          <p:cNvPr id="18" name="Shape 16"/>
          <p:cNvSpPr/>
          <p:nvPr/>
        </p:nvSpPr>
        <p:spPr>
          <a:xfrm>
            <a:off x="841248" y="4873752"/>
            <a:ext cx="10509199" cy="0"/>
          </a:xfrm>
          <a:prstGeom prst="line">
            <a:avLst/>
          </a:prstGeom>
          <a:noFill/>
          <a:ln w="9525">
            <a:solidFill>
              <a:srgbClr val="2C2D34"/>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1514379" cy="41148"/>
          </a:xfrm>
          <a:prstGeom prst="rect">
            <a:avLst/>
          </a:prstGeom>
          <a:solidFill>
            <a:srgbClr val="E8B84B"/>
          </a:solidFill>
          <a:ln/>
        </p:spPr>
      </p:sp>
      <p:sp>
        <p:nvSpPr>
          <p:cNvPr id="3" name="Text 1"/>
          <p:cNvSpPr/>
          <p:nvPr/>
        </p:nvSpPr>
        <p:spPr>
          <a:xfrm>
            <a:off x="841248" y="274320"/>
            <a:ext cx="5486400" cy="310896"/>
          </a:xfrm>
          <a:prstGeom prst="rect">
            <a:avLst/>
          </a:prstGeom>
          <a:noFill/>
          <a:ln/>
        </p:spPr>
        <p:txBody>
          <a:bodyPr wrap="square" lIns="0" tIns="0" rIns="0" bIns="0" rtlCol="0" anchor="ctr"/>
          <a:lstStyle/>
          <a:p>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F4F4F2"/>
                </a:solidFill>
                <a:latin typeface="Geist Mono" pitchFamily="34" charset="0"/>
                <a:ea typeface="Geist Mono" pitchFamily="34" charset="-122"/>
                <a:cs typeface="Geist Mono" pitchFamily="34" charset="-120"/>
              </a:rPr>
              <a:t>MS</a:t>
            </a:r>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6A6D75"/>
                </a:solidFill>
                <a:latin typeface="Geist Mono" pitchFamily="34" charset="0"/>
                <a:ea typeface="Geist Mono" pitchFamily="34" charset="-122"/>
                <a:cs typeface="Geist Mono" pitchFamily="34" charset="-120"/>
              </a:rPr>
              <a:t>  DU MENTORING</a:t>
            </a:r>
            <a:endParaRPr lang="en-US" sz="1100" dirty="0"/>
          </a:p>
        </p:txBody>
      </p:sp>
      <p:sp>
        <p:nvSpPr>
          <p:cNvPr id="4" name="Text 2"/>
          <p:cNvSpPr/>
          <p:nvPr/>
        </p:nvSpPr>
        <p:spPr>
          <a:xfrm>
            <a:off x="5864047" y="274320"/>
            <a:ext cx="5486400" cy="310896"/>
          </a:xfrm>
          <a:prstGeom prst="rect">
            <a:avLst/>
          </a:prstGeom>
          <a:noFill/>
          <a:ln/>
        </p:spPr>
        <p:txBody>
          <a:bodyPr wrap="square" lIns="0" tIns="0" rIns="0" bIns="0" rtlCol="0" anchor="ctr"/>
          <a:lstStyle/>
          <a:p>
            <a:pPr algn="r" indent="0" marL="0">
              <a:buNone/>
            </a:pPr>
            <a:r>
              <a:rPr lang="en-US" sz="1000" spc="150" kern="0" dirty="0" b="0">
                <a:solidFill>
                  <a:srgbClr val="6A6D75"/>
                </a:solidFill>
                <a:latin typeface="Geist Mono" pitchFamily="34" charset="0"/>
                <a:ea typeface="Geist Mono" pitchFamily="34" charset="-122"/>
                <a:cs typeface="Geist Mono" pitchFamily="34" charset="-120"/>
              </a:rPr>
              <a:t>BONUS / PRACTICE LAB · AUTOMATION LAB</a:t>
            </a:r>
            <a:endParaRPr lang="en-US" sz="1000" dirty="0"/>
          </a:p>
        </p:txBody>
      </p:sp>
      <p:sp>
        <p:nvSpPr>
          <p:cNvPr id="5" name="Text 3"/>
          <p:cNvSpPr/>
          <p:nvPr/>
        </p:nvSpPr>
        <p:spPr>
          <a:xfrm>
            <a:off x="841248" y="6400800"/>
            <a:ext cx="7315200" cy="274320"/>
          </a:xfrm>
          <a:prstGeom prst="rect">
            <a:avLst/>
          </a:prstGeom>
          <a:noFill/>
          <a:ln/>
        </p:spPr>
        <p:txBody>
          <a:bodyPr wrap="square" lIns="0" tIns="0" rIns="0" bIns="0" rtlCol="0" anchor="ctr"/>
          <a:lstStyle/>
          <a:p>
            <a:pPr indent="0" marL="0">
              <a:buNone/>
            </a:pPr>
            <a:r>
              <a:rPr lang="en-US" sz="950" spc="100" kern="0" dirty="0" b="0">
                <a:solidFill>
                  <a:srgbClr val="6A6D75"/>
                </a:solidFill>
                <a:latin typeface="Geist Mono" pitchFamily="34" charset="0"/>
                <a:ea typeface="Geist Mono" pitchFamily="34" charset="-122"/>
                <a:cs typeface="Geist Mono" pitchFamily="34" charset="-120"/>
              </a:rPr>
              <a:t>v2026.1 · BONUS · THE AUTOMATION LAB</a:t>
            </a:r>
            <a:endParaRPr lang="en-US" sz="950" dirty="0"/>
          </a:p>
        </p:txBody>
      </p:sp>
      <p:sp>
        <p:nvSpPr>
          <p:cNvPr id="6" name="Text 4"/>
          <p:cNvSpPr/>
          <p:nvPr/>
        </p:nvSpPr>
        <p:spPr>
          <a:xfrm>
            <a:off x="8607247" y="6400800"/>
            <a:ext cx="2743200" cy="274320"/>
          </a:xfrm>
          <a:prstGeom prst="rect">
            <a:avLst/>
          </a:prstGeom>
          <a:noFill/>
          <a:ln/>
        </p:spPr>
        <p:txBody>
          <a:bodyPr wrap="square" lIns="0" tIns="0" rIns="0" bIns="0" rtlCol="0" anchor="ctr"/>
          <a:lstStyle/>
          <a:p>
            <a:pPr algn="r" indent="0" marL="0">
              <a:buNone/>
            </a:pPr>
            <a:pPr algn="r" indent="0" marL="0">
              <a:buNone/>
            </a:pPr>
            <a:r>
              <a:rPr lang="en-US" sz="1000" spc="100" kern="0" dirty="0" b="0">
                <a:solidFill>
                  <a:srgbClr val="F4F4F2"/>
                </a:solidFill>
                <a:latin typeface="Geist Mono" pitchFamily="34" charset="0"/>
                <a:ea typeface="Geist Mono" pitchFamily="34" charset="-122"/>
                <a:cs typeface="Geist Mono" pitchFamily="34" charset="-120"/>
              </a:rPr>
              <a:t>17</a:t>
            </a:r>
            <a:r>
              <a:rPr lang="en-US" sz="1000" spc="100" kern="0" dirty="0" b="0">
                <a:solidFill>
                  <a:srgbClr val="6A6D75"/>
                </a:solidFill>
                <a:latin typeface="Geist Mono" pitchFamily="34" charset="0"/>
                <a:ea typeface="Geist Mono" pitchFamily="34" charset="-122"/>
                <a:cs typeface="Geist Mono" pitchFamily="34" charset="-120"/>
              </a:rPr>
              <a:t xml:space="preserve"> / 18</a:t>
            </a:r>
            <a:endParaRPr lang="en-US" sz="1000" dirty="0"/>
          </a:p>
        </p:txBody>
      </p:sp>
      <p:sp>
        <p:nvSpPr>
          <p:cNvPr id="7" name="Text 5"/>
          <p:cNvSpPr/>
          <p:nvPr/>
        </p:nvSpPr>
        <p:spPr>
          <a:xfrm>
            <a:off x="841248" y="1371600"/>
            <a:ext cx="10509199" cy="310896"/>
          </a:xfrm>
          <a:prstGeom prst="rect">
            <a:avLst/>
          </a:prstGeom>
          <a:noFill/>
          <a:ln/>
        </p:spPr>
        <p:txBody>
          <a:bodyPr wrap="square" lIns="0" tIns="0" rIns="0" bIns="0" rtlCol="0" anchor="ctr"/>
          <a:lstStyle/>
          <a:p>
            <a:pPr indent="0" marL="0">
              <a:buNone/>
            </a:pPr>
            <a:pPr indent="0" marL="0">
              <a:buNone/>
            </a:pPr>
            <a:pPr indent="0" marL="0">
              <a:buNone/>
            </a:pPr>
            <a:r>
              <a:rPr lang="en-US" sz="1250" spc="200" kern="0" dirty="0" b="0">
                <a:solidFill>
                  <a:srgbClr val="9B9EA6"/>
                </a:solidFill>
                <a:latin typeface="Geist Mono" pitchFamily="34" charset="0"/>
                <a:ea typeface="Geist Mono" pitchFamily="34" charset="-122"/>
                <a:cs typeface="Geist Mono" pitchFamily="34" charset="-120"/>
              </a:rPr>
              <a:t>— 08.1</a:t>
            </a:r>
            <a:r>
              <a:rPr lang="en-US" sz="1250" spc="200" kern="0" dirty="0" b="0">
                <a:solidFill>
                  <a:srgbClr val="6A6D75"/>
                </a:solidFill>
                <a:latin typeface="Geist Mono" pitchFamily="34" charset="0"/>
                <a:ea typeface="Geist Mono" pitchFamily="34" charset="-122"/>
                <a:cs typeface="Geist Mono" pitchFamily="34" charset="-120"/>
              </a:rPr>
              <a:t xml:space="preserve">   /   </a:t>
            </a:r>
            <a:r>
              <a:rPr lang="en-US" sz="1250" spc="200" kern="0" dirty="0" b="0">
                <a:solidFill>
                  <a:srgbClr val="9B9EA6"/>
                </a:solidFill>
                <a:latin typeface="Geist Mono" pitchFamily="34" charset="0"/>
                <a:ea typeface="Geist Mono" pitchFamily="34" charset="-122"/>
                <a:cs typeface="Geist Mono" pitchFamily="34" charset="-120"/>
              </a:rPr>
              <a:t>WHAT'S MISSING</a:t>
            </a:r>
            <a:endParaRPr lang="en-US" sz="1250" dirty="0"/>
          </a:p>
        </p:txBody>
      </p:sp>
      <p:sp>
        <p:nvSpPr>
          <p:cNvPr id="8" name="Text 6"/>
          <p:cNvSpPr/>
          <p:nvPr/>
        </p:nvSpPr>
        <p:spPr>
          <a:xfrm>
            <a:off x="841248" y="1828800"/>
            <a:ext cx="10509199" cy="1371600"/>
          </a:xfrm>
          <a:prstGeom prst="rect">
            <a:avLst/>
          </a:prstGeom>
          <a:noFill/>
          <a:ln/>
        </p:spPr>
        <p:txBody>
          <a:bodyPr wrap="square" lIns="0" tIns="0" rIns="0" bIns="0" rtlCol="0" anchor="t"/>
          <a:lstStyle/>
          <a:p>
            <a:pPr indent="0" marL="0">
              <a:lnSpc>
                <a:spcPct val="102000"/>
              </a:lnSpc>
              <a:buNone/>
            </a:pPr>
            <a:pPr indent="0" marL="0">
              <a:lnSpc>
                <a:spcPct val="102000"/>
              </a:lnSpc>
              <a:buNone/>
            </a:pPr>
            <a:r>
              <a:rPr lang="en-US" sz="3400" b="1" dirty="0">
                <a:solidFill>
                  <a:srgbClr val="F4F4F2"/>
                </a:solidFill>
                <a:latin typeface="Geist" pitchFamily="34" charset="0"/>
                <a:ea typeface="Geist" pitchFamily="34" charset="-122"/>
                <a:cs typeface="Geist" pitchFamily="34" charset="-120"/>
              </a:rPr>
              <a:t>It scores you. It doesn't teach you.</a:t>
            </a:r>
            <a:endParaRPr lang="en-US" sz="3400" dirty="0"/>
          </a:p>
        </p:txBody>
      </p:sp>
      <p:sp>
        <p:nvSpPr>
          <p:cNvPr id="9" name="Text 7"/>
          <p:cNvSpPr/>
          <p:nvPr/>
        </p:nvSpPr>
        <p:spPr>
          <a:xfrm>
            <a:off x="841248" y="2926080"/>
            <a:ext cx="9875520" cy="1280160"/>
          </a:xfrm>
          <a:prstGeom prst="rect">
            <a:avLst/>
          </a:prstGeom>
          <a:noFill/>
          <a:ln/>
        </p:spPr>
        <p:txBody>
          <a:bodyPr wrap="square" lIns="0" tIns="0" rIns="0" bIns="0" rtlCol="0" anchor="t"/>
          <a:lstStyle/>
          <a:p>
            <a:pPr indent="0" marL="0">
              <a:lnSpc>
                <a:spcPct val="132000"/>
              </a:lnSpc>
              <a:buNone/>
            </a:pPr>
            <a:pPr indent="0" marL="0">
              <a:lnSpc>
                <a:spcPct val="132000"/>
              </a:lnSpc>
              <a:buNone/>
            </a:pPr>
            <a:pPr indent="0" marL="0">
              <a:lnSpc>
                <a:spcPct val="132000"/>
              </a:lnSpc>
              <a:buNone/>
            </a:pPr>
            <a:pPr indent="0" marL="0">
              <a:lnSpc>
                <a:spcPct val="132000"/>
              </a:lnSpc>
              <a:buNone/>
            </a:pPr>
            <a:pPr indent="0" marL="0">
              <a:lnSpc>
                <a:spcPct val="132000"/>
              </a:lnSpc>
              <a:buNone/>
            </a:pPr>
            <a:r>
              <a:rPr lang="en-US" sz="1600" dirty="0" b="0">
                <a:solidFill>
                  <a:srgbClr val="9B9EA6"/>
                </a:solidFill>
                <a:latin typeface="Geist" pitchFamily="34" charset="0"/>
                <a:ea typeface="Geist" pitchFamily="34" charset="-122"/>
                <a:cs typeface="Geist" pitchFamily="34" charset="-120"/>
              </a:rPr>
              <a:t>The lab tells you how many fields your reader missed and how many decisions disagreed with the rules. It does not tell you why, or what to try instead. Bring your breakdown to the next session.</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91695" cy="41148"/>
          </a:xfrm>
          <a:prstGeom prst="rect">
            <a:avLst/>
          </a:prstGeom>
          <a:solidFill>
            <a:srgbClr val="E8B84B"/>
          </a:solidFill>
          <a:ln/>
        </p:spPr>
      </p:sp>
      <p:sp>
        <p:nvSpPr>
          <p:cNvPr id="3" name="Text 1"/>
          <p:cNvSpPr/>
          <p:nvPr/>
        </p:nvSpPr>
        <p:spPr>
          <a:xfrm>
            <a:off x="841248" y="274320"/>
            <a:ext cx="5486400" cy="310896"/>
          </a:xfrm>
          <a:prstGeom prst="rect">
            <a:avLst/>
          </a:prstGeom>
          <a:noFill/>
          <a:ln/>
        </p:spPr>
        <p:txBody>
          <a:bodyPr wrap="square" lIns="0" tIns="0" rIns="0" bIns="0" rtlCol="0" anchor="ctr"/>
          <a:lstStyle/>
          <a:p>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F4F4F2"/>
                </a:solidFill>
                <a:latin typeface="Geist Mono" pitchFamily="34" charset="0"/>
                <a:ea typeface="Geist Mono" pitchFamily="34" charset="-122"/>
                <a:cs typeface="Geist Mono" pitchFamily="34" charset="-120"/>
              </a:rPr>
              <a:t>MS</a:t>
            </a:r>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6A6D75"/>
                </a:solidFill>
                <a:latin typeface="Geist Mono" pitchFamily="34" charset="0"/>
                <a:ea typeface="Geist Mono" pitchFamily="34" charset="-122"/>
                <a:cs typeface="Geist Mono" pitchFamily="34" charset="-120"/>
              </a:rPr>
              <a:t>  DU MENTORING</a:t>
            </a:r>
            <a:endParaRPr lang="en-US" sz="1100" dirty="0"/>
          </a:p>
        </p:txBody>
      </p:sp>
      <p:sp>
        <p:nvSpPr>
          <p:cNvPr id="4" name="Text 2"/>
          <p:cNvSpPr/>
          <p:nvPr/>
        </p:nvSpPr>
        <p:spPr>
          <a:xfrm>
            <a:off x="5864047" y="274320"/>
            <a:ext cx="5486400" cy="310896"/>
          </a:xfrm>
          <a:prstGeom prst="rect">
            <a:avLst/>
          </a:prstGeom>
          <a:noFill/>
          <a:ln/>
        </p:spPr>
        <p:txBody>
          <a:bodyPr wrap="square" lIns="0" tIns="0" rIns="0" bIns="0" rtlCol="0" anchor="ctr"/>
          <a:lstStyle/>
          <a:p>
            <a:pPr algn="r" indent="0" marL="0">
              <a:buNone/>
            </a:pPr>
            <a:r>
              <a:rPr lang="en-US" sz="1000" spc="150" kern="0" dirty="0" b="0">
                <a:solidFill>
                  <a:srgbClr val="6A6D75"/>
                </a:solidFill>
                <a:latin typeface="Geist Mono" pitchFamily="34" charset="0"/>
                <a:ea typeface="Geist Mono" pitchFamily="34" charset="-122"/>
                <a:cs typeface="Geist Mono" pitchFamily="34" charset="-120"/>
              </a:rPr>
              <a:t>BONUS / PRACTICE LAB · AUTOMATION LAB</a:t>
            </a:r>
            <a:endParaRPr lang="en-US" sz="1000" dirty="0"/>
          </a:p>
        </p:txBody>
      </p:sp>
      <p:sp>
        <p:nvSpPr>
          <p:cNvPr id="5" name="Text 3"/>
          <p:cNvSpPr/>
          <p:nvPr/>
        </p:nvSpPr>
        <p:spPr>
          <a:xfrm>
            <a:off x="841248" y="6400800"/>
            <a:ext cx="7315200" cy="274320"/>
          </a:xfrm>
          <a:prstGeom prst="rect">
            <a:avLst/>
          </a:prstGeom>
          <a:noFill/>
          <a:ln/>
        </p:spPr>
        <p:txBody>
          <a:bodyPr wrap="square" lIns="0" tIns="0" rIns="0" bIns="0" rtlCol="0" anchor="ctr"/>
          <a:lstStyle/>
          <a:p>
            <a:pPr indent="0" marL="0">
              <a:buNone/>
            </a:pPr>
            <a:r>
              <a:rPr lang="en-US" sz="950" spc="100" kern="0" dirty="0" b="0">
                <a:solidFill>
                  <a:srgbClr val="6A6D75"/>
                </a:solidFill>
                <a:latin typeface="Geist Mono" pitchFamily="34" charset="0"/>
                <a:ea typeface="Geist Mono" pitchFamily="34" charset="-122"/>
                <a:cs typeface="Geist Mono" pitchFamily="34" charset="-120"/>
              </a:rPr>
              <a:t>v2026.1 · BONUS · THE AUTOMATION LAB</a:t>
            </a:r>
            <a:endParaRPr lang="en-US" sz="950" dirty="0"/>
          </a:p>
        </p:txBody>
      </p:sp>
      <p:sp>
        <p:nvSpPr>
          <p:cNvPr id="6" name="Text 4"/>
          <p:cNvSpPr/>
          <p:nvPr/>
        </p:nvSpPr>
        <p:spPr>
          <a:xfrm>
            <a:off x="8607247" y="6400800"/>
            <a:ext cx="2743200" cy="274320"/>
          </a:xfrm>
          <a:prstGeom prst="rect">
            <a:avLst/>
          </a:prstGeom>
          <a:noFill/>
          <a:ln/>
        </p:spPr>
        <p:txBody>
          <a:bodyPr wrap="square" lIns="0" tIns="0" rIns="0" bIns="0" rtlCol="0" anchor="ctr"/>
          <a:lstStyle/>
          <a:p>
            <a:pPr algn="r" indent="0" marL="0">
              <a:buNone/>
            </a:pPr>
            <a:pPr algn="r" indent="0" marL="0">
              <a:buNone/>
            </a:pPr>
            <a:r>
              <a:rPr lang="en-US" sz="1000" spc="100" kern="0" dirty="0" b="0">
                <a:solidFill>
                  <a:srgbClr val="F4F4F2"/>
                </a:solidFill>
                <a:latin typeface="Geist Mono" pitchFamily="34" charset="0"/>
                <a:ea typeface="Geist Mono" pitchFamily="34" charset="-122"/>
                <a:cs typeface="Geist Mono" pitchFamily="34" charset="-120"/>
              </a:rPr>
              <a:t>18</a:t>
            </a:r>
            <a:r>
              <a:rPr lang="en-US" sz="1000" spc="100" kern="0" dirty="0" b="0">
                <a:solidFill>
                  <a:srgbClr val="6A6D75"/>
                </a:solidFill>
                <a:latin typeface="Geist Mono" pitchFamily="34" charset="0"/>
                <a:ea typeface="Geist Mono" pitchFamily="34" charset="-122"/>
                <a:cs typeface="Geist Mono" pitchFamily="34" charset="-120"/>
              </a:rPr>
              <a:t xml:space="preserve"> / 18</a:t>
            </a:r>
            <a:endParaRPr lang="en-US" sz="1000" dirty="0"/>
          </a:p>
        </p:txBody>
      </p:sp>
      <p:sp>
        <p:nvSpPr>
          <p:cNvPr id="7" name="Text 5"/>
          <p:cNvSpPr/>
          <p:nvPr/>
        </p:nvSpPr>
        <p:spPr>
          <a:xfrm>
            <a:off x="841248" y="1371600"/>
            <a:ext cx="10509199" cy="310896"/>
          </a:xfrm>
          <a:prstGeom prst="rect">
            <a:avLst/>
          </a:prstGeom>
          <a:noFill/>
          <a:ln/>
        </p:spPr>
        <p:txBody>
          <a:bodyPr wrap="square" lIns="0" tIns="0" rIns="0" bIns="0" rtlCol="0" anchor="ctr"/>
          <a:lstStyle/>
          <a:p>
            <a:pPr indent="0" marL="0">
              <a:buNone/>
            </a:pPr>
            <a:pPr indent="0" marL="0">
              <a:buNone/>
            </a:pPr>
            <a:pPr indent="0" marL="0">
              <a:buNone/>
            </a:pPr>
            <a:r>
              <a:rPr lang="en-US" sz="1250" spc="200" kern="0" dirty="0" b="0">
                <a:solidFill>
                  <a:srgbClr val="9B9EA6"/>
                </a:solidFill>
                <a:latin typeface="Geist Mono" pitchFamily="34" charset="0"/>
                <a:ea typeface="Geist Mono" pitchFamily="34" charset="-122"/>
                <a:cs typeface="Geist Mono" pitchFamily="34" charset="-120"/>
              </a:rPr>
              <a:t>— 09</a:t>
            </a:r>
            <a:r>
              <a:rPr lang="en-US" sz="1250" spc="200" kern="0" dirty="0" b="0">
                <a:solidFill>
                  <a:srgbClr val="6A6D75"/>
                </a:solidFill>
                <a:latin typeface="Geist Mono" pitchFamily="34" charset="0"/>
                <a:ea typeface="Geist Mono" pitchFamily="34" charset="-122"/>
                <a:cs typeface="Geist Mono" pitchFamily="34" charset="-120"/>
              </a:rPr>
              <a:t xml:space="preserve">   /   </a:t>
            </a:r>
            <a:r>
              <a:rPr lang="en-US" sz="1250" spc="200" kern="0" dirty="0" b="0">
                <a:solidFill>
                  <a:srgbClr val="9B9EA6"/>
                </a:solidFill>
                <a:latin typeface="Geist Mono" pitchFamily="34" charset="0"/>
                <a:ea typeface="Geist Mono" pitchFamily="34" charset="-122"/>
                <a:cs typeface="Geist Mono" pitchFamily="34" charset="-120"/>
              </a:rPr>
              <a:t>NEXT</a:t>
            </a:r>
            <a:endParaRPr lang="en-US" sz="1250" dirty="0"/>
          </a:p>
        </p:txBody>
      </p:sp>
      <p:sp>
        <p:nvSpPr>
          <p:cNvPr id="8" name="Text 6"/>
          <p:cNvSpPr/>
          <p:nvPr/>
        </p:nvSpPr>
        <p:spPr>
          <a:xfrm>
            <a:off x="841248" y="1874520"/>
            <a:ext cx="10509199" cy="1371600"/>
          </a:xfrm>
          <a:prstGeom prst="rect">
            <a:avLst/>
          </a:prstGeom>
          <a:noFill/>
          <a:ln/>
        </p:spPr>
        <p:txBody>
          <a:bodyPr wrap="square" lIns="0" tIns="0" rIns="0" bIns="0" rtlCol="0" anchor="t"/>
          <a:lstStyle/>
          <a:p>
            <a:pPr indent="0" marL="0">
              <a:lnSpc>
                <a:spcPct val="102000"/>
              </a:lnSpc>
              <a:buNone/>
            </a:pPr>
            <a:r>
              <a:rPr lang="en-US" sz="3200" b="1" dirty="0">
                <a:solidFill>
                  <a:srgbClr val="F4F4F2"/>
                </a:solidFill>
                <a:latin typeface="Geist" pitchFamily="34" charset="0"/>
                <a:ea typeface="Geist" pitchFamily="34" charset="-122"/>
                <a:cs typeface="Geist" pitchFamily="34" charset="-120"/>
              </a:rPr>
              <a:t>Bring me a number.</a:t>
            </a:r>
            <a:endParaRPr lang="en-US" sz="3200" dirty="0"/>
          </a:p>
        </p:txBody>
      </p:sp>
      <p:sp>
        <p:nvSpPr>
          <p:cNvPr id="9" name="Shape 7"/>
          <p:cNvSpPr/>
          <p:nvPr/>
        </p:nvSpPr>
        <p:spPr>
          <a:xfrm>
            <a:off x="841248" y="3383280"/>
            <a:ext cx="603504" cy="41148"/>
          </a:xfrm>
          <a:prstGeom prst="rect">
            <a:avLst/>
          </a:prstGeom>
          <a:solidFill>
            <a:srgbClr val="E8B84B"/>
          </a:solidFill>
          <a:ln/>
        </p:spPr>
      </p:sp>
      <p:sp>
        <p:nvSpPr>
          <p:cNvPr id="10" name="Text 8"/>
          <p:cNvSpPr/>
          <p:nvPr/>
        </p:nvSpPr>
        <p:spPr>
          <a:xfrm>
            <a:off x="841248" y="3657600"/>
            <a:ext cx="10509199" cy="365760"/>
          </a:xfrm>
          <a:prstGeom prst="rect">
            <a:avLst/>
          </a:prstGeom>
          <a:noFill/>
          <a:ln/>
        </p:spPr>
        <p:txBody>
          <a:bodyPr wrap="square" lIns="0" tIns="0" rIns="0" bIns="0" rtlCol="0" anchor="ctr"/>
          <a:lstStyle/>
          <a:p>
            <a:pPr indent="0" marL="0">
              <a:buNone/>
            </a:pPr>
            <a:pPr indent="0" marL="0">
              <a:buNone/>
            </a:pPr>
            <a:r>
              <a:rPr lang="en-US" sz="1500" dirty="0" b="0">
                <a:solidFill>
                  <a:srgbClr val="E8B84B"/>
                </a:solidFill>
                <a:latin typeface="Geist Mono" pitchFamily="34" charset="0"/>
                <a:ea typeface="Geist Mono" pitchFamily="34" charset="-122"/>
                <a:cs typeface="Geist Mono" pitchFamily="34" charset="-120"/>
              </a:rPr>
              <a:t>NEXT →   Your scored run — whatever it says</a:t>
            </a:r>
            <a:endParaRPr lang="en-US" sz="1500" dirty="0"/>
          </a:p>
        </p:txBody>
      </p:sp>
      <p:sp>
        <p:nvSpPr>
          <p:cNvPr id="11" name="Text 9"/>
          <p:cNvSpPr/>
          <p:nvPr/>
        </p:nvSpPr>
        <p:spPr>
          <a:xfrm>
            <a:off x="841248" y="4069080"/>
            <a:ext cx="10509199" cy="365760"/>
          </a:xfrm>
          <a:prstGeom prst="rect">
            <a:avLst/>
          </a:prstGeom>
          <a:noFill/>
          <a:ln/>
        </p:spPr>
        <p:txBody>
          <a:bodyPr wrap="square" lIns="0" tIns="0" rIns="0" bIns="0" rtlCol="0" anchor="ctr"/>
          <a:lstStyle/>
          <a:p>
            <a:pPr indent="0" marL="0">
              <a:buNone/>
            </a:pPr>
            <a:r>
              <a:rPr lang="en-US" sz="1250" dirty="0" b="0">
                <a:solidFill>
                  <a:srgbClr val="9B9EA6"/>
                </a:solidFill>
                <a:latin typeface="Geist Mono" pitchFamily="34" charset="0"/>
                <a:ea typeface="Geist Mono" pitchFamily="34" charset="-122"/>
                <a:cs typeface="Geist Mono" pitchFamily="34" charset="-120"/>
              </a:rPr>
              <a:t>the breakdown · the parameter that hurt · one change you would make</a:t>
            </a:r>
            <a:endParaRPr lang="en-US" sz="1250" dirty="0"/>
          </a:p>
        </p:txBody>
      </p:sp>
      <p:sp>
        <p:nvSpPr>
          <p:cNvPr id="12" name="Text 10"/>
          <p:cNvSpPr/>
          <p:nvPr/>
        </p:nvSpPr>
        <p:spPr>
          <a:xfrm>
            <a:off x="841248" y="5669280"/>
            <a:ext cx="10509199" cy="365760"/>
          </a:xfrm>
          <a:prstGeom prst="rect">
            <a:avLst/>
          </a:prstGeom>
          <a:noFill/>
          <a:ln/>
        </p:spPr>
        <p:txBody>
          <a:bodyPr wrap="square" lIns="0" tIns="0" rIns="0" bIns="0" rtlCol="0" anchor="ctr"/>
          <a:lstStyle/>
          <a:p>
            <a:pPr indent="0" marL="0">
              <a:buNone/>
            </a:pPr>
            <a:pPr indent="0" marL="0">
              <a:buNone/>
            </a:pPr>
            <a:pPr indent="0" marL="0">
              <a:buNone/>
            </a:pPr>
            <a:pPr indent="0" marL="0">
              <a:buNone/>
            </a:pPr>
            <a:pPr indent="0" marL="0">
              <a:buNone/>
            </a:pPr>
            <a:pPr indent="0" marL="0">
              <a:buNone/>
            </a:pPr>
            <a:pPr indent="0" marL="0">
              <a:buNone/>
            </a:pPr>
            <a:pPr indent="0" marL="0">
              <a:buNone/>
            </a:pPr>
            <a:r>
              <a:rPr lang="en-US" sz="800" spc="120" kern="0" dirty="0" b="0">
                <a:solidFill>
                  <a:srgbClr val="E8B84B"/>
                </a:solidFill>
                <a:latin typeface="Geist Mono" pitchFamily="34" charset="0"/>
                <a:ea typeface="Geist Mono" pitchFamily="34" charset="-122"/>
                <a:cs typeface="Geist Mono" pitchFamily="34" charset="-120"/>
              </a:rPr>
              <a:t xml:space="preserve">●  </a:t>
            </a:r>
            <a:r>
              <a:rPr lang="en-US" sz="1100" spc="120" kern="0" dirty="0" b="0">
                <a:solidFill>
                  <a:srgbClr val="6A6D75"/>
                </a:solidFill>
                <a:latin typeface="Geist Mono" pitchFamily="34" charset="0"/>
                <a:ea typeface="Geist Mono" pitchFamily="34" charset="-122"/>
                <a:cs typeface="Geist Mono" pitchFamily="34" charset="-120"/>
              </a:rPr>
              <a:t>MOHAMMED SHAKER</a:t>
            </a:r>
            <a:r>
              <a:rPr lang="en-US" sz="1100" spc="120" kern="0" dirty="0" b="0">
                <a:solidFill>
                  <a:srgbClr val="6A6D75"/>
                </a:solidFill>
                <a:latin typeface="Geist Mono" pitchFamily="34" charset="0"/>
                <a:ea typeface="Geist Mono" pitchFamily="34" charset="-122"/>
                <a:cs typeface="Geist Mono" pitchFamily="34" charset="-120"/>
              </a:rPr>
              <a:t xml:space="preserve">     </a:t>
            </a:r>
            <a:r>
              <a:rPr lang="en-US" sz="800" spc="120" kern="0" dirty="0" b="0">
                <a:solidFill>
                  <a:srgbClr val="E8B84B"/>
                </a:solidFill>
                <a:latin typeface="Geist Mono" pitchFamily="34" charset="0"/>
                <a:ea typeface="Geist Mono" pitchFamily="34" charset="-122"/>
                <a:cs typeface="Geist Mono" pitchFamily="34" charset="-120"/>
              </a:rPr>
              <a:t xml:space="preserve">●  </a:t>
            </a:r>
            <a:r>
              <a:rPr lang="en-US" sz="1100" spc="120" kern="0" dirty="0" b="0">
                <a:solidFill>
                  <a:srgbClr val="6A6D75"/>
                </a:solidFill>
                <a:latin typeface="Geist Mono" pitchFamily="34" charset="0"/>
                <a:ea typeface="Geist Mono" pitchFamily="34" charset="-122"/>
                <a:cs typeface="Geist Mono" pitchFamily="34" charset="-120"/>
              </a:rPr>
              <a:t>UIPATH MVP</a:t>
            </a:r>
            <a:r>
              <a:rPr lang="en-US" sz="1100" spc="120" kern="0" dirty="0" b="0">
                <a:solidFill>
                  <a:srgbClr val="6A6D75"/>
                </a:solidFill>
                <a:latin typeface="Geist Mono" pitchFamily="34" charset="0"/>
                <a:ea typeface="Geist Mono" pitchFamily="34" charset="-122"/>
                <a:cs typeface="Geist Mono" pitchFamily="34" charset="-120"/>
              </a:rPr>
              <a:t xml:space="preserve">     </a:t>
            </a:r>
            <a:r>
              <a:rPr lang="en-US" sz="800" spc="120" kern="0" dirty="0" b="0">
                <a:solidFill>
                  <a:srgbClr val="E8B84B"/>
                </a:solidFill>
                <a:latin typeface="Geist Mono" pitchFamily="34" charset="0"/>
                <a:ea typeface="Geist Mono" pitchFamily="34" charset="-122"/>
                <a:cs typeface="Geist Mono" pitchFamily="34" charset="-120"/>
              </a:rPr>
              <a:t xml:space="preserve">●  </a:t>
            </a:r>
            <a:r>
              <a:rPr lang="en-US" sz="1100" spc="120" kern="0" dirty="0" b="0">
                <a:solidFill>
                  <a:srgbClr val="6A6D75"/>
                </a:solidFill>
                <a:latin typeface="Geist Mono" pitchFamily="34" charset="0"/>
                <a:ea typeface="Geist Mono" pitchFamily="34" charset="-122"/>
                <a:cs typeface="Geist Mono" pitchFamily="34" charset="-120"/>
              </a:rPr>
              <a:t>MOHAMMEDSHAKER.COM</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5418531" cy="41148"/>
          </a:xfrm>
          <a:prstGeom prst="rect">
            <a:avLst/>
          </a:prstGeom>
          <a:solidFill>
            <a:srgbClr val="E8B84B"/>
          </a:solidFill>
          <a:ln/>
        </p:spPr>
      </p:sp>
      <p:sp>
        <p:nvSpPr>
          <p:cNvPr id="3" name="Text 1"/>
          <p:cNvSpPr/>
          <p:nvPr/>
        </p:nvSpPr>
        <p:spPr>
          <a:xfrm>
            <a:off x="841248" y="274320"/>
            <a:ext cx="5486400" cy="310896"/>
          </a:xfrm>
          <a:prstGeom prst="rect">
            <a:avLst/>
          </a:prstGeom>
          <a:noFill/>
          <a:ln/>
        </p:spPr>
        <p:txBody>
          <a:bodyPr wrap="square" lIns="0" tIns="0" rIns="0" bIns="0" rtlCol="0" anchor="ctr"/>
          <a:lstStyle/>
          <a:p>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F4F4F2"/>
                </a:solidFill>
                <a:latin typeface="Geist Mono" pitchFamily="34" charset="0"/>
                <a:ea typeface="Geist Mono" pitchFamily="34" charset="-122"/>
                <a:cs typeface="Geist Mono" pitchFamily="34" charset="-120"/>
              </a:rPr>
              <a:t>MS</a:t>
            </a:r>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6A6D75"/>
                </a:solidFill>
                <a:latin typeface="Geist Mono" pitchFamily="34" charset="0"/>
                <a:ea typeface="Geist Mono" pitchFamily="34" charset="-122"/>
                <a:cs typeface="Geist Mono" pitchFamily="34" charset="-120"/>
              </a:rPr>
              <a:t>  DU MENTORING</a:t>
            </a:r>
            <a:endParaRPr lang="en-US" sz="1100" dirty="0"/>
          </a:p>
        </p:txBody>
      </p:sp>
      <p:sp>
        <p:nvSpPr>
          <p:cNvPr id="4" name="Text 2"/>
          <p:cNvSpPr/>
          <p:nvPr/>
        </p:nvSpPr>
        <p:spPr>
          <a:xfrm>
            <a:off x="5864047" y="274320"/>
            <a:ext cx="5486400" cy="310896"/>
          </a:xfrm>
          <a:prstGeom prst="rect">
            <a:avLst/>
          </a:prstGeom>
          <a:noFill/>
          <a:ln/>
        </p:spPr>
        <p:txBody>
          <a:bodyPr wrap="square" lIns="0" tIns="0" rIns="0" bIns="0" rtlCol="0" anchor="ctr"/>
          <a:lstStyle/>
          <a:p>
            <a:pPr algn="r" indent="0" marL="0">
              <a:buNone/>
            </a:pPr>
            <a:r>
              <a:rPr lang="en-US" sz="1000" spc="150" kern="0" dirty="0" b="0">
                <a:solidFill>
                  <a:srgbClr val="6A6D75"/>
                </a:solidFill>
                <a:latin typeface="Geist Mono" pitchFamily="34" charset="0"/>
                <a:ea typeface="Geist Mono" pitchFamily="34" charset="-122"/>
                <a:cs typeface="Geist Mono" pitchFamily="34" charset="-120"/>
              </a:rPr>
              <a:t>BONUS / PRACTICE LAB · AUTOMATION LAB</a:t>
            </a:r>
            <a:endParaRPr lang="en-US" sz="1000" dirty="0"/>
          </a:p>
        </p:txBody>
      </p:sp>
      <p:sp>
        <p:nvSpPr>
          <p:cNvPr id="5" name="Text 3"/>
          <p:cNvSpPr/>
          <p:nvPr/>
        </p:nvSpPr>
        <p:spPr>
          <a:xfrm>
            <a:off x="841248" y="6400800"/>
            <a:ext cx="7315200" cy="274320"/>
          </a:xfrm>
          <a:prstGeom prst="rect">
            <a:avLst/>
          </a:prstGeom>
          <a:noFill/>
          <a:ln/>
        </p:spPr>
        <p:txBody>
          <a:bodyPr wrap="square" lIns="0" tIns="0" rIns="0" bIns="0" rtlCol="0" anchor="ctr"/>
          <a:lstStyle/>
          <a:p>
            <a:pPr indent="0" marL="0">
              <a:buNone/>
            </a:pPr>
            <a:r>
              <a:rPr lang="en-US" sz="950" spc="100" kern="0" dirty="0" b="0">
                <a:solidFill>
                  <a:srgbClr val="6A6D75"/>
                </a:solidFill>
                <a:latin typeface="Geist Mono" pitchFamily="34" charset="0"/>
                <a:ea typeface="Geist Mono" pitchFamily="34" charset="-122"/>
                <a:cs typeface="Geist Mono" pitchFamily="34" charset="-120"/>
              </a:rPr>
              <a:t>v2026.1 · BONUS · THE AUTOMATION LAB</a:t>
            </a:r>
            <a:endParaRPr lang="en-US" sz="950" dirty="0"/>
          </a:p>
        </p:txBody>
      </p:sp>
      <p:sp>
        <p:nvSpPr>
          <p:cNvPr id="6" name="Text 4"/>
          <p:cNvSpPr/>
          <p:nvPr/>
        </p:nvSpPr>
        <p:spPr>
          <a:xfrm>
            <a:off x="8607247" y="6400800"/>
            <a:ext cx="2743200" cy="274320"/>
          </a:xfrm>
          <a:prstGeom prst="rect">
            <a:avLst/>
          </a:prstGeom>
          <a:noFill/>
          <a:ln/>
        </p:spPr>
        <p:txBody>
          <a:bodyPr wrap="square" lIns="0" tIns="0" rIns="0" bIns="0" rtlCol="0" anchor="ctr"/>
          <a:lstStyle/>
          <a:p>
            <a:pPr algn="r" indent="0" marL="0">
              <a:buNone/>
            </a:pPr>
            <a:pPr algn="r" indent="0" marL="0">
              <a:buNone/>
            </a:pPr>
            <a:r>
              <a:rPr lang="en-US" sz="1000" spc="100" kern="0" dirty="0" b="0">
                <a:solidFill>
                  <a:srgbClr val="F4F4F2"/>
                </a:solidFill>
                <a:latin typeface="Geist Mono" pitchFamily="34" charset="0"/>
                <a:ea typeface="Geist Mono" pitchFamily="34" charset="-122"/>
                <a:cs typeface="Geist Mono" pitchFamily="34" charset="-120"/>
              </a:rPr>
              <a:t>08</a:t>
            </a:r>
            <a:r>
              <a:rPr lang="en-US" sz="1000" spc="100" kern="0" dirty="0" b="0">
                <a:solidFill>
                  <a:srgbClr val="6A6D75"/>
                </a:solidFill>
                <a:latin typeface="Geist Mono" pitchFamily="34" charset="0"/>
                <a:ea typeface="Geist Mono" pitchFamily="34" charset="-122"/>
                <a:cs typeface="Geist Mono" pitchFamily="34" charset="-120"/>
              </a:rPr>
              <a:t xml:space="preserve"> / 18</a:t>
            </a:r>
            <a:endParaRPr lang="en-US" sz="1000" dirty="0"/>
          </a:p>
        </p:txBody>
      </p:sp>
      <p:sp>
        <p:nvSpPr>
          <p:cNvPr id="7" name="Text 5"/>
          <p:cNvSpPr/>
          <p:nvPr/>
        </p:nvSpPr>
        <p:spPr>
          <a:xfrm>
            <a:off x="841248" y="1371600"/>
            <a:ext cx="10509199" cy="310896"/>
          </a:xfrm>
          <a:prstGeom prst="rect">
            <a:avLst/>
          </a:prstGeom>
          <a:noFill/>
          <a:ln/>
        </p:spPr>
        <p:txBody>
          <a:bodyPr wrap="square" lIns="0" tIns="0" rIns="0" bIns="0" rtlCol="0" anchor="ctr"/>
          <a:lstStyle/>
          <a:p>
            <a:pPr indent="0" marL="0">
              <a:buNone/>
            </a:pPr>
            <a:pPr indent="0" marL="0">
              <a:buNone/>
            </a:pPr>
            <a:pPr indent="0" marL="0">
              <a:buNone/>
            </a:pPr>
            <a:r>
              <a:rPr lang="en-US" sz="1250" spc="200" kern="0" dirty="0" b="0">
                <a:solidFill>
                  <a:srgbClr val="9B9EA6"/>
                </a:solidFill>
                <a:latin typeface="Geist Mono" pitchFamily="34" charset="0"/>
                <a:ea typeface="Geist Mono" pitchFamily="34" charset="-122"/>
                <a:cs typeface="Geist Mono" pitchFamily="34" charset="-120"/>
              </a:rPr>
              <a:t>— 04.1</a:t>
            </a:r>
            <a:r>
              <a:rPr lang="en-US" sz="1250" spc="200" kern="0" dirty="0" b="0">
                <a:solidFill>
                  <a:srgbClr val="6A6D75"/>
                </a:solidFill>
                <a:latin typeface="Geist Mono" pitchFamily="34" charset="0"/>
                <a:ea typeface="Geist Mono" pitchFamily="34" charset="-122"/>
                <a:cs typeface="Geist Mono" pitchFamily="34" charset="-120"/>
              </a:rPr>
              <a:t xml:space="preserve">   /   </a:t>
            </a:r>
            <a:r>
              <a:rPr lang="en-US" sz="1250" spc="200" kern="0" dirty="0" b="0">
                <a:solidFill>
                  <a:srgbClr val="9B9EA6"/>
                </a:solidFill>
                <a:latin typeface="Geist Mono" pitchFamily="34" charset="0"/>
                <a:ea typeface="Geist Mono" pitchFamily="34" charset="-122"/>
                <a:cs typeface="Geist Mono" pitchFamily="34" charset="-120"/>
              </a:rPr>
              <a:t>THE DOCUMENT LADDER</a:t>
            </a:r>
            <a:endParaRPr lang="en-US" sz="1250" dirty="0"/>
          </a:p>
        </p:txBody>
      </p:sp>
      <p:sp>
        <p:nvSpPr>
          <p:cNvPr id="8" name="Text 6"/>
          <p:cNvSpPr/>
          <p:nvPr/>
        </p:nvSpPr>
        <p:spPr>
          <a:xfrm>
            <a:off x="841248" y="1828800"/>
            <a:ext cx="10509199" cy="1371600"/>
          </a:xfrm>
          <a:prstGeom prst="rect">
            <a:avLst/>
          </a:prstGeom>
          <a:noFill/>
          <a:ln/>
        </p:spPr>
        <p:txBody>
          <a:bodyPr wrap="square" lIns="0" tIns="0" rIns="0" bIns="0" rtlCol="0" anchor="t"/>
          <a:lstStyle/>
          <a:p>
            <a:pPr indent="0" marL="0">
              <a:lnSpc>
                <a:spcPct val="102000"/>
              </a:lnSpc>
              <a:buNone/>
            </a:pPr>
            <a:r>
              <a:rPr lang="en-US" sz="3800" b="1" dirty="0">
                <a:solidFill>
                  <a:srgbClr val="F4F4F2"/>
                </a:solidFill>
                <a:latin typeface="Geist" pitchFamily="34" charset="0"/>
                <a:ea typeface="Geist" pitchFamily="34" charset="-122"/>
                <a:cs typeface="Geist" pitchFamily="34" charset="-120"/>
              </a:rPr>
              <a:t>The same invoice, five times harder.</a:t>
            </a:r>
            <a:endParaRPr lang="en-US" sz="3800" dirty="0"/>
          </a:p>
        </p:txBody>
      </p:sp>
      <p:sp>
        <p:nvSpPr>
          <p:cNvPr id="9" name="Shape 7"/>
          <p:cNvSpPr/>
          <p:nvPr/>
        </p:nvSpPr>
        <p:spPr>
          <a:xfrm>
            <a:off x="841248" y="2788920"/>
            <a:ext cx="10509199" cy="0"/>
          </a:xfrm>
          <a:prstGeom prst="line">
            <a:avLst/>
          </a:prstGeom>
          <a:noFill/>
          <a:ln w="9525">
            <a:solidFill>
              <a:srgbClr val="2C2D34"/>
            </a:solidFill>
            <a:prstDash val="solid"/>
          </a:ln>
        </p:spPr>
      </p:sp>
      <p:sp>
        <p:nvSpPr>
          <p:cNvPr id="10" name="Text 8"/>
          <p:cNvSpPr/>
          <p:nvPr/>
        </p:nvSpPr>
        <p:spPr>
          <a:xfrm>
            <a:off x="841248" y="2907792"/>
            <a:ext cx="640080" cy="457200"/>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01</a:t>
            </a:r>
            <a:endParaRPr lang="en-US" sz="1250" dirty="0"/>
          </a:p>
        </p:txBody>
      </p:sp>
      <p:sp>
        <p:nvSpPr>
          <p:cNvPr id="11" name="Text 9"/>
          <p:cNvSpPr/>
          <p:nvPr/>
        </p:nvSpPr>
        <p:spPr>
          <a:xfrm>
            <a:off x="1554480" y="2889504"/>
            <a:ext cx="9795967" cy="493776"/>
          </a:xfrm>
          <a:prstGeom prst="rect">
            <a:avLst/>
          </a:prstGeom>
          <a:noFill/>
          <a:ln/>
        </p:spPr>
        <p:txBody>
          <a:bodyPr wrap="square" lIns="0" tIns="0" rIns="0" bIns="0" rtlCol="0" anchor="t"/>
          <a:lstStyle/>
          <a:p>
            <a:pPr indent="0" marL="0">
              <a:lnSpc>
                <a:spcPct val="112000"/>
              </a:lnSpc>
              <a:buNone/>
            </a:pPr>
            <a:pPr indent="0" marL="0">
              <a:lnSpc>
                <a:spcPct val="112000"/>
              </a:lnSpc>
              <a:buNone/>
            </a:pPr>
            <a:r>
              <a:rPr lang="en-US" sz="1550" b="1" dirty="0">
                <a:solidFill>
                  <a:srgbClr val="F4F4F2"/>
                </a:solidFill>
                <a:latin typeface="Geist" pitchFamily="34" charset="0"/>
                <a:ea typeface="Geist" pitchFamily="34" charset="-122"/>
                <a:cs typeface="Geist" pitchFamily="34" charset="-120"/>
              </a:rPr>
              <a:t>Digital print</a:t>
            </a:r>
            <a:r>
              <a:rPr lang="en-US" sz="1550" dirty="0" b="0">
                <a:solidFill>
                  <a:srgbClr val="9B9EA6"/>
                </a:solidFill>
                <a:latin typeface="Geist" pitchFamily="34" charset="0"/>
                <a:ea typeface="Geist" pitchFamily="34" charset="-122"/>
                <a:cs typeface="Geist" pitchFamily="34" charset="-120"/>
              </a:rPr>
              <a:t xml:space="preserve"> — born a PDF, text you can select.</a:t>
            </a:r>
            <a:endParaRPr lang="en-US" sz="1550" dirty="0"/>
          </a:p>
        </p:txBody>
      </p:sp>
      <p:sp>
        <p:nvSpPr>
          <p:cNvPr id="12" name="Shape 10"/>
          <p:cNvSpPr/>
          <p:nvPr/>
        </p:nvSpPr>
        <p:spPr>
          <a:xfrm>
            <a:off x="841248" y="3337560"/>
            <a:ext cx="10509199" cy="0"/>
          </a:xfrm>
          <a:prstGeom prst="line">
            <a:avLst/>
          </a:prstGeom>
          <a:noFill/>
          <a:ln w="9525">
            <a:solidFill>
              <a:srgbClr val="2C2D34"/>
            </a:solidFill>
            <a:prstDash val="solid"/>
          </a:ln>
        </p:spPr>
      </p:sp>
      <p:sp>
        <p:nvSpPr>
          <p:cNvPr id="13" name="Text 11"/>
          <p:cNvSpPr/>
          <p:nvPr/>
        </p:nvSpPr>
        <p:spPr>
          <a:xfrm>
            <a:off x="841248" y="3456432"/>
            <a:ext cx="640080" cy="457200"/>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02</a:t>
            </a:r>
            <a:endParaRPr lang="en-US" sz="1250" dirty="0"/>
          </a:p>
        </p:txBody>
      </p:sp>
      <p:sp>
        <p:nvSpPr>
          <p:cNvPr id="14" name="Text 12"/>
          <p:cNvSpPr/>
          <p:nvPr/>
        </p:nvSpPr>
        <p:spPr>
          <a:xfrm>
            <a:off x="1554480" y="3438144"/>
            <a:ext cx="9795967" cy="493776"/>
          </a:xfrm>
          <a:prstGeom prst="rect">
            <a:avLst/>
          </a:prstGeom>
          <a:noFill/>
          <a:ln/>
        </p:spPr>
        <p:txBody>
          <a:bodyPr wrap="square" lIns="0" tIns="0" rIns="0" bIns="0" rtlCol="0" anchor="t"/>
          <a:lstStyle/>
          <a:p>
            <a:pPr indent="0" marL="0">
              <a:lnSpc>
                <a:spcPct val="112000"/>
              </a:lnSpc>
              <a:buNone/>
            </a:pPr>
            <a:pPr indent="0" marL="0">
              <a:lnSpc>
                <a:spcPct val="112000"/>
              </a:lnSpc>
              <a:buNone/>
            </a:pPr>
            <a:r>
              <a:rPr lang="en-US" sz="1550" b="1" dirty="0">
                <a:solidFill>
                  <a:srgbClr val="F4F4F2"/>
                </a:solidFill>
                <a:latin typeface="Geist" pitchFamily="34" charset="0"/>
                <a:ea typeface="Geist" pitchFamily="34" charset="-122"/>
                <a:cs typeface="Geist" pitchFamily="34" charset="-120"/>
              </a:rPr>
              <a:t>Clean scan</a:t>
            </a:r>
            <a:r>
              <a:rPr lang="en-US" sz="1550" dirty="0" b="0">
                <a:solidFill>
                  <a:srgbClr val="9B9EA6"/>
                </a:solidFill>
                <a:latin typeface="Geist" pitchFamily="34" charset="0"/>
                <a:ea typeface="Geist" pitchFamily="34" charset="-122"/>
                <a:cs typeface="Geist" pitchFamily="34" charset="-120"/>
              </a:rPr>
              <a:t xml:space="preserve"> — 300 dpi, straight, a little soft.</a:t>
            </a:r>
            <a:endParaRPr lang="en-US" sz="1550" dirty="0"/>
          </a:p>
        </p:txBody>
      </p:sp>
      <p:sp>
        <p:nvSpPr>
          <p:cNvPr id="15" name="Shape 13"/>
          <p:cNvSpPr/>
          <p:nvPr/>
        </p:nvSpPr>
        <p:spPr>
          <a:xfrm>
            <a:off x="841248" y="3886200"/>
            <a:ext cx="10509199" cy="0"/>
          </a:xfrm>
          <a:prstGeom prst="line">
            <a:avLst/>
          </a:prstGeom>
          <a:noFill/>
          <a:ln w="9525">
            <a:solidFill>
              <a:srgbClr val="2C2D34"/>
            </a:solidFill>
            <a:prstDash val="solid"/>
          </a:ln>
        </p:spPr>
      </p:sp>
      <p:sp>
        <p:nvSpPr>
          <p:cNvPr id="16" name="Text 14"/>
          <p:cNvSpPr/>
          <p:nvPr/>
        </p:nvSpPr>
        <p:spPr>
          <a:xfrm>
            <a:off x="841248" y="4005072"/>
            <a:ext cx="640080" cy="457200"/>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03</a:t>
            </a:r>
            <a:endParaRPr lang="en-US" sz="1250" dirty="0"/>
          </a:p>
        </p:txBody>
      </p:sp>
      <p:sp>
        <p:nvSpPr>
          <p:cNvPr id="17" name="Text 15"/>
          <p:cNvSpPr/>
          <p:nvPr/>
        </p:nvSpPr>
        <p:spPr>
          <a:xfrm>
            <a:off x="1554480" y="3986784"/>
            <a:ext cx="9795967" cy="493776"/>
          </a:xfrm>
          <a:prstGeom prst="rect">
            <a:avLst/>
          </a:prstGeom>
          <a:noFill/>
          <a:ln/>
        </p:spPr>
        <p:txBody>
          <a:bodyPr wrap="square" lIns="0" tIns="0" rIns="0" bIns="0" rtlCol="0" anchor="t"/>
          <a:lstStyle/>
          <a:p>
            <a:pPr indent="0" marL="0">
              <a:lnSpc>
                <a:spcPct val="112000"/>
              </a:lnSpc>
              <a:buNone/>
            </a:pPr>
            <a:pPr indent="0" marL="0">
              <a:lnSpc>
                <a:spcPct val="112000"/>
              </a:lnSpc>
              <a:buNone/>
            </a:pPr>
            <a:r>
              <a:rPr lang="en-US" sz="1550" b="1" dirty="0">
                <a:solidFill>
                  <a:srgbClr val="F4F4F2"/>
                </a:solidFill>
                <a:latin typeface="Geist" pitchFamily="34" charset="0"/>
                <a:ea typeface="Geist" pitchFamily="34" charset="-122"/>
                <a:cs typeface="Geist" pitchFamily="34" charset="-120"/>
              </a:rPr>
              <a:t>Office scan</a:t>
            </a:r>
            <a:r>
              <a:rPr lang="en-US" sz="1550" dirty="0" b="0">
                <a:solidFill>
                  <a:srgbClr val="9B9EA6"/>
                </a:solidFill>
                <a:latin typeface="Geist" pitchFamily="34" charset="0"/>
                <a:ea typeface="Geist" pitchFamily="34" charset="-122"/>
                <a:cs typeface="Geist" pitchFamily="34" charset="-120"/>
              </a:rPr>
              <a:t xml:space="preserve"> — skewed, speckled, a fold down the middle.</a:t>
            </a:r>
            <a:endParaRPr lang="en-US" sz="1550" dirty="0"/>
          </a:p>
        </p:txBody>
      </p:sp>
      <p:sp>
        <p:nvSpPr>
          <p:cNvPr id="18" name="Shape 16"/>
          <p:cNvSpPr/>
          <p:nvPr/>
        </p:nvSpPr>
        <p:spPr>
          <a:xfrm>
            <a:off x="841248" y="4434840"/>
            <a:ext cx="10509199" cy="0"/>
          </a:xfrm>
          <a:prstGeom prst="line">
            <a:avLst/>
          </a:prstGeom>
          <a:noFill/>
          <a:ln w="9525">
            <a:solidFill>
              <a:srgbClr val="2C2D34"/>
            </a:solidFill>
            <a:prstDash val="solid"/>
          </a:ln>
        </p:spPr>
      </p:sp>
      <p:sp>
        <p:nvSpPr>
          <p:cNvPr id="19" name="Text 17"/>
          <p:cNvSpPr/>
          <p:nvPr/>
        </p:nvSpPr>
        <p:spPr>
          <a:xfrm>
            <a:off x="841248" y="4553712"/>
            <a:ext cx="640080" cy="457200"/>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04</a:t>
            </a:r>
            <a:endParaRPr lang="en-US" sz="1250" dirty="0"/>
          </a:p>
        </p:txBody>
      </p:sp>
      <p:sp>
        <p:nvSpPr>
          <p:cNvPr id="20" name="Text 18"/>
          <p:cNvSpPr/>
          <p:nvPr/>
        </p:nvSpPr>
        <p:spPr>
          <a:xfrm>
            <a:off x="1554480" y="4535424"/>
            <a:ext cx="9795967" cy="493776"/>
          </a:xfrm>
          <a:prstGeom prst="rect">
            <a:avLst/>
          </a:prstGeom>
          <a:noFill/>
          <a:ln/>
        </p:spPr>
        <p:txBody>
          <a:bodyPr wrap="square" lIns="0" tIns="0" rIns="0" bIns="0" rtlCol="0" anchor="t"/>
          <a:lstStyle/>
          <a:p>
            <a:pPr indent="0" marL="0">
              <a:lnSpc>
                <a:spcPct val="112000"/>
              </a:lnSpc>
              <a:buNone/>
            </a:pPr>
            <a:pPr indent="0" marL="0">
              <a:lnSpc>
                <a:spcPct val="112000"/>
              </a:lnSpc>
              <a:buNone/>
            </a:pPr>
            <a:r>
              <a:rPr lang="en-US" sz="1550" b="1" dirty="0">
                <a:solidFill>
                  <a:srgbClr val="F4F4F2"/>
                </a:solidFill>
                <a:latin typeface="Geist" pitchFamily="34" charset="0"/>
                <a:ea typeface="Geist" pitchFamily="34" charset="-122"/>
                <a:cs typeface="Geist" pitchFamily="34" charset="-120"/>
              </a:rPr>
              <a:t>Phone photo</a:t>
            </a:r>
            <a:r>
              <a:rPr lang="en-US" sz="1550" dirty="0" b="0">
                <a:solidFill>
                  <a:srgbClr val="9B9EA6"/>
                </a:solidFill>
                <a:latin typeface="Geist" pitchFamily="34" charset="0"/>
                <a:ea typeface="Geist" pitchFamily="34" charset="-122"/>
                <a:cs typeface="Geist" pitchFamily="34" charset="-120"/>
              </a:rPr>
              <a:t xml:space="preserve"> — shadow across the page, taken at a door.</a:t>
            </a:r>
            <a:endParaRPr lang="en-US" sz="1550" dirty="0"/>
          </a:p>
        </p:txBody>
      </p:sp>
      <p:sp>
        <p:nvSpPr>
          <p:cNvPr id="21" name="Shape 19"/>
          <p:cNvSpPr/>
          <p:nvPr/>
        </p:nvSpPr>
        <p:spPr>
          <a:xfrm>
            <a:off x="841248" y="4983480"/>
            <a:ext cx="10509199" cy="0"/>
          </a:xfrm>
          <a:prstGeom prst="line">
            <a:avLst/>
          </a:prstGeom>
          <a:noFill/>
          <a:ln w="9525">
            <a:solidFill>
              <a:srgbClr val="2C2D34"/>
            </a:solidFill>
            <a:prstDash val="solid"/>
          </a:ln>
        </p:spPr>
      </p:sp>
      <p:sp>
        <p:nvSpPr>
          <p:cNvPr id="22" name="Text 20"/>
          <p:cNvSpPr/>
          <p:nvPr/>
        </p:nvSpPr>
        <p:spPr>
          <a:xfrm>
            <a:off x="841248" y="5102352"/>
            <a:ext cx="640080" cy="457200"/>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05</a:t>
            </a:r>
            <a:endParaRPr lang="en-US" sz="1250" dirty="0"/>
          </a:p>
        </p:txBody>
      </p:sp>
      <p:sp>
        <p:nvSpPr>
          <p:cNvPr id="23" name="Text 21"/>
          <p:cNvSpPr/>
          <p:nvPr/>
        </p:nvSpPr>
        <p:spPr>
          <a:xfrm>
            <a:off x="1554480" y="5084064"/>
            <a:ext cx="9795967" cy="493776"/>
          </a:xfrm>
          <a:prstGeom prst="rect">
            <a:avLst/>
          </a:prstGeom>
          <a:noFill/>
          <a:ln/>
        </p:spPr>
        <p:txBody>
          <a:bodyPr wrap="square" lIns="0" tIns="0" rIns="0" bIns="0" rtlCol="0" anchor="t"/>
          <a:lstStyle/>
          <a:p>
            <a:pPr indent="0" marL="0">
              <a:lnSpc>
                <a:spcPct val="112000"/>
              </a:lnSpc>
              <a:buNone/>
            </a:pPr>
            <a:pPr indent="0" marL="0">
              <a:lnSpc>
                <a:spcPct val="112000"/>
              </a:lnSpc>
              <a:buNone/>
            </a:pPr>
            <a:r>
              <a:rPr lang="en-US" sz="1550" b="1" dirty="0">
                <a:solidFill>
                  <a:srgbClr val="F4F4F2"/>
                </a:solidFill>
                <a:latin typeface="Geist" pitchFamily="34" charset="0"/>
                <a:ea typeface="Geist" pitchFamily="34" charset="-122"/>
                <a:cs typeface="Geist" pitchFamily="34" charset="-120"/>
              </a:rPr>
              <a:t>Bad phone photo</a:t>
            </a:r>
            <a:r>
              <a:rPr lang="en-US" sz="1550" dirty="0" b="0">
                <a:solidFill>
                  <a:srgbClr val="9B9EA6"/>
                </a:solidFill>
                <a:latin typeface="Geist" pitchFamily="34" charset="0"/>
                <a:ea typeface="Geist" pitchFamily="34" charset="-122"/>
                <a:cs typeface="Geist" pitchFamily="34" charset="-120"/>
              </a:rPr>
              <a:t xml:space="preserve"> — creased, dim, Arabic. Where readers break.</a:t>
            </a:r>
            <a:endParaRPr lang="en-US" sz="1550" dirty="0"/>
          </a:p>
        </p:txBody>
      </p:sp>
      <p:sp>
        <p:nvSpPr>
          <p:cNvPr id="24" name="Shape 22"/>
          <p:cNvSpPr/>
          <p:nvPr/>
        </p:nvSpPr>
        <p:spPr>
          <a:xfrm>
            <a:off x="841248" y="5532120"/>
            <a:ext cx="10509199" cy="0"/>
          </a:xfrm>
          <a:prstGeom prst="line">
            <a:avLst/>
          </a:prstGeom>
          <a:noFill/>
          <a:ln w="9525">
            <a:solidFill>
              <a:srgbClr val="2C2D34"/>
            </a:solidFill>
            <a:prstDash val="solid"/>
          </a:ln>
        </p:spPr>
      </p:sp>
      <p:sp>
        <p:nvSpPr>
          <p:cNvPr id="27" name="Shape 25"/>
          <p:cNvSpPr/>
          <p:nvPr/>
        </p:nvSpPr>
        <p:spPr>
          <a:xfrm>
            <a:off x="841248" y="6080760"/>
            <a:ext cx="10509199" cy="0"/>
          </a:xfrm>
          <a:prstGeom prst="line">
            <a:avLst/>
          </a:prstGeom>
          <a:noFill/>
          <a:ln w="9525">
            <a:solidFill>
              <a:srgbClr val="2C2D34"/>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6773164" cy="41148"/>
          </a:xfrm>
          <a:prstGeom prst="rect">
            <a:avLst/>
          </a:prstGeom>
          <a:solidFill>
            <a:srgbClr val="E8B84B"/>
          </a:solidFill>
          <a:ln/>
        </p:spPr>
      </p:sp>
      <p:sp>
        <p:nvSpPr>
          <p:cNvPr id="3" name="Text 1"/>
          <p:cNvSpPr/>
          <p:nvPr/>
        </p:nvSpPr>
        <p:spPr>
          <a:xfrm>
            <a:off x="841248" y="274320"/>
            <a:ext cx="5486400" cy="310896"/>
          </a:xfrm>
          <a:prstGeom prst="rect">
            <a:avLst/>
          </a:prstGeom>
          <a:noFill/>
          <a:ln/>
        </p:spPr>
        <p:txBody>
          <a:bodyPr wrap="square" lIns="0" tIns="0" rIns="0" bIns="0" rtlCol="0" anchor="ctr"/>
          <a:lstStyle/>
          <a:p>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F4F4F2"/>
                </a:solidFill>
                <a:latin typeface="Geist Mono" pitchFamily="34" charset="0"/>
                <a:ea typeface="Geist Mono" pitchFamily="34" charset="-122"/>
                <a:cs typeface="Geist Mono" pitchFamily="34" charset="-120"/>
              </a:rPr>
              <a:t>MS</a:t>
            </a:r>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6A6D75"/>
                </a:solidFill>
                <a:latin typeface="Geist Mono" pitchFamily="34" charset="0"/>
                <a:ea typeface="Geist Mono" pitchFamily="34" charset="-122"/>
                <a:cs typeface="Geist Mono" pitchFamily="34" charset="-120"/>
              </a:rPr>
              <a:t>  DU MENTORING</a:t>
            </a:r>
            <a:endParaRPr lang="en-US" sz="1100" dirty="0"/>
          </a:p>
        </p:txBody>
      </p:sp>
      <p:sp>
        <p:nvSpPr>
          <p:cNvPr id="4" name="Text 2"/>
          <p:cNvSpPr/>
          <p:nvPr/>
        </p:nvSpPr>
        <p:spPr>
          <a:xfrm>
            <a:off x="5864047" y="274320"/>
            <a:ext cx="5486400" cy="310896"/>
          </a:xfrm>
          <a:prstGeom prst="rect">
            <a:avLst/>
          </a:prstGeom>
          <a:noFill/>
          <a:ln/>
        </p:spPr>
        <p:txBody>
          <a:bodyPr wrap="square" lIns="0" tIns="0" rIns="0" bIns="0" rtlCol="0" anchor="ctr"/>
          <a:lstStyle/>
          <a:p>
            <a:pPr algn="r" indent="0" marL="0">
              <a:buNone/>
            </a:pPr>
            <a:r>
              <a:rPr lang="en-US" sz="1000" spc="150" kern="0" dirty="0" b="0">
                <a:solidFill>
                  <a:srgbClr val="6A6D75"/>
                </a:solidFill>
                <a:latin typeface="Geist Mono" pitchFamily="34" charset="0"/>
                <a:ea typeface="Geist Mono" pitchFamily="34" charset="-122"/>
                <a:cs typeface="Geist Mono" pitchFamily="34" charset="-120"/>
              </a:rPr>
              <a:t>BONUS / PRACTICE LAB · AUTOMATION LAB</a:t>
            </a:r>
            <a:endParaRPr lang="en-US" sz="1000" dirty="0"/>
          </a:p>
        </p:txBody>
      </p:sp>
      <p:sp>
        <p:nvSpPr>
          <p:cNvPr id="5" name="Text 3"/>
          <p:cNvSpPr/>
          <p:nvPr/>
        </p:nvSpPr>
        <p:spPr>
          <a:xfrm>
            <a:off x="841248" y="6400800"/>
            <a:ext cx="7315200" cy="274320"/>
          </a:xfrm>
          <a:prstGeom prst="rect">
            <a:avLst/>
          </a:prstGeom>
          <a:noFill/>
          <a:ln/>
        </p:spPr>
        <p:txBody>
          <a:bodyPr wrap="square" lIns="0" tIns="0" rIns="0" bIns="0" rtlCol="0" anchor="ctr"/>
          <a:lstStyle/>
          <a:p>
            <a:pPr indent="0" marL="0">
              <a:buNone/>
            </a:pPr>
            <a:r>
              <a:rPr lang="en-US" sz="950" spc="100" kern="0" dirty="0" b="0">
                <a:solidFill>
                  <a:srgbClr val="6A6D75"/>
                </a:solidFill>
                <a:latin typeface="Geist Mono" pitchFamily="34" charset="0"/>
                <a:ea typeface="Geist Mono" pitchFamily="34" charset="-122"/>
                <a:cs typeface="Geist Mono" pitchFamily="34" charset="-120"/>
              </a:rPr>
              <a:t>v2026.1 · BONUS · THE AUTOMATION LAB</a:t>
            </a:r>
            <a:endParaRPr lang="en-US" sz="950" dirty="0"/>
          </a:p>
        </p:txBody>
      </p:sp>
      <p:sp>
        <p:nvSpPr>
          <p:cNvPr id="6" name="Text 4"/>
          <p:cNvSpPr/>
          <p:nvPr/>
        </p:nvSpPr>
        <p:spPr>
          <a:xfrm>
            <a:off x="8607247" y="6400800"/>
            <a:ext cx="2743200" cy="274320"/>
          </a:xfrm>
          <a:prstGeom prst="rect">
            <a:avLst/>
          </a:prstGeom>
          <a:noFill/>
          <a:ln/>
        </p:spPr>
        <p:txBody>
          <a:bodyPr wrap="square" lIns="0" tIns="0" rIns="0" bIns="0" rtlCol="0" anchor="ctr"/>
          <a:lstStyle/>
          <a:p>
            <a:pPr algn="r" indent="0" marL="0">
              <a:buNone/>
            </a:pPr>
            <a:pPr algn="r" indent="0" marL="0">
              <a:buNone/>
            </a:pPr>
            <a:r>
              <a:rPr lang="en-US" sz="1000" spc="100" kern="0" dirty="0" b="0">
                <a:solidFill>
                  <a:srgbClr val="F4F4F2"/>
                </a:solidFill>
                <a:latin typeface="Geist Mono" pitchFamily="34" charset="0"/>
                <a:ea typeface="Geist Mono" pitchFamily="34" charset="-122"/>
                <a:cs typeface="Geist Mono" pitchFamily="34" charset="-120"/>
              </a:rPr>
              <a:t>10</a:t>
            </a:r>
            <a:r>
              <a:rPr lang="en-US" sz="1000" spc="100" kern="0" dirty="0" b="0">
                <a:solidFill>
                  <a:srgbClr val="6A6D75"/>
                </a:solidFill>
                <a:latin typeface="Geist Mono" pitchFamily="34" charset="0"/>
                <a:ea typeface="Geist Mono" pitchFamily="34" charset="-122"/>
                <a:cs typeface="Geist Mono" pitchFamily="34" charset="-120"/>
              </a:rPr>
              <a:t xml:space="preserve"> / 18</a:t>
            </a:r>
            <a:endParaRPr lang="en-US" sz="1000" dirty="0"/>
          </a:p>
        </p:txBody>
      </p:sp>
      <p:sp>
        <p:nvSpPr>
          <p:cNvPr id="7" name="Text 5"/>
          <p:cNvSpPr/>
          <p:nvPr/>
        </p:nvSpPr>
        <p:spPr>
          <a:xfrm>
            <a:off x="841248" y="1371600"/>
            <a:ext cx="10509199" cy="310896"/>
          </a:xfrm>
          <a:prstGeom prst="rect">
            <a:avLst/>
          </a:prstGeom>
          <a:noFill/>
          <a:ln/>
        </p:spPr>
        <p:txBody>
          <a:bodyPr wrap="square" lIns="0" tIns="0" rIns="0" bIns="0" rtlCol="0" anchor="ctr"/>
          <a:lstStyle/>
          <a:p>
            <a:pPr indent="0" marL="0">
              <a:buNone/>
            </a:pPr>
            <a:pPr indent="0" marL="0">
              <a:buNone/>
            </a:pPr>
            <a:pPr indent="0" marL="0">
              <a:buNone/>
            </a:pPr>
            <a:r>
              <a:rPr lang="en-US" sz="1250" spc="200" kern="0" dirty="0" b="0">
                <a:solidFill>
                  <a:srgbClr val="9B9EA6"/>
                </a:solidFill>
                <a:latin typeface="Geist Mono" pitchFamily="34" charset="0"/>
                <a:ea typeface="Geist Mono" pitchFamily="34" charset="-122"/>
                <a:cs typeface="Geist Mono" pitchFamily="34" charset="-120"/>
              </a:rPr>
              <a:t>— 05.1</a:t>
            </a:r>
            <a:r>
              <a:rPr lang="en-US" sz="1250" spc="200" kern="0" dirty="0" b="0">
                <a:solidFill>
                  <a:srgbClr val="6A6D75"/>
                </a:solidFill>
                <a:latin typeface="Geist Mono" pitchFamily="34" charset="0"/>
                <a:ea typeface="Geist Mono" pitchFamily="34" charset="-122"/>
                <a:cs typeface="Geist Mono" pitchFamily="34" charset="-120"/>
              </a:rPr>
              <a:t xml:space="preserve">   /   </a:t>
            </a:r>
            <a:r>
              <a:rPr lang="en-US" sz="1250" spc="200" kern="0" dirty="0" b="0">
                <a:solidFill>
                  <a:srgbClr val="9B9EA6"/>
                </a:solidFill>
                <a:latin typeface="Geist Mono" pitchFamily="34" charset="0"/>
                <a:ea typeface="Geist Mono" pitchFamily="34" charset="-122"/>
                <a:cs typeface="Geist Mono" pitchFamily="34" charset="-120"/>
              </a:rPr>
              <a:t>HOW A RUN IS SCORED</a:t>
            </a:r>
            <a:endParaRPr lang="en-US" sz="1250" dirty="0"/>
          </a:p>
        </p:txBody>
      </p:sp>
      <p:sp>
        <p:nvSpPr>
          <p:cNvPr id="8" name="Text 6"/>
          <p:cNvSpPr/>
          <p:nvPr/>
        </p:nvSpPr>
        <p:spPr>
          <a:xfrm>
            <a:off x="841248" y="1828800"/>
            <a:ext cx="10509199" cy="1371600"/>
          </a:xfrm>
          <a:prstGeom prst="rect">
            <a:avLst/>
          </a:prstGeom>
          <a:noFill/>
          <a:ln/>
        </p:spPr>
        <p:txBody>
          <a:bodyPr wrap="square" lIns="0" tIns="0" rIns="0" bIns="0" rtlCol="0" anchor="t"/>
          <a:lstStyle/>
          <a:p>
            <a:pPr indent="0" marL="0">
              <a:lnSpc>
                <a:spcPct val="102000"/>
              </a:lnSpc>
              <a:buNone/>
            </a:pPr>
            <a:r>
              <a:rPr lang="en-US" sz="3800" b="1" dirty="0">
                <a:solidFill>
                  <a:srgbClr val="F4F4F2"/>
                </a:solidFill>
                <a:latin typeface="Geist" pitchFamily="34" charset="0"/>
                <a:ea typeface="Geist" pitchFamily="34" charset="-122"/>
                <a:cs typeface="Geist" pitchFamily="34" charset="-120"/>
              </a:rPr>
              <a:t>Five parameters, published before you start.</a:t>
            </a:r>
            <a:endParaRPr lang="en-US" sz="3800" dirty="0"/>
          </a:p>
        </p:txBody>
      </p:sp>
      <p:sp>
        <p:nvSpPr>
          <p:cNvPr id="9" name="Shape 7"/>
          <p:cNvSpPr/>
          <p:nvPr/>
        </p:nvSpPr>
        <p:spPr>
          <a:xfrm>
            <a:off x="841248" y="2788920"/>
            <a:ext cx="10509199" cy="0"/>
          </a:xfrm>
          <a:prstGeom prst="line">
            <a:avLst/>
          </a:prstGeom>
          <a:noFill/>
          <a:ln w="9525">
            <a:solidFill>
              <a:srgbClr val="2C2D34"/>
            </a:solidFill>
            <a:prstDash val="solid"/>
          </a:ln>
        </p:spPr>
      </p:sp>
      <p:sp>
        <p:nvSpPr>
          <p:cNvPr id="10" name="Text 8"/>
          <p:cNvSpPr/>
          <p:nvPr/>
        </p:nvSpPr>
        <p:spPr>
          <a:xfrm>
            <a:off x="841248" y="2907792"/>
            <a:ext cx="640080" cy="457200"/>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01</a:t>
            </a:r>
            <a:endParaRPr lang="en-US" sz="1250" dirty="0"/>
          </a:p>
        </p:txBody>
      </p:sp>
      <p:sp>
        <p:nvSpPr>
          <p:cNvPr id="11" name="Text 9"/>
          <p:cNvSpPr/>
          <p:nvPr/>
        </p:nvSpPr>
        <p:spPr>
          <a:xfrm>
            <a:off x="1554480" y="2889504"/>
            <a:ext cx="9795967" cy="493776"/>
          </a:xfrm>
          <a:prstGeom prst="rect">
            <a:avLst/>
          </a:prstGeom>
          <a:noFill/>
          <a:ln/>
        </p:spPr>
        <p:txBody>
          <a:bodyPr wrap="square" lIns="0" tIns="0" rIns="0" bIns="0" rtlCol="0" anchor="t"/>
          <a:lstStyle/>
          <a:p>
            <a:pPr indent="0" marL="0">
              <a:lnSpc>
                <a:spcPct val="112000"/>
              </a:lnSpc>
              <a:buNone/>
            </a:pPr>
            <a:pPr indent="0" marL="0">
              <a:lnSpc>
                <a:spcPct val="112000"/>
              </a:lnSpc>
              <a:buNone/>
            </a:pPr>
            <a:r>
              <a:rPr lang="en-US" sz="1550" b="1" dirty="0">
                <a:solidFill>
                  <a:srgbClr val="F4F4F2"/>
                </a:solidFill>
                <a:latin typeface="Geist" pitchFamily="34" charset="0"/>
                <a:ea typeface="Geist" pitchFamily="34" charset="-122"/>
                <a:cs typeface="Geist" pitchFamily="34" charset="-120"/>
              </a:rPr>
              <a:t>Accuracy</a:t>
            </a:r>
            <a:r>
              <a:rPr lang="en-US" sz="1550" dirty="0" b="0">
                <a:solidFill>
                  <a:srgbClr val="9B9EA6"/>
                </a:solidFill>
                <a:latin typeface="Geist" pitchFamily="34" charset="0"/>
                <a:ea typeface="Geist" pitchFamily="34" charset="-122"/>
                <a:cs typeface="Geist" pitchFamily="34" charset="-120"/>
              </a:rPr>
              <a:t xml:space="preserve"> — every field against what the document says.</a:t>
            </a:r>
            <a:endParaRPr lang="en-US" sz="1550" dirty="0"/>
          </a:p>
        </p:txBody>
      </p:sp>
      <p:sp>
        <p:nvSpPr>
          <p:cNvPr id="12" name="Shape 10"/>
          <p:cNvSpPr/>
          <p:nvPr/>
        </p:nvSpPr>
        <p:spPr>
          <a:xfrm>
            <a:off x="841248" y="3337560"/>
            <a:ext cx="10509199" cy="0"/>
          </a:xfrm>
          <a:prstGeom prst="line">
            <a:avLst/>
          </a:prstGeom>
          <a:noFill/>
          <a:ln w="9525">
            <a:solidFill>
              <a:srgbClr val="2C2D34"/>
            </a:solidFill>
            <a:prstDash val="solid"/>
          </a:ln>
        </p:spPr>
      </p:sp>
      <p:sp>
        <p:nvSpPr>
          <p:cNvPr id="13" name="Text 11"/>
          <p:cNvSpPr/>
          <p:nvPr/>
        </p:nvSpPr>
        <p:spPr>
          <a:xfrm>
            <a:off x="841248" y="3456432"/>
            <a:ext cx="640080" cy="457200"/>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02</a:t>
            </a:r>
            <a:endParaRPr lang="en-US" sz="1250" dirty="0"/>
          </a:p>
        </p:txBody>
      </p:sp>
      <p:sp>
        <p:nvSpPr>
          <p:cNvPr id="14" name="Text 12"/>
          <p:cNvSpPr/>
          <p:nvPr/>
        </p:nvSpPr>
        <p:spPr>
          <a:xfrm>
            <a:off x="1554480" y="3438144"/>
            <a:ext cx="9795967" cy="493776"/>
          </a:xfrm>
          <a:prstGeom prst="rect">
            <a:avLst/>
          </a:prstGeom>
          <a:noFill/>
          <a:ln/>
        </p:spPr>
        <p:txBody>
          <a:bodyPr wrap="square" lIns="0" tIns="0" rIns="0" bIns="0" rtlCol="0" anchor="t"/>
          <a:lstStyle/>
          <a:p>
            <a:pPr indent="0" marL="0">
              <a:lnSpc>
                <a:spcPct val="112000"/>
              </a:lnSpc>
              <a:buNone/>
            </a:pPr>
            <a:pPr indent="0" marL="0">
              <a:lnSpc>
                <a:spcPct val="112000"/>
              </a:lnSpc>
              <a:buNone/>
            </a:pPr>
            <a:r>
              <a:rPr lang="en-US" sz="1550" b="1" dirty="0">
                <a:solidFill>
                  <a:srgbClr val="F4F4F2"/>
                </a:solidFill>
                <a:latin typeface="Geist" pitchFamily="34" charset="0"/>
                <a:ea typeface="Geist" pitchFamily="34" charset="-122"/>
                <a:cs typeface="Geist" pitchFamily="34" charset="-120"/>
              </a:rPr>
              <a:t>Decisions</a:t>
            </a:r>
            <a:r>
              <a:rPr lang="en-US" sz="1550" dirty="0" b="0">
                <a:solidFill>
                  <a:srgbClr val="9B9EA6"/>
                </a:solidFill>
                <a:latin typeface="Geist" pitchFamily="34" charset="0"/>
                <a:ea typeface="Geist" pitchFamily="34" charset="-122"/>
                <a:cs typeface="Geist" pitchFamily="34" charset="-120"/>
              </a:rPr>
              <a:t xml:space="preserve"> — approve, reject, refuse, against the rules.</a:t>
            </a:r>
            <a:endParaRPr lang="en-US" sz="1550" dirty="0"/>
          </a:p>
        </p:txBody>
      </p:sp>
      <p:sp>
        <p:nvSpPr>
          <p:cNvPr id="15" name="Shape 13"/>
          <p:cNvSpPr/>
          <p:nvPr/>
        </p:nvSpPr>
        <p:spPr>
          <a:xfrm>
            <a:off x="841248" y="3886200"/>
            <a:ext cx="10509199" cy="0"/>
          </a:xfrm>
          <a:prstGeom prst="line">
            <a:avLst/>
          </a:prstGeom>
          <a:noFill/>
          <a:ln w="9525">
            <a:solidFill>
              <a:srgbClr val="2C2D34"/>
            </a:solidFill>
            <a:prstDash val="solid"/>
          </a:ln>
        </p:spPr>
      </p:sp>
      <p:sp>
        <p:nvSpPr>
          <p:cNvPr id="16" name="Text 14"/>
          <p:cNvSpPr/>
          <p:nvPr/>
        </p:nvSpPr>
        <p:spPr>
          <a:xfrm>
            <a:off x="841248" y="4005072"/>
            <a:ext cx="640080" cy="457200"/>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03</a:t>
            </a:r>
            <a:endParaRPr lang="en-US" sz="1250" dirty="0"/>
          </a:p>
        </p:txBody>
      </p:sp>
      <p:sp>
        <p:nvSpPr>
          <p:cNvPr id="17" name="Text 15"/>
          <p:cNvSpPr/>
          <p:nvPr/>
        </p:nvSpPr>
        <p:spPr>
          <a:xfrm>
            <a:off x="1554480" y="3986784"/>
            <a:ext cx="9795967" cy="493776"/>
          </a:xfrm>
          <a:prstGeom prst="rect">
            <a:avLst/>
          </a:prstGeom>
          <a:noFill/>
          <a:ln/>
        </p:spPr>
        <p:txBody>
          <a:bodyPr wrap="square" lIns="0" tIns="0" rIns="0" bIns="0" rtlCol="0" anchor="t"/>
          <a:lstStyle/>
          <a:p>
            <a:pPr indent="0" marL="0">
              <a:lnSpc>
                <a:spcPct val="112000"/>
              </a:lnSpc>
              <a:buNone/>
            </a:pPr>
            <a:pPr indent="0" marL="0">
              <a:lnSpc>
                <a:spcPct val="112000"/>
              </a:lnSpc>
              <a:buNone/>
            </a:pPr>
            <a:r>
              <a:rPr lang="en-US" sz="1550" b="1" dirty="0">
                <a:solidFill>
                  <a:srgbClr val="F4F4F2"/>
                </a:solidFill>
                <a:latin typeface="Geist" pitchFamily="34" charset="0"/>
                <a:ea typeface="Geist" pitchFamily="34" charset="-122"/>
                <a:cs typeface="Geist" pitchFamily="34" charset="-120"/>
              </a:rPr>
              <a:t>Exceptions</a:t>
            </a:r>
            <a:r>
              <a:rPr lang="en-US" sz="1550" dirty="0" b="0">
                <a:solidFill>
                  <a:srgbClr val="9B9EA6"/>
                </a:solidFill>
                <a:latin typeface="Geist" pitchFamily="34" charset="0"/>
                <a:ea typeface="Geist" pitchFamily="34" charset="-122"/>
                <a:cs typeface="Geist" pitchFamily="34" charset="-120"/>
              </a:rPr>
              <a:t xml:space="preserve"> — defects caught, minus the ones invented.</a:t>
            </a:r>
            <a:endParaRPr lang="en-US" sz="1550" dirty="0"/>
          </a:p>
        </p:txBody>
      </p:sp>
      <p:sp>
        <p:nvSpPr>
          <p:cNvPr id="18" name="Shape 16"/>
          <p:cNvSpPr/>
          <p:nvPr/>
        </p:nvSpPr>
        <p:spPr>
          <a:xfrm>
            <a:off x="841248" y="4434840"/>
            <a:ext cx="10509199" cy="0"/>
          </a:xfrm>
          <a:prstGeom prst="line">
            <a:avLst/>
          </a:prstGeom>
          <a:noFill/>
          <a:ln w="9525">
            <a:solidFill>
              <a:srgbClr val="2C2D34"/>
            </a:solidFill>
            <a:prstDash val="solid"/>
          </a:ln>
        </p:spPr>
      </p:sp>
      <p:sp>
        <p:nvSpPr>
          <p:cNvPr id="19" name="Text 17"/>
          <p:cNvSpPr/>
          <p:nvPr/>
        </p:nvSpPr>
        <p:spPr>
          <a:xfrm>
            <a:off x="841248" y="4553712"/>
            <a:ext cx="640080" cy="457200"/>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04</a:t>
            </a:r>
            <a:endParaRPr lang="en-US" sz="1250" dirty="0"/>
          </a:p>
        </p:txBody>
      </p:sp>
      <p:sp>
        <p:nvSpPr>
          <p:cNvPr id="20" name="Text 18"/>
          <p:cNvSpPr/>
          <p:nvPr/>
        </p:nvSpPr>
        <p:spPr>
          <a:xfrm>
            <a:off x="1554480" y="4535424"/>
            <a:ext cx="9795967" cy="493776"/>
          </a:xfrm>
          <a:prstGeom prst="rect">
            <a:avLst/>
          </a:prstGeom>
          <a:noFill/>
          <a:ln/>
        </p:spPr>
        <p:txBody>
          <a:bodyPr wrap="square" lIns="0" tIns="0" rIns="0" bIns="0" rtlCol="0" anchor="t"/>
          <a:lstStyle/>
          <a:p>
            <a:pPr indent="0" marL="0">
              <a:lnSpc>
                <a:spcPct val="112000"/>
              </a:lnSpc>
              <a:buNone/>
            </a:pPr>
            <a:pPr indent="0" marL="0">
              <a:lnSpc>
                <a:spcPct val="112000"/>
              </a:lnSpc>
              <a:buNone/>
            </a:pPr>
            <a:r>
              <a:rPr lang="en-US" sz="1550" b="1" dirty="0">
                <a:solidFill>
                  <a:srgbClr val="F4F4F2"/>
                </a:solidFill>
                <a:latin typeface="Geist" pitchFamily="34" charset="0"/>
                <a:ea typeface="Geist" pitchFamily="34" charset="-122"/>
                <a:cs typeface="Geist" pitchFamily="34" charset="-120"/>
              </a:rPr>
              <a:t>Coverage</a:t>
            </a:r>
            <a:r>
              <a:rPr lang="en-US" sz="1550" dirty="0" b="0">
                <a:solidFill>
                  <a:srgbClr val="9B9EA6"/>
                </a:solidFill>
                <a:latin typeface="Geist" pitchFamily="34" charset="0"/>
                <a:ea typeface="Geist" pitchFamily="34" charset="-122"/>
                <a:cs typeface="Geist" pitchFamily="34" charset="-120"/>
              </a:rPr>
              <a:t xml:space="preserve"> — how much you finished before the clock stopped.</a:t>
            </a:r>
            <a:endParaRPr lang="en-US" sz="1550" dirty="0"/>
          </a:p>
        </p:txBody>
      </p:sp>
      <p:sp>
        <p:nvSpPr>
          <p:cNvPr id="21" name="Shape 19"/>
          <p:cNvSpPr/>
          <p:nvPr/>
        </p:nvSpPr>
        <p:spPr>
          <a:xfrm>
            <a:off x="841248" y="4983480"/>
            <a:ext cx="10509199" cy="0"/>
          </a:xfrm>
          <a:prstGeom prst="line">
            <a:avLst/>
          </a:prstGeom>
          <a:noFill/>
          <a:ln w="9525">
            <a:solidFill>
              <a:srgbClr val="2C2D34"/>
            </a:solidFill>
            <a:prstDash val="solid"/>
          </a:ln>
        </p:spPr>
      </p:sp>
      <p:sp>
        <p:nvSpPr>
          <p:cNvPr id="22" name="Text 20"/>
          <p:cNvSpPr/>
          <p:nvPr/>
        </p:nvSpPr>
        <p:spPr>
          <a:xfrm>
            <a:off x="841248" y="5102352"/>
            <a:ext cx="640080" cy="457200"/>
          </a:xfrm>
          <a:prstGeom prst="rect">
            <a:avLst/>
          </a:prstGeom>
          <a:noFill/>
          <a:ln/>
        </p:spPr>
        <p:txBody>
          <a:bodyPr wrap="square" lIns="0" tIns="0" rIns="0" bIns="0" rtlCol="0" anchor="t"/>
          <a:lstStyle/>
          <a:p>
            <a:pPr indent="0" marL="0">
              <a:buNone/>
            </a:pPr>
            <a:r>
              <a:rPr lang="en-US" sz="1250" dirty="0" b="0">
                <a:solidFill>
                  <a:srgbClr val="E8B84B"/>
                </a:solidFill>
                <a:latin typeface="Geist Mono" pitchFamily="34" charset="0"/>
                <a:ea typeface="Geist Mono" pitchFamily="34" charset="-122"/>
                <a:cs typeface="Geist Mono" pitchFamily="34" charset="-120"/>
              </a:rPr>
              <a:t>05</a:t>
            </a:r>
            <a:endParaRPr lang="en-US" sz="1250" dirty="0"/>
          </a:p>
        </p:txBody>
      </p:sp>
      <p:sp>
        <p:nvSpPr>
          <p:cNvPr id="23" name="Text 21"/>
          <p:cNvSpPr/>
          <p:nvPr/>
        </p:nvSpPr>
        <p:spPr>
          <a:xfrm>
            <a:off x="1554480" y="5084064"/>
            <a:ext cx="9795967" cy="493776"/>
          </a:xfrm>
          <a:prstGeom prst="rect">
            <a:avLst/>
          </a:prstGeom>
          <a:noFill/>
          <a:ln/>
        </p:spPr>
        <p:txBody>
          <a:bodyPr wrap="square" lIns="0" tIns="0" rIns="0" bIns="0" rtlCol="0" anchor="t"/>
          <a:lstStyle/>
          <a:p>
            <a:pPr indent="0" marL="0">
              <a:lnSpc>
                <a:spcPct val="112000"/>
              </a:lnSpc>
              <a:buNone/>
            </a:pPr>
            <a:pPr indent="0" marL="0">
              <a:lnSpc>
                <a:spcPct val="112000"/>
              </a:lnSpc>
              <a:buNone/>
            </a:pPr>
            <a:r>
              <a:rPr lang="en-US" sz="1550" b="1" dirty="0">
                <a:solidFill>
                  <a:srgbClr val="F4F4F2"/>
                </a:solidFill>
                <a:latin typeface="Geist" pitchFamily="34" charset="0"/>
                <a:ea typeface="Geist" pitchFamily="34" charset="-122"/>
                <a:cs typeface="Geist" pitchFamily="34" charset="-120"/>
              </a:rPr>
              <a:t>Time</a:t>
            </a:r>
            <a:r>
              <a:rPr lang="en-US" sz="1550" dirty="0" b="0">
                <a:solidFill>
                  <a:srgbClr val="9B9EA6"/>
                </a:solidFill>
                <a:latin typeface="Geist" pitchFamily="34" charset="0"/>
                <a:ea typeface="Geist" pitchFamily="34" charset="-122"/>
                <a:cs typeface="Geist" pitchFamily="34" charset="-120"/>
              </a:rPr>
              <a:t xml:space="preserve"> — wall clock against a competent baseline.</a:t>
            </a:r>
            <a:endParaRPr lang="en-US" sz="1550" dirty="0"/>
          </a:p>
        </p:txBody>
      </p:sp>
      <p:sp>
        <p:nvSpPr>
          <p:cNvPr id="24" name="Shape 22"/>
          <p:cNvSpPr/>
          <p:nvPr/>
        </p:nvSpPr>
        <p:spPr>
          <a:xfrm>
            <a:off x="841248" y="5532120"/>
            <a:ext cx="10509199" cy="0"/>
          </a:xfrm>
          <a:prstGeom prst="line">
            <a:avLst/>
          </a:prstGeom>
          <a:noFill/>
          <a:ln w="9525">
            <a:solidFill>
              <a:srgbClr val="2C2D34"/>
            </a:solidFill>
            <a:prstDash val="soli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7450480" cy="41148"/>
          </a:xfrm>
          <a:prstGeom prst="rect">
            <a:avLst/>
          </a:prstGeom>
          <a:solidFill>
            <a:srgbClr val="E8B84B"/>
          </a:solidFill>
          <a:ln/>
        </p:spPr>
      </p:sp>
      <p:sp>
        <p:nvSpPr>
          <p:cNvPr id="3" name="Text 1"/>
          <p:cNvSpPr/>
          <p:nvPr/>
        </p:nvSpPr>
        <p:spPr>
          <a:xfrm>
            <a:off x="841248" y="274320"/>
            <a:ext cx="5486400" cy="310896"/>
          </a:xfrm>
          <a:prstGeom prst="rect">
            <a:avLst/>
          </a:prstGeom>
          <a:noFill/>
          <a:ln/>
        </p:spPr>
        <p:txBody>
          <a:bodyPr wrap="square" lIns="0" tIns="0" rIns="0" bIns="0" rtlCol="0" anchor="ctr"/>
          <a:lstStyle/>
          <a:p>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F4F4F2"/>
                </a:solidFill>
                <a:latin typeface="Geist Mono" pitchFamily="34" charset="0"/>
                <a:ea typeface="Geist Mono" pitchFamily="34" charset="-122"/>
                <a:cs typeface="Geist Mono" pitchFamily="34" charset="-120"/>
              </a:rPr>
              <a:t>MS</a:t>
            </a:r>
            <a:pPr indent="0" marL="0">
              <a:buNone/>
            </a:pPr>
            <a:r>
              <a:rPr lang="en-US" sz="1100" b="1" spc="200" kern="0" dirty="0">
                <a:solidFill>
                  <a:srgbClr val="E8B84B"/>
                </a:solidFill>
                <a:latin typeface="Geist Mono" pitchFamily="34" charset="0"/>
                <a:ea typeface="Geist Mono" pitchFamily="34" charset="-122"/>
                <a:cs typeface="Geist Mono" pitchFamily="34" charset="-120"/>
              </a:rPr>
              <a:t>]</a:t>
            </a:r>
            <a:pPr indent="0" marL="0">
              <a:buNone/>
            </a:pPr>
            <a:r>
              <a:rPr lang="en-US" sz="1100" b="1" spc="200" kern="0" dirty="0">
                <a:solidFill>
                  <a:srgbClr val="6A6D75"/>
                </a:solidFill>
                <a:latin typeface="Geist Mono" pitchFamily="34" charset="0"/>
                <a:ea typeface="Geist Mono" pitchFamily="34" charset="-122"/>
                <a:cs typeface="Geist Mono" pitchFamily="34" charset="-120"/>
              </a:rPr>
              <a:t>  DU MENTORING</a:t>
            </a:r>
            <a:endParaRPr lang="en-US" sz="1100" dirty="0"/>
          </a:p>
        </p:txBody>
      </p:sp>
      <p:sp>
        <p:nvSpPr>
          <p:cNvPr id="4" name="Text 2"/>
          <p:cNvSpPr/>
          <p:nvPr/>
        </p:nvSpPr>
        <p:spPr>
          <a:xfrm>
            <a:off x="5864047" y="274320"/>
            <a:ext cx="5486400" cy="310896"/>
          </a:xfrm>
          <a:prstGeom prst="rect">
            <a:avLst/>
          </a:prstGeom>
          <a:noFill/>
          <a:ln/>
        </p:spPr>
        <p:txBody>
          <a:bodyPr wrap="square" lIns="0" tIns="0" rIns="0" bIns="0" rtlCol="0" anchor="ctr"/>
          <a:lstStyle/>
          <a:p>
            <a:pPr algn="r" indent="0" marL="0">
              <a:buNone/>
            </a:pPr>
            <a:r>
              <a:rPr lang="en-US" sz="1000" spc="150" kern="0" dirty="0" b="0">
                <a:solidFill>
                  <a:srgbClr val="6A6D75"/>
                </a:solidFill>
                <a:latin typeface="Geist Mono" pitchFamily="34" charset="0"/>
                <a:ea typeface="Geist Mono" pitchFamily="34" charset="-122"/>
                <a:cs typeface="Geist Mono" pitchFamily="34" charset="-120"/>
              </a:rPr>
              <a:t>BONUS / PRACTICE LAB · AUTOMATION LAB</a:t>
            </a:r>
            <a:endParaRPr lang="en-US" sz="1000" dirty="0"/>
          </a:p>
        </p:txBody>
      </p:sp>
      <p:sp>
        <p:nvSpPr>
          <p:cNvPr id="5" name="Text 3"/>
          <p:cNvSpPr/>
          <p:nvPr/>
        </p:nvSpPr>
        <p:spPr>
          <a:xfrm>
            <a:off x="841248" y="6400800"/>
            <a:ext cx="7315200" cy="274320"/>
          </a:xfrm>
          <a:prstGeom prst="rect">
            <a:avLst/>
          </a:prstGeom>
          <a:noFill/>
          <a:ln/>
        </p:spPr>
        <p:txBody>
          <a:bodyPr wrap="square" lIns="0" tIns="0" rIns="0" bIns="0" rtlCol="0" anchor="ctr"/>
          <a:lstStyle/>
          <a:p>
            <a:pPr indent="0" marL="0">
              <a:buNone/>
            </a:pPr>
            <a:r>
              <a:rPr lang="en-US" sz="950" spc="100" kern="0" dirty="0" b="0">
                <a:solidFill>
                  <a:srgbClr val="6A6D75"/>
                </a:solidFill>
                <a:latin typeface="Geist Mono" pitchFamily="34" charset="0"/>
                <a:ea typeface="Geist Mono" pitchFamily="34" charset="-122"/>
                <a:cs typeface="Geist Mono" pitchFamily="34" charset="-120"/>
              </a:rPr>
              <a:t>v2026.1 · BONUS · THE AUTOMATION LAB</a:t>
            </a:r>
            <a:endParaRPr lang="en-US" sz="950" dirty="0"/>
          </a:p>
        </p:txBody>
      </p:sp>
      <p:sp>
        <p:nvSpPr>
          <p:cNvPr id="6" name="Text 4"/>
          <p:cNvSpPr/>
          <p:nvPr/>
        </p:nvSpPr>
        <p:spPr>
          <a:xfrm>
            <a:off x="8607247" y="6400800"/>
            <a:ext cx="2743200" cy="274320"/>
          </a:xfrm>
          <a:prstGeom prst="rect">
            <a:avLst/>
          </a:prstGeom>
          <a:noFill/>
          <a:ln/>
        </p:spPr>
        <p:txBody>
          <a:bodyPr wrap="square" lIns="0" tIns="0" rIns="0" bIns="0" rtlCol="0" anchor="ctr"/>
          <a:lstStyle/>
          <a:p>
            <a:pPr algn="r" indent="0" marL="0">
              <a:buNone/>
            </a:pPr>
            <a:pPr algn="r" indent="0" marL="0">
              <a:buNone/>
            </a:pPr>
            <a:r>
              <a:rPr lang="en-US" sz="1000" spc="100" kern="0" dirty="0" b="0">
                <a:solidFill>
                  <a:srgbClr val="F4F4F2"/>
                </a:solidFill>
                <a:latin typeface="Geist Mono" pitchFamily="34" charset="0"/>
                <a:ea typeface="Geist Mono" pitchFamily="34" charset="-122"/>
                <a:cs typeface="Geist Mono" pitchFamily="34" charset="-120"/>
              </a:rPr>
              <a:t>11</a:t>
            </a:r>
            <a:r>
              <a:rPr lang="en-US" sz="1000" spc="100" kern="0" dirty="0" b="0">
                <a:solidFill>
                  <a:srgbClr val="6A6D75"/>
                </a:solidFill>
                <a:latin typeface="Geist Mono" pitchFamily="34" charset="0"/>
                <a:ea typeface="Geist Mono" pitchFamily="34" charset="-122"/>
                <a:cs typeface="Geist Mono" pitchFamily="34" charset="-120"/>
              </a:rPr>
              <a:t xml:space="preserve"> / 18</a:t>
            </a:r>
            <a:endParaRPr lang="en-US" sz="1000" dirty="0"/>
          </a:p>
        </p:txBody>
      </p:sp>
      <p:sp>
        <p:nvSpPr>
          <p:cNvPr id="7" name="Text 5"/>
          <p:cNvSpPr/>
          <p:nvPr/>
        </p:nvSpPr>
        <p:spPr>
          <a:xfrm>
            <a:off x="841248" y="1371600"/>
            <a:ext cx="10509199" cy="310896"/>
          </a:xfrm>
          <a:prstGeom prst="rect">
            <a:avLst/>
          </a:prstGeom>
          <a:noFill/>
          <a:ln/>
        </p:spPr>
        <p:txBody>
          <a:bodyPr wrap="square" lIns="0" tIns="0" rIns="0" bIns="0" rtlCol="0" anchor="ctr"/>
          <a:lstStyle/>
          <a:p>
            <a:pPr indent="0" marL="0">
              <a:buNone/>
            </a:pPr>
            <a:pPr indent="0" marL="0">
              <a:buNone/>
            </a:pPr>
            <a:pPr indent="0" marL="0">
              <a:buNone/>
            </a:pPr>
            <a:r>
              <a:rPr lang="en-US" sz="1250" spc="200" kern="0" dirty="0" b="0">
                <a:solidFill>
                  <a:srgbClr val="9B9EA6"/>
                </a:solidFill>
                <a:latin typeface="Geist Mono" pitchFamily="34" charset="0"/>
                <a:ea typeface="Geist Mono" pitchFamily="34" charset="-122"/>
                <a:cs typeface="Geist Mono" pitchFamily="34" charset="-120"/>
              </a:rPr>
              <a:t>— 05.2</a:t>
            </a:r>
            <a:r>
              <a:rPr lang="en-US" sz="1250" spc="200" kern="0" dirty="0" b="0">
                <a:solidFill>
                  <a:srgbClr val="6A6D75"/>
                </a:solidFill>
                <a:latin typeface="Geist Mono" pitchFamily="34" charset="0"/>
                <a:ea typeface="Geist Mono" pitchFamily="34" charset="-122"/>
                <a:cs typeface="Geist Mono" pitchFamily="34" charset="-120"/>
              </a:rPr>
              <a:t xml:space="preserve">   /   </a:t>
            </a:r>
            <a:r>
              <a:rPr lang="en-US" sz="1250" spc="200" kern="0" dirty="0" b="0">
                <a:solidFill>
                  <a:srgbClr val="9B9EA6"/>
                </a:solidFill>
                <a:latin typeface="Geist Mono" pitchFamily="34" charset="0"/>
                <a:ea typeface="Geist Mono" pitchFamily="34" charset="-122"/>
                <a:cs typeface="Geist Mono" pitchFamily="34" charset="-120"/>
              </a:rPr>
              <a:t>TWO MODES</a:t>
            </a:r>
            <a:endParaRPr lang="en-US" sz="1250" dirty="0"/>
          </a:p>
        </p:txBody>
      </p:sp>
      <p:sp>
        <p:nvSpPr>
          <p:cNvPr id="8" name="Shape 6"/>
          <p:cNvSpPr/>
          <p:nvPr/>
        </p:nvSpPr>
        <p:spPr>
          <a:xfrm>
            <a:off x="841248" y="2011680"/>
            <a:ext cx="5163160" cy="3383280"/>
          </a:xfrm>
          <a:prstGeom prst="roundRect">
            <a:avLst>
              <a:gd name="adj" fmla="val 1351"/>
            </a:avLst>
          </a:prstGeom>
          <a:solidFill>
            <a:srgbClr val="101116"/>
          </a:solidFill>
          <a:ln w="9525">
            <a:solidFill>
              <a:srgbClr val="2C2D34"/>
            </a:solidFill>
            <a:prstDash val="solid"/>
          </a:ln>
        </p:spPr>
      </p:sp>
      <p:sp>
        <p:nvSpPr>
          <p:cNvPr id="9" name="Text 7"/>
          <p:cNvSpPr/>
          <p:nvPr/>
        </p:nvSpPr>
        <p:spPr>
          <a:xfrm>
            <a:off x="1152144" y="2286000"/>
            <a:ext cx="4614520" cy="274320"/>
          </a:xfrm>
          <a:prstGeom prst="rect">
            <a:avLst/>
          </a:prstGeom>
          <a:noFill/>
          <a:ln/>
        </p:spPr>
        <p:txBody>
          <a:bodyPr wrap="square" lIns="0" tIns="0" rIns="0" bIns="0" rtlCol="0" anchor="ctr"/>
          <a:lstStyle/>
          <a:p>
            <a:pPr indent="0" marL="0">
              <a:buNone/>
            </a:pPr>
            <a:r>
              <a:rPr lang="en-US" sz="1100" spc="150" kern="0" dirty="0" b="0">
                <a:solidFill>
                  <a:srgbClr val="6A6D75"/>
                </a:solidFill>
                <a:latin typeface="Geist Mono" pitchFamily="34" charset="0"/>
                <a:ea typeface="Geist Mono" pitchFamily="34" charset="-122"/>
                <a:cs typeface="Geist Mono" pitchFamily="34" charset="-120"/>
              </a:rPr>
              <a:t>— PRACTICE</a:t>
            </a:r>
            <a:endParaRPr lang="en-US" sz="1100" dirty="0"/>
          </a:p>
        </p:txBody>
      </p:sp>
      <p:sp>
        <p:nvSpPr>
          <p:cNvPr id="10" name="Text 8"/>
          <p:cNvSpPr/>
          <p:nvPr/>
        </p:nvSpPr>
        <p:spPr>
          <a:xfrm>
            <a:off x="1152144" y="2578608"/>
            <a:ext cx="4614520" cy="457200"/>
          </a:xfrm>
          <a:prstGeom prst="rect">
            <a:avLst/>
          </a:prstGeom>
          <a:noFill/>
          <a:ln/>
        </p:spPr>
        <p:txBody>
          <a:bodyPr wrap="square" lIns="0" tIns="0" rIns="0" bIns="0" rtlCol="0" anchor="ctr"/>
          <a:lstStyle/>
          <a:p>
            <a:pPr indent="0" marL="0">
              <a:buNone/>
            </a:pPr>
            <a:r>
              <a:rPr lang="en-US" sz="2300" b="1" dirty="0">
                <a:solidFill>
                  <a:srgbClr val="F4F4F2"/>
                </a:solidFill>
                <a:latin typeface="Geist" pitchFamily="34" charset="0"/>
                <a:ea typeface="Geist" pitchFamily="34" charset="-122"/>
                <a:cs typeface="Geist" pitchFamily="34" charset="-120"/>
              </a:rPr>
              <a:t>Tells you as you go</a:t>
            </a:r>
            <a:endParaRPr lang="en-US" sz="2300" dirty="0"/>
          </a:p>
        </p:txBody>
      </p:sp>
      <p:sp>
        <p:nvSpPr>
          <p:cNvPr id="11" name="Text 9"/>
          <p:cNvSpPr/>
          <p:nvPr/>
        </p:nvSpPr>
        <p:spPr>
          <a:xfrm>
            <a:off x="1152144" y="3090672"/>
            <a:ext cx="4596232" cy="2148840"/>
          </a:xfrm>
          <a:prstGeom prst="rect">
            <a:avLst/>
          </a:prstGeom>
          <a:noFill/>
          <a:ln/>
        </p:spPr>
        <p:txBody>
          <a:bodyPr wrap="square" lIns="0" tIns="0" rIns="0" bIns="0" rtlCol="0" anchor="t"/>
          <a:lstStyle/>
          <a:p>
            <a:pPr marL="342900" indent="-342900">
              <a:spcAft>
                <a:spcPts val="700"/>
              </a:spcAft>
              <a:buSzPct val="100000"/>
              <a:buChar char="›"/>
            </a:pPr>
            <a:r>
              <a:rPr lang="en-US" sz="1350" dirty="0" b="0">
                <a:solidFill>
                  <a:srgbClr val="9B9EA6"/>
                </a:solidFill>
                <a:latin typeface="Geist" pitchFamily="34" charset="0"/>
                <a:ea typeface="Geist" pitchFamily="34" charset="-122"/>
                <a:cs typeface="Geist" pitchFamily="34" charset="-120"/>
              </a:rPr>
              <a:t>One item at a time, as often as you like</a:t>
            </a:r>
            <a:endParaRPr lang="en-US" sz="1350" dirty="0"/>
          </a:p>
          <a:p>
            <a:pPr marL="342900" indent="-342900">
              <a:spcAft>
                <a:spcPts val="700"/>
              </a:spcAft>
              <a:buSzPct val="100000"/>
              <a:buChar char="›"/>
            </a:pPr>
            <a:r>
              <a:rPr lang="en-US" sz="1350" dirty="0" b="0">
                <a:solidFill>
                  <a:srgbClr val="9B9EA6"/>
                </a:solidFill>
                <a:latin typeface="Geist" pitchFamily="34" charset="0"/>
                <a:ea typeface="Geist" pitchFamily="34" charset="-122"/>
                <a:cs typeface="Geist" pitchFamily="34" charset="-120"/>
              </a:rPr>
              <a:t>The match result is shown as you work</a:t>
            </a:r>
            <a:endParaRPr lang="en-US" sz="1350" dirty="0"/>
          </a:p>
          <a:p>
            <a:pPr marL="342900" indent="-342900">
              <a:spcAft>
                <a:spcPts val="700"/>
              </a:spcAft>
              <a:buSzPct val="100000"/>
              <a:buChar char="›"/>
            </a:pPr>
            <a:r>
              <a:rPr lang="en-US" sz="1350" dirty="0" b="0">
                <a:solidFill>
                  <a:srgbClr val="9B9EA6"/>
                </a:solidFill>
                <a:latin typeface="Geist" pitchFamily="34" charset="0"/>
                <a:ea typeface="Geist" pitchFamily="34" charset="-122"/>
                <a:cs typeface="Geist" pitchFamily="34" charset="-120"/>
              </a:rPr>
              <a:t>Wrong answers explained on the spot</a:t>
            </a:r>
            <a:endParaRPr lang="en-US" sz="1350" dirty="0"/>
          </a:p>
          <a:p>
            <a:pPr marL="342900" indent="-342900">
              <a:spcAft>
                <a:spcPts val="700"/>
              </a:spcAft>
              <a:buSzPct val="100000"/>
              <a:buChar char="›"/>
            </a:pPr>
            <a:r>
              <a:rPr lang="en-US" sz="1350" dirty="0" b="0">
                <a:solidFill>
                  <a:srgbClr val="9B9EA6"/>
                </a:solidFill>
                <a:latin typeface="Geist" pitchFamily="34" charset="0"/>
                <a:ea typeface="Geist" pitchFamily="34" charset="-122"/>
                <a:cs typeface="Geist" pitchFamily="34" charset="-120"/>
              </a:rPr>
              <a:t>Kept in your history, off the board</a:t>
            </a:r>
            <a:endParaRPr lang="en-US" sz="1350" dirty="0"/>
          </a:p>
          <a:p>
            <a:pPr marL="342900" indent="-342900">
              <a:spcAft>
                <a:spcPts val="700"/>
              </a:spcAft>
              <a:buSzPct val="100000"/>
              <a:buChar char="›"/>
            </a:pPr>
            <a:r>
              <a:rPr lang="en-US" sz="1350" dirty="0" b="0">
                <a:solidFill>
                  <a:srgbClr val="9B9EA6"/>
                </a:solidFill>
                <a:latin typeface="Geist" pitchFamily="34" charset="0"/>
                <a:ea typeface="Geist" pitchFamily="34" charset="-122"/>
                <a:cs typeface="Geist" pitchFamily="34" charset="-120"/>
              </a:rPr>
              <a:t>This is where you learn</a:t>
            </a:r>
            <a:endParaRPr lang="en-US" sz="1350" dirty="0"/>
          </a:p>
        </p:txBody>
      </p:sp>
      <p:sp>
        <p:nvSpPr>
          <p:cNvPr id="12" name="Shape 10"/>
          <p:cNvSpPr/>
          <p:nvPr/>
        </p:nvSpPr>
        <p:spPr>
          <a:xfrm>
            <a:off x="6187288" y="2011680"/>
            <a:ext cx="5163160" cy="3383280"/>
          </a:xfrm>
          <a:prstGeom prst="roundRect">
            <a:avLst>
              <a:gd name="adj" fmla="val 1351"/>
            </a:avLst>
          </a:prstGeom>
          <a:solidFill>
            <a:srgbClr val="16171D"/>
          </a:solidFill>
          <a:ln w="12700">
            <a:solidFill>
              <a:srgbClr val="E8B84B"/>
            </a:solidFill>
            <a:prstDash val="solid"/>
          </a:ln>
        </p:spPr>
      </p:sp>
      <p:sp>
        <p:nvSpPr>
          <p:cNvPr id="13" name="Text 11"/>
          <p:cNvSpPr/>
          <p:nvPr/>
        </p:nvSpPr>
        <p:spPr>
          <a:xfrm>
            <a:off x="6498184" y="2286000"/>
            <a:ext cx="4614520" cy="274320"/>
          </a:xfrm>
          <a:prstGeom prst="rect">
            <a:avLst/>
          </a:prstGeom>
          <a:noFill/>
          <a:ln/>
        </p:spPr>
        <p:txBody>
          <a:bodyPr wrap="square" lIns="0" tIns="0" rIns="0" bIns="0" rtlCol="0" anchor="ctr"/>
          <a:lstStyle/>
          <a:p>
            <a:pPr indent="0" marL="0">
              <a:buNone/>
            </a:pPr>
            <a:r>
              <a:rPr lang="en-US" sz="1100" spc="150" kern="0" dirty="0" b="0">
                <a:solidFill>
                  <a:srgbClr val="E8B84B"/>
                </a:solidFill>
                <a:latin typeface="Geist Mono" pitchFamily="34" charset="0"/>
                <a:ea typeface="Geist Mono" pitchFamily="34" charset="-122"/>
                <a:cs typeface="Geist Mono" pitchFamily="34" charset="-120"/>
              </a:rPr>
              <a:t>— SCORED</a:t>
            </a:r>
            <a:endParaRPr lang="en-US" sz="1100" dirty="0"/>
          </a:p>
        </p:txBody>
      </p:sp>
      <p:sp>
        <p:nvSpPr>
          <p:cNvPr id="14" name="Text 12"/>
          <p:cNvSpPr/>
          <p:nvPr/>
        </p:nvSpPr>
        <p:spPr>
          <a:xfrm>
            <a:off x="6498184" y="2578608"/>
            <a:ext cx="4614520" cy="457200"/>
          </a:xfrm>
          <a:prstGeom prst="rect">
            <a:avLst/>
          </a:prstGeom>
          <a:noFill/>
          <a:ln/>
        </p:spPr>
        <p:txBody>
          <a:bodyPr wrap="square" lIns="0" tIns="0" rIns="0" bIns="0" rtlCol="0" anchor="ctr"/>
          <a:lstStyle/>
          <a:p>
            <a:pPr indent="0" marL="0">
              <a:buNone/>
            </a:pPr>
            <a:r>
              <a:rPr lang="en-US" sz="2300" b="1" dirty="0">
                <a:solidFill>
                  <a:srgbClr val="F4F4F2"/>
                </a:solidFill>
                <a:latin typeface="Geist" pitchFamily="34" charset="0"/>
                <a:ea typeface="Geist" pitchFamily="34" charset="-122"/>
                <a:cs typeface="Geist" pitchFamily="34" charset="-120"/>
              </a:rPr>
              <a:t>Tells you at the end</a:t>
            </a:r>
            <a:endParaRPr lang="en-US" sz="2300" dirty="0"/>
          </a:p>
        </p:txBody>
      </p:sp>
      <p:sp>
        <p:nvSpPr>
          <p:cNvPr id="15" name="Text 13"/>
          <p:cNvSpPr/>
          <p:nvPr/>
        </p:nvSpPr>
        <p:spPr>
          <a:xfrm>
            <a:off x="6498184" y="3090672"/>
            <a:ext cx="4596232" cy="2148840"/>
          </a:xfrm>
          <a:prstGeom prst="rect">
            <a:avLst/>
          </a:prstGeom>
          <a:noFill/>
          <a:ln/>
        </p:spPr>
        <p:txBody>
          <a:bodyPr wrap="square" lIns="0" tIns="0" rIns="0" bIns="0" rtlCol="0" anchor="t"/>
          <a:lstStyle/>
          <a:p>
            <a:pPr marL="342900" indent="-342900">
              <a:spcAft>
                <a:spcPts val="700"/>
              </a:spcAft>
              <a:buSzPct val="100000"/>
              <a:buChar char="›"/>
            </a:pPr>
            <a:r>
              <a:rPr lang="en-US" sz="1350" dirty="0" b="0">
                <a:solidFill>
                  <a:srgbClr val="9B9EA6"/>
                </a:solidFill>
                <a:latin typeface="Geist" pitchFamily="34" charset="0"/>
                <a:ea typeface="Geist" pitchFamily="34" charset="-122"/>
                <a:cs typeface="Geist" pitchFamily="34" charset="-120"/>
              </a:rPr>
              <a:t>The whole set, one run at a time</a:t>
            </a:r>
            <a:endParaRPr lang="en-US" sz="1350" dirty="0"/>
          </a:p>
          <a:p>
            <a:pPr marL="342900" indent="-342900">
              <a:spcAft>
                <a:spcPts val="700"/>
              </a:spcAft>
              <a:buSzPct val="100000"/>
              <a:buChar char="›"/>
            </a:pPr>
            <a:r>
              <a:rPr lang="en-US" sz="1350" dirty="0" b="0">
                <a:solidFill>
                  <a:srgbClr val="9B9EA6"/>
                </a:solidFill>
                <a:latin typeface="Geist" pitchFamily="34" charset="0"/>
                <a:ea typeface="Geist" pitchFamily="34" charset="-122"/>
                <a:cs typeface="Geist" pitchFamily="34" charset="-120"/>
              </a:rPr>
              <a:t>Feedback is switched off while the clock runs</a:t>
            </a:r>
            <a:endParaRPr lang="en-US" sz="1350" dirty="0"/>
          </a:p>
          <a:p>
            <a:pPr marL="342900" indent="-342900">
              <a:spcAft>
                <a:spcPts val="700"/>
              </a:spcAft>
              <a:buSzPct val="100000"/>
              <a:buChar char="›"/>
            </a:pPr>
            <a:r>
              <a:rPr lang="en-US" sz="1350" dirty="0" b="0">
                <a:solidFill>
                  <a:srgbClr val="9B9EA6"/>
                </a:solidFill>
                <a:latin typeface="Geist" pitchFamily="34" charset="0"/>
                <a:ea typeface="Geist" pitchFamily="34" charset="-122"/>
                <a:cs typeface="Geist" pitchFamily="34" charset="-120"/>
              </a:rPr>
              <a:t>Marking arrives when you finish</a:t>
            </a:r>
            <a:endParaRPr lang="en-US" sz="1350" dirty="0"/>
          </a:p>
          <a:p>
            <a:pPr marL="342900" indent="-342900">
              <a:spcAft>
                <a:spcPts val="700"/>
              </a:spcAft>
              <a:buSzPct val="100000"/>
              <a:buChar char="›"/>
            </a:pPr>
            <a:r>
              <a:rPr lang="en-US" sz="1350" dirty="0" b="0">
                <a:solidFill>
                  <a:srgbClr val="9B9EA6"/>
                </a:solidFill>
                <a:latin typeface="Geist" pitchFamily="34" charset="0"/>
                <a:ea typeface="Geist" pitchFamily="34" charset="-122"/>
                <a:cs typeface="Geist" pitchFamily="34" charset="-120"/>
              </a:rPr>
              <a:t>Sixty or better earns a certificate</a:t>
            </a:r>
            <a:endParaRPr lang="en-US" sz="1350" dirty="0"/>
          </a:p>
          <a:p>
            <a:pPr marL="342900" indent="-342900">
              <a:spcAft>
                <a:spcPts val="700"/>
              </a:spcAft>
              <a:buSzPct val="100000"/>
              <a:buChar char="›"/>
            </a:pPr>
            <a:r>
              <a:rPr lang="en-US" sz="1350" dirty="0" b="0">
                <a:solidFill>
                  <a:srgbClr val="9B9EA6"/>
                </a:solidFill>
                <a:latin typeface="Geist" pitchFamily="34" charset="0"/>
                <a:ea typeface="Geist" pitchFamily="34" charset="-122"/>
                <a:cs typeface="Geist" pitchFamily="34" charset="-120"/>
              </a:rPr>
              <a:t>This is where you find out</a:t>
            </a:r>
            <a:endParaRPr lang="en-US" sz="1350" dirty="0"/>
          </a:p>
        </p:txBody>
      </p:sp>
      <p:sp>
        <p:nvSpPr>
          <p:cNvPr id="16" name="Text 14"/>
          <p:cNvSpPr/>
          <p:nvPr/>
        </p:nvSpPr>
        <p:spPr>
          <a:xfrm>
            <a:off x="841248" y="5623560"/>
            <a:ext cx="10509199" cy="365760"/>
          </a:xfrm>
          <a:prstGeom prst="rect">
            <a:avLst/>
          </a:prstGeom>
          <a:noFill/>
          <a:ln/>
        </p:spPr>
        <p:txBody>
          <a:bodyPr wrap="square" lIns="0" tIns="0" rIns="0" bIns="0" rtlCol="0" anchor="ctr"/>
          <a:lstStyle/>
          <a:p>
            <a:pPr indent="0" marL="0">
              <a:buNone/>
            </a:pPr>
            <a:pPr indent="0" marL="0">
              <a:buNone/>
            </a:pPr>
            <a:r>
              <a:rPr lang="en-US" sz="800" spc="120" kern="0" dirty="0" b="0">
                <a:solidFill>
                  <a:srgbClr val="E8B84B"/>
                </a:solidFill>
                <a:latin typeface="Geist Mono" pitchFamily="34" charset="0"/>
                <a:ea typeface="Geist Mono" pitchFamily="34" charset="-122"/>
                <a:cs typeface="Geist Mono" pitchFamily="34" charset="-120"/>
              </a:rPr>
              <a:t xml:space="preserve">●  </a:t>
            </a:r>
            <a:r>
              <a:rPr lang="en-US" sz="1100" spc="120" kern="0" dirty="0" b="0">
                <a:solidFill>
                  <a:srgbClr val="6A6D75"/>
                </a:solidFill>
                <a:latin typeface="Geist Mono" pitchFamily="34" charset="0"/>
                <a:ea typeface="Geist Mono" pitchFamily="34" charset="-122"/>
                <a:cs typeface="Geist Mono" pitchFamily="34" charset="-120"/>
              </a:rPr>
              <a:t>PRACTISE UNTIL IT IS BORING, THEN GO SCORED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09 — Agentic Foundations &amp; Context Grounding</dc:title>
  <dc:subject>PptxGenJS Presentation</dc:subject>
  <dc:creator>Mohammed Shaker</dc:creator>
  <cp:lastModifiedBy>Mohammed Shaker</cp:lastModifiedBy>
  <cp:revision>1</cp:revision>
  <dcterms:created xsi:type="dcterms:W3CDTF">2026-07-10T11:30:54Z</dcterms:created>
  <dcterms:modified xsi:type="dcterms:W3CDTF">2026-07-10T11:30:54Z</dcterms:modified>
</cp:coreProperties>
</file>